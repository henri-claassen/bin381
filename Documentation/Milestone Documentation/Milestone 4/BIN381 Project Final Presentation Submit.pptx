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83" r:id="rId3"/>
    <p:sldId id="275" r:id="rId4"/>
    <p:sldId id="276" r:id="rId5"/>
    <p:sldId id="277" r:id="rId6"/>
    <p:sldId id="278" r:id="rId7"/>
    <p:sldId id="279" r:id="rId8"/>
    <p:sldId id="280" r:id="rId9"/>
    <p:sldId id="281" r:id="rId10"/>
    <p:sldId id="282"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autoAdjust="0"/>
    <p:restoredTop sz="94610" autoAdjust="0"/>
  </p:normalViewPr>
  <p:slideViewPr>
    <p:cSldViewPr snapToGrid="0" snapToObjects="1">
      <p:cViewPr varScale="1">
        <p:scale>
          <a:sx n="111" d="100"/>
          <a:sy n="111" d="100"/>
        </p:scale>
        <p:origin x="558"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lang="en-ZA" sz="1400" b="0" noProof="0" dirty="0">
                <a:solidFill>
                  <a:schemeClr val="tx1"/>
                </a:solidFill>
                <a:latin typeface="+mn-lt"/>
              </a:rPr>
              <a:t>AUC on the test set of 5,574 people (0.5 = guessing, 1.0 = perfect)</a:t>
            </a:r>
          </a:p>
        </c:rich>
      </c:tx>
      <c:overlay val="0"/>
    </c:title>
    <c:autoTitleDeleted val="0"/>
    <c:plotArea>
      <c:layout/>
      <c:barChart>
        <c:barDir val="col"/>
        <c:grouping val="clustered"/>
        <c:varyColors val="0"/>
        <c:ser>
          <c:idx val="0"/>
          <c:order val="0"/>
          <c:tx>
            <c:strRef>
              <c:f>Sheet1!$B$1</c:f>
              <c:strCache>
                <c:ptCount val="1"/>
                <c:pt idx="0">
                  <c:v>Test AUC</c:v>
                </c:pt>
              </c:strCache>
            </c:strRef>
          </c:tx>
          <c:spPr>
            <a:solidFill>
              <a:srgbClr val="A0C1D5"/>
            </a:solidFill>
          </c:spPr>
          <c:invertIfNegative val="1"/>
          <c:dPt>
            <c:idx val="2"/>
            <c:invertIfNegative val="1"/>
            <c:bubble3D val="0"/>
            <c:spPr>
              <a:solidFill>
                <a:schemeClr val="accent1"/>
              </a:solidFill>
            </c:spPr>
            <c:extLst>
              <c:ext xmlns:c16="http://schemas.microsoft.com/office/drawing/2014/chart" uri="{C3380CC4-5D6E-409C-BE32-E72D297353CC}">
                <c16:uniqueId val="{00000001-2226-4326-B4F6-00E84A9392ED}"/>
              </c:ext>
            </c:extLst>
          </c:dPt>
          <c:dLbls>
            <c:numFmt formatCode="0.000" sourceLinked="0"/>
            <c:spPr>
              <a:noFill/>
              <a:ln>
                <a:noFill/>
              </a:ln>
              <a:effectLst/>
            </c:spPr>
            <c:txPr>
              <a:bodyPr/>
              <a:lstStyle/>
              <a:p>
                <a:pPr>
                  <a:defRPr sz="120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Baseline (demographics only)</c:v>
                </c:pt>
                <c:pt idx="1">
                  <c:v>Decision tree</c:v>
                </c:pt>
                <c:pt idx="2">
                  <c:v>Logistic regression</c:v>
                </c:pt>
                <c:pt idx="3">
                  <c:v>Random forest</c:v>
                </c:pt>
              </c:strCache>
            </c:strRef>
          </c:cat>
          <c:val>
            <c:numRef>
              <c:f>Sheet1!$B$2:$B$5</c:f>
              <c:numCache>
                <c:formatCode>0.000</c:formatCode>
                <c:ptCount val="4"/>
                <c:pt idx="0">
                  <c:v>0.72699999999999998</c:v>
                </c:pt>
                <c:pt idx="1">
                  <c:v>0.71</c:v>
                </c:pt>
                <c:pt idx="2">
                  <c:v>0.76500000000000001</c:v>
                </c:pt>
                <c:pt idx="3">
                  <c:v>0.77400000000000002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226-4326-B4F6-00E84A9392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888888"/>
            </a:solidFill>
          </a:ln>
        </c:spPr>
        <c:txPr>
          <a:bodyPr/>
          <a:lstStyle/>
          <a:p>
            <a:pPr>
              <a:defRPr sz="1200">
                <a:solidFill>
                  <a:schemeClr val="tx1"/>
                </a:solidFill>
              </a:defRPr>
            </a:pPr>
            <a:endParaRPr lang="en-US"/>
          </a:p>
        </c:txPr>
        <c:crossAx val="-2113994440"/>
        <c:crosses val="autoZero"/>
        <c:auto val="1"/>
        <c:lblAlgn val="ctr"/>
        <c:lblOffset val="100"/>
        <c:noMultiLvlLbl val="0"/>
      </c:catAx>
      <c:valAx>
        <c:axId val="-2113994440"/>
        <c:scaling>
          <c:orientation val="minMax"/>
          <c:max val="0.9"/>
          <c:min val="0.5"/>
        </c:scaling>
        <c:delete val="0"/>
        <c:axPos val="l"/>
        <c:majorGridlines>
          <c:spPr>
            <a:ln w="9525">
              <a:solidFill>
                <a:srgbClr val="D5DFDE"/>
              </a:solidFill>
            </a:ln>
          </c:spPr>
        </c:majorGridlines>
        <c:numFmt formatCode="0.0" sourceLinked="0"/>
        <c:majorTickMark val="out"/>
        <c:minorTickMark val="none"/>
        <c:tickLblPos val="nextTo"/>
        <c:spPr>
          <a:ln>
            <a:solidFill>
              <a:srgbClr val="888888"/>
            </a:solidFill>
          </a:ln>
        </c:spPr>
        <c:txPr>
          <a:bodyPr/>
          <a:lstStyle/>
          <a:p>
            <a:pPr>
              <a:defRPr sz="1200">
                <a:solidFill>
                  <a:schemeClr val="accent6"/>
                </a:solidFill>
              </a:defRPr>
            </a:pPr>
            <a:endParaRPr lang="en-US"/>
          </a:p>
        </c:txPr>
        <c:crossAx val="-2068027336"/>
        <c:crosses val="autoZero"/>
        <c:crossBetween val="between"/>
        <c:majorUnit val="0.1"/>
      </c:valAx>
    </c:plotArea>
    <c:plotVisOnly val="1"/>
    <c:dispBlanksAs val="gap"/>
    <c:showDLblsOverMax val="1"/>
  </c:chart>
  <c:spPr>
    <a:noFill/>
    <a:ln>
      <a:noFill/>
    </a:ln>
  </c:spPr>
  <c:txPr>
    <a:bodyPr/>
    <a:lstStyle/>
    <a:p>
      <a:pPr>
        <a:defRPr sz="12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lang="en-ZA" sz="1400" b="0" noProof="0" dirty="0">
                <a:solidFill>
                  <a:schemeClr val="tx1"/>
                </a:solidFill>
                <a:latin typeface="+mn-lt"/>
              </a:rPr>
              <a:t>Predicted employment rate (%) from the selected model</a:t>
            </a:r>
          </a:p>
        </c:rich>
      </c:tx>
      <c:overlay val="0"/>
    </c:title>
    <c:autoTitleDeleted val="0"/>
    <c:plotArea>
      <c:layout/>
      <c:barChart>
        <c:barDir val="col"/>
        <c:grouping val="clustered"/>
        <c:varyColors val="0"/>
        <c:ser>
          <c:idx val="0"/>
          <c:order val="0"/>
          <c:tx>
            <c:strRef>
              <c:f>Sheet1!$B$1</c:f>
              <c:strCache>
                <c:ptCount val="1"/>
                <c:pt idx="0">
                  <c:v>No home internet</c:v>
                </c:pt>
              </c:strCache>
            </c:strRef>
          </c:tx>
          <c:spPr>
            <a:solidFill>
              <a:srgbClr val="A0C1D5"/>
            </a:solidFill>
          </c:spPr>
          <c:invertIfNegative val="1"/>
          <c:dLbls>
            <c:numFmt formatCode="0.0" sourceLinked="0"/>
            <c:spPr>
              <a:noFill/>
              <a:ln>
                <a:noFill/>
              </a:ln>
              <a:effectLst/>
            </c:spPr>
            <c:txPr>
              <a:bodyPr/>
              <a:lstStyle/>
              <a:p>
                <a:pPr>
                  <a:defRPr sz="120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Below matric</c:v>
                </c:pt>
                <c:pt idx="1">
                  <c:v>Matric or higher</c:v>
                </c:pt>
              </c:strCache>
            </c:strRef>
          </c:cat>
          <c:val>
            <c:numRef>
              <c:f>Sheet1!$B$2:$B$3</c:f>
              <c:numCache>
                <c:formatCode>0.0</c:formatCode>
                <c:ptCount val="2"/>
                <c:pt idx="0">
                  <c:v>60.9</c:v>
                </c:pt>
                <c:pt idx="1">
                  <c:v>63.5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21F-4DAF-AFFA-413933C5E806}"/>
            </c:ext>
          </c:extLst>
        </c:ser>
        <c:ser>
          <c:idx val="1"/>
          <c:order val="1"/>
          <c:tx>
            <c:strRef>
              <c:f>Sheet1!$C$1</c:f>
              <c:strCache>
                <c:ptCount val="1"/>
                <c:pt idx="0">
                  <c:v>Home internet</c:v>
                </c:pt>
              </c:strCache>
            </c:strRef>
          </c:tx>
          <c:spPr>
            <a:solidFill>
              <a:srgbClr val="1CADE4"/>
            </a:solidFill>
          </c:spPr>
          <c:invertIfNegative val="1"/>
          <c:dLbls>
            <c:numFmt formatCode="0.0" sourceLinked="0"/>
            <c:spPr>
              <a:noFill/>
              <a:ln>
                <a:noFill/>
              </a:ln>
              <a:effectLst/>
            </c:spPr>
            <c:txPr>
              <a:bodyPr/>
              <a:lstStyle/>
              <a:p>
                <a:pPr>
                  <a:defRPr sz="120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Below matric</c:v>
                </c:pt>
                <c:pt idx="1">
                  <c:v>Matric or higher</c:v>
                </c:pt>
              </c:strCache>
            </c:strRef>
          </c:cat>
          <c:val>
            <c:numRef>
              <c:f>Sheet1!$C$2:$C$3</c:f>
              <c:numCache>
                <c:formatCode>0.0</c:formatCode>
                <c:ptCount val="2"/>
                <c:pt idx="0">
                  <c:v>62.7</c:v>
                </c:pt>
                <c:pt idx="1">
                  <c:v>69.7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21F-4DAF-AFFA-413933C5E806}"/>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888888"/>
            </a:solidFill>
          </a:ln>
        </c:spPr>
        <c:txPr>
          <a:bodyPr/>
          <a:lstStyle/>
          <a:p>
            <a:pPr>
              <a:defRPr sz="1200">
                <a:solidFill>
                  <a:schemeClr val="tx1"/>
                </a:solidFill>
              </a:defRPr>
            </a:pPr>
            <a:endParaRPr lang="en-US"/>
          </a:p>
        </c:txPr>
        <c:crossAx val="-2113994440"/>
        <c:crosses val="autoZero"/>
        <c:auto val="1"/>
        <c:lblAlgn val="ctr"/>
        <c:lblOffset val="100"/>
        <c:noMultiLvlLbl val="0"/>
      </c:catAx>
      <c:valAx>
        <c:axId val="-2113994440"/>
        <c:scaling>
          <c:orientation val="minMax"/>
          <c:max val="80"/>
          <c:min val="0"/>
        </c:scaling>
        <c:delete val="0"/>
        <c:axPos val="l"/>
        <c:majorGridlines>
          <c:spPr>
            <a:ln w="9525">
              <a:solidFill>
                <a:srgbClr val="D5DFDE"/>
              </a:solidFill>
            </a:ln>
          </c:spPr>
        </c:majorGridlines>
        <c:numFmt formatCode="0" sourceLinked="0"/>
        <c:majorTickMark val="out"/>
        <c:minorTickMark val="none"/>
        <c:tickLblPos val="nextTo"/>
        <c:spPr>
          <a:ln>
            <a:solidFill>
              <a:srgbClr val="888888"/>
            </a:solidFill>
          </a:ln>
        </c:spPr>
        <c:txPr>
          <a:bodyPr/>
          <a:lstStyle/>
          <a:p>
            <a:pPr>
              <a:defRPr sz="1200">
                <a:solidFill>
                  <a:schemeClr val="accent6"/>
                </a:solidFill>
              </a:defRPr>
            </a:pPr>
            <a:endParaRPr lang="en-US"/>
          </a:p>
        </c:txPr>
        <c:crossAx val="-2068027336"/>
        <c:crosses val="autoZero"/>
        <c:crossBetween val="between"/>
        <c:majorUnit val="20"/>
      </c:valAx>
    </c:plotArea>
    <c:legend>
      <c:legendPos val="b"/>
      <c:overlay val="0"/>
      <c:txPr>
        <a:bodyPr/>
        <a:lstStyle/>
        <a:p>
          <a:pPr>
            <a:defRPr sz="1200"/>
          </a:pPr>
          <a:endParaRPr lang="en-US"/>
        </a:p>
      </c:txPr>
    </c:legend>
    <c:plotVisOnly val="1"/>
    <c:dispBlanksAs val="gap"/>
    <c:showDLblsOverMax val="1"/>
  </c:chart>
  <c:spPr>
    <a:noFill/>
    <a:ln>
      <a:noFill/>
    </a:ln>
  </c:spPr>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2660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ZA"/>
              <a:t>1</a:t>
            </a:fld>
            <a:endParaRPr lang="en-ZA"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4127D-D72B-7454-EE3D-A9C108AA5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9E1AB-4EF5-3187-56C4-AAB7CC03FC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9134C-C052-B296-FC30-F686710BD059}"/>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A986577C-0E59-5BB8-3772-8DC4ACF49A2E}"/>
              </a:ext>
            </a:extLst>
          </p:cNvPr>
          <p:cNvSpPr>
            <a:spLocks noGrp="1"/>
          </p:cNvSpPr>
          <p:nvPr>
            <p:ph type="sldNum" sz="quarter" idx="10"/>
          </p:nvPr>
        </p:nvSpPr>
        <p:spPr/>
        <p:txBody>
          <a:bodyPr/>
          <a:lstStyle/>
          <a:p>
            <a:fld id="{F7021451-1387-4CA6-816F-3879F97B5CBC}" type="slidenum">
              <a:rPr lang="en-ZA"/>
              <a:t>2</a:t>
            </a:fld>
            <a:endParaRPr lang="en-ZA"/>
          </a:p>
        </p:txBody>
      </p:sp>
    </p:spTree>
    <p:extLst>
      <p:ext uri="{BB962C8B-B14F-4D97-AF65-F5344CB8AC3E}">
        <p14:creationId xmlns:p14="http://schemas.microsoft.com/office/powerpoint/2010/main" val="2172984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ZA"/>
              <a:t>3</a:t>
            </a:fld>
            <a:endParaRPr lang="en-ZA"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ZA"/>
              <a:t>4</a:t>
            </a:fld>
            <a:endParaRPr lang="en-ZA"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ZA"/>
              <a:t>5</a:t>
            </a:fld>
            <a:endParaRPr lang="en-Z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ZA"/>
              <a:t>6</a:t>
            </a:fld>
            <a:endParaRPr lang="en-Z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ZA"/>
              <a:t>7</a:t>
            </a:fld>
            <a:endParaRPr lang="en-Z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ZA"/>
              <a:t>8</a:t>
            </a:fld>
            <a:endParaRPr lang="en-Z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ZA"/>
              <a:t>9</a:t>
            </a:fld>
            <a:endParaRPr lang="en-Z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ZA"/>
              <a:t>10</a:t>
            </a:fld>
            <a:endParaRPr lang="en-Z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11094415" y="2523744"/>
            <a:ext cx="457200" cy="457200"/>
          </a:xfrm>
          <a:prstGeom prst="rect">
            <a:avLst/>
          </a:prstGeom>
          <a:solidFill>
            <a:schemeClr val="accent2"/>
          </a:solidFill>
          <a:ln/>
        </p:spPr>
        <p:txBody>
          <a:bodyPr/>
          <a:lstStyle/>
          <a:p>
            <a:endParaRPr lang="en-US"/>
          </a:p>
        </p:txBody>
      </p:sp>
      <p:sp>
        <p:nvSpPr>
          <p:cNvPr id="3" name="Shape 1"/>
          <p:cNvSpPr/>
          <p:nvPr/>
        </p:nvSpPr>
        <p:spPr>
          <a:xfrm>
            <a:off x="10554919" y="3063240"/>
            <a:ext cx="457200" cy="457200"/>
          </a:xfrm>
          <a:prstGeom prst="rect">
            <a:avLst/>
          </a:prstGeom>
          <a:solidFill>
            <a:schemeClr val="accent1"/>
          </a:solidFill>
          <a:ln/>
        </p:spPr>
        <p:txBody>
          <a:bodyPr/>
          <a:lstStyle/>
          <a:p>
            <a:endParaRPr lang="en-US"/>
          </a:p>
        </p:txBody>
      </p:sp>
      <p:sp>
        <p:nvSpPr>
          <p:cNvPr id="4" name="Shape 2"/>
          <p:cNvSpPr/>
          <p:nvPr/>
        </p:nvSpPr>
        <p:spPr>
          <a:xfrm>
            <a:off x="11094415" y="3063240"/>
            <a:ext cx="457200" cy="457200"/>
          </a:xfrm>
          <a:prstGeom prst="rect">
            <a:avLst/>
          </a:prstGeom>
          <a:solidFill>
            <a:schemeClr val="bg1">
              <a:alpha val="12000"/>
            </a:schemeClr>
          </a:solidFill>
          <a:ln/>
        </p:spPr>
        <p:txBody>
          <a:bodyPr/>
          <a:lstStyle/>
          <a:p>
            <a:endParaRPr lang="en-US"/>
          </a:p>
        </p:txBody>
      </p:sp>
      <p:sp>
        <p:nvSpPr>
          <p:cNvPr id="5" name="Shape 3"/>
          <p:cNvSpPr/>
          <p:nvPr/>
        </p:nvSpPr>
        <p:spPr>
          <a:xfrm>
            <a:off x="10015423" y="3602736"/>
            <a:ext cx="457200" cy="457200"/>
          </a:xfrm>
          <a:prstGeom prst="rect">
            <a:avLst/>
          </a:prstGeom>
          <a:solidFill>
            <a:schemeClr val="bg1">
              <a:alpha val="12000"/>
            </a:schemeClr>
          </a:solidFill>
          <a:ln/>
        </p:spPr>
        <p:txBody>
          <a:bodyPr/>
          <a:lstStyle/>
          <a:p>
            <a:endParaRPr lang="en-US"/>
          </a:p>
        </p:txBody>
      </p:sp>
      <p:sp>
        <p:nvSpPr>
          <p:cNvPr id="6" name="Shape 4"/>
          <p:cNvSpPr/>
          <p:nvPr/>
        </p:nvSpPr>
        <p:spPr>
          <a:xfrm>
            <a:off x="10554919" y="3602736"/>
            <a:ext cx="457200" cy="457200"/>
          </a:xfrm>
          <a:prstGeom prst="rect">
            <a:avLst/>
          </a:prstGeom>
          <a:solidFill>
            <a:schemeClr val="bg1"/>
          </a:solidFill>
          <a:ln/>
        </p:spPr>
        <p:txBody>
          <a:bodyPr/>
          <a:lstStyle/>
          <a:p>
            <a:endParaRPr lang="en-US"/>
          </a:p>
        </p:txBody>
      </p:sp>
      <p:sp>
        <p:nvSpPr>
          <p:cNvPr id="7" name="Shape 5"/>
          <p:cNvSpPr/>
          <p:nvPr/>
        </p:nvSpPr>
        <p:spPr>
          <a:xfrm>
            <a:off x="11094415" y="3602736"/>
            <a:ext cx="457200" cy="457200"/>
          </a:xfrm>
          <a:prstGeom prst="rect">
            <a:avLst/>
          </a:prstGeom>
          <a:solidFill>
            <a:schemeClr val="accent1"/>
          </a:solidFill>
          <a:ln/>
        </p:spPr>
        <p:txBody>
          <a:bodyPr/>
          <a:lstStyle/>
          <a:p>
            <a:endParaRPr lang="en-US"/>
          </a:p>
        </p:txBody>
      </p:sp>
      <p:sp>
        <p:nvSpPr>
          <p:cNvPr id="8" name="Shape 6"/>
          <p:cNvSpPr/>
          <p:nvPr/>
        </p:nvSpPr>
        <p:spPr>
          <a:xfrm>
            <a:off x="9475927" y="4142232"/>
            <a:ext cx="457200" cy="457200"/>
          </a:xfrm>
          <a:prstGeom prst="rect">
            <a:avLst/>
          </a:prstGeom>
          <a:solidFill>
            <a:schemeClr val="accent3"/>
          </a:solidFill>
          <a:ln/>
        </p:spPr>
        <p:txBody>
          <a:bodyPr/>
          <a:lstStyle/>
          <a:p>
            <a:endParaRPr lang="en-US"/>
          </a:p>
        </p:txBody>
      </p:sp>
      <p:sp>
        <p:nvSpPr>
          <p:cNvPr id="9" name="Shape 7"/>
          <p:cNvSpPr/>
          <p:nvPr/>
        </p:nvSpPr>
        <p:spPr>
          <a:xfrm>
            <a:off x="10015423" y="4142232"/>
            <a:ext cx="457200" cy="457200"/>
          </a:xfrm>
          <a:prstGeom prst="rect">
            <a:avLst/>
          </a:prstGeom>
          <a:solidFill>
            <a:schemeClr val="accent1"/>
          </a:solidFill>
          <a:ln/>
        </p:spPr>
        <p:txBody>
          <a:bodyPr/>
          <a:lstStyle/>
          <a:p>
            <a:endParaRPr lang="en-US"/>
          </a:p>
        </p:txBody>
      </p:sp>
      <p:sp>
        <p:nvSpPr>
          <p:cNvPr id="10" name="Shape 8"/>
          <p:cNvSpPr/>
          <p:nvPr/>
        </p:nvSpPr>
        <p:spPr>
          <a:xfrm>
            <a:off x="10554919" y="4142232"/>
            <a:ext cx="457200" cy="457200"/>
          </a:xfrm>
          <a:prstGeom prst="rect">
            <a:avLst/>
          </a:prstGeom>
          <a:solidFill>
            <a:schemeClr val="bg1">
              <a:alpha val="12000"/>
            </a:schemeClr>
          </a:solidFill>
          <a:ln/>
        </p:spPr>
        <p:txBody>
          <a:bodyPr/>
          <a:lstStyle/>
          <a:p>
            <a:endParaRPr lang="en-US"/>
          </a:p>
        </p:txBody>
      </p:sp>
      <p:sp>
        <p:nvSpPr>
          <p:cNvPr id="11" name="Shape 9"/>
          <p:cNvSpPr/>
          <p:nvPr/>
        </p:nvSpPr>
        <p:spPr>
          <a:xfrm>
            <a:off x="11094415" y="4142232"/>
            <a:ext cx="457200" cy="457200"/>
          </a:xfrm>
          <a:prstGeom prst="rect">
            <a:avLst/>
          </a:prstGeom>
          <a:solidFill>
            <a:schemeClr val="accent1"/>
          </a:solidFill>
          <a:ln/>
        </p:spPr>
        <p:txBody>
          <a:bodyPr/>
          <a:lstStyle/>
          <a:p>
            <a:endParaRPr lang="en-US"/>
          </a:p>
        </p:txBody>
      </p:sp>
      <p:sp>
        <p:nvSpPr>
          <p:cNvPr id="12" name="Shape 10"/>
          <p:cNvSpPr/>
          <p:nvPr/>
        </p:nvSpPr>
        <p:spPr>
          <a:xfrm>
            <a:off x="8936431" y="4681728"/>
            <a:ext cx="457200" cy="457200"/>
          </a:xfrm>
          <a:prstGeom prst="rect">
            <a:avLst/>
          </a:prstGeom>
          <a:solidFill>
            <a:schemeClr val="accent1"/>
          </a:solidFill>
          <a:ln/>
        </p:spPr>
        <p:txBody>
          <a:bodyPr/>
          <a:lstStyle/>
          <a:p>
            <a:endParaRPr lang="en-US"/>
          </a:p>
        </p:txBody>
      </p:sp>
      <p:sp>
        <p:nvSpPr>
          <p:cNvPr id="13" name="Shape 11"/>
          <p:cNvSpPr/>
          <p:nvPr/>
        </p:nvSpPr>
        <p:spPr>
          <a:xfrm>
            <a:off x="9475927" y="4681728"/>
            <a:ext cx="457200" cy="457200"/>
          </a:xfrm>
          <a:prstGeom prst="rect">
            <a:avLst/>
          </a:prstGeom>
          <a:solidFill>
            <a:schemeClr val="bg1">
              <a:alpha val="12000"/>
            </a:schemeClr>
          </a:solidFill>
          <a:ln/>
        </p:spPr>
        <p:txBody>
          <a:bodyPr/>
          <a:lstStyle/>
          <a:p>
            <a:endParaRPr lang="en-US"/>
          </a:p>
        </p:txBody>
      </p:sp>
      <p:sp>
        <p:nvSpPr>
          <p:cNvPr id="14" name="Shape 12"/>
          <p:cNvSpPr/>
          <p:nvPr/>
        </p:nvSpPr>
        <p:spPr>
          <a:xfrm>
            <a:off x="10015423" y="4681728"/>
            <a:ext cx="457200" cy="457200"/>
          </a:xfrm>
          <a:prstGeom prst="rect">
            <a:avLst/>
          </a:prstGeom>
          <a:solidFill>
            <a:schemeClr val="accent1"/>
          </a:solidFill>
          <a:ln/>
        </p:spPr>
        <p:txBody>
          <a:bodyPr/>
          <a:lstStyle/>
          <a:p>
            <a:endParaRPr lang="en-US"/>
          </a:p>
        </p:txBody>
      </p:sp>
      <p:sp>
        <p:nvSpPr>
          <p:cNvPr id="15" name="Shape 13"/>
          <p:cNvSpPr/>
          <p:nvPr/>
        </p:nvSpPr>
        <p:spPr>
          <a:xfrm>
            <a:off x="10554919" y="4681728"/>
            <a:ext cx="457200" cy="457200"/>
          </a:xfrm>
          <a:prstGeom prst="rect">
            <a:avLst/>
          </a:prstGeom>
          <a:solidFill>
            <a:schemeClr val="accent1"/>
          </a:solidFill>
          <a:ln/>
        </p:spPr>
        <p:txBody>
          <a:bodyPr/>
          <a:lstStyle/>
          <a:p>
            <a:endParaRPr lang="en-US"/>
          </a:p>
        </p:txBody>
      </p:sp>
      <p:sp>
        <p:nvSpPr>
          <p:cNvPr id="16" name="Shape 14"/>
          <p:cNvSpPr/>
          <p:nvPr/>
        </p:nvSpPr>
        <p:spPr>
          <a:xfrm>
            <a:off x="11094415" y="4681728"/>
            <a:ext cx="457200" cy="457200"/>
          </a:xfrm>
          <a:prstGeom prst="rect">
            <a:avLst/>
          </a:prstGeom>
          <a:solidFill>
            <a:schemeClr val="accent2"/>
          </a:solidFill>
          <a:ln/>
        </p:spPr>
        <p:txBody>
          <a:bodyPr/>
          <a:lstStyle/>
          <a:p>
            <a:endParaRPr lang="en-US"/>
          </a:p>
        </p:txBody>
      </p:sp>
      <p:sp>
        <p:nvSpPr>
          <p:cNvPr id="17" name="Shape 15"/>
          <p:cNvSpPr/>
          <p:nvPr/>
        </p:nvSpPr>
        <p:spPr>
          <a:xfrm>
            <a:off x="8396935" y="5221224"/>
            <a:ext cx="457200" cy="457200"/>
          </a:xfrm>
          <a:prstGeom prst="rect">
            <a:avLst/>
          </a:prstGeom>
          <a:solidFill>
            <a:schemeClr val="bg1"/>
          </a:solidFill>
          <a:ln/>
        </p:spPr>
        <p:txBody>
          <a:bodyPr/>
          <a:lstStyle/>
          <a:p>
            <a:endParaRPr lang="en-US"/>
          </a:p>
        </p:txBody>
      </p:sp>
      <p:sp>
        <p:nvSpPr>
          <p:cNvPr id="18" name="Shape 16"/>
          <p:cNvSpPr/>
          <p:nvPr/>
        </p:nvSpPr>
        <p:spPr>
          <a:xfrm>
            <a:off x="8936431" y="5221224"/>
            <a:ext cx="457200" cy="457200"/>
          </a:xfrm>
          <a:prstGeom prst="rect">
            <a:avLst/>
          </a:prstGeom>
          <a:solidFill>
            <a:schemeClr val="accent1"/>
          </a:solidFill>
          <a:ln/>
        </p:spPr>
        <p:txBody>
          <a:bodyPr/>
          <a:lstStyle/>
          <a:p>
            <a:endParaRPr lang="en-US"/>
          </a:p>
        </p:txBody>
      </p:sp>
      <p:sp>
        <p:nvSpPr>
          <p:cNvPr id="19" name="Shape 17"/>
          <p:cNvSpPr/>
          <p:nvPr/>
        </p:nvSpPr>
        <p:spPr>
          <a:xfrm>
            <a:off x="9475927" y="5221224"/>
            <a:ext cx="457200" cy="457200"/>
          </a:xfrm>
          <a:prstGeom prst="rect">
            <a:avLst/>
          </a:prstGeom>
          <a:solidFill>
            <a:schemeClr val="accent1"/>
          </a:solidFill>
          <a:ln/>
        </p:spPr>
        <p:txBody>
          <a:bodyPr/>
          <a:lstStyle/>
          <a:p>
            <a:endParaRPr lang="en-US"/>
          </a:p>
        </p:txBody>
      </p:sp>
      <p:sp>
        <p:nvSpPr>
          <p:cNvPr id="20" name="Shape 18"/>
          <p:cNvSpPr/>
          <p:nvPr/>
        </p:nvSpPr>
        <p:spPr>
          <a:xfrm>
            <a:off x="10015423" y="5221224"/>
            <a:ext cx="457200" cy="457200"/>
          </a:xfrm>
          <a:prstGeom prst="rect">
            <a:avLst/>
          </a:prstGeom>
          <a:solidFill>
            <a:schemeClr val="accent3"/>
          </a:solidFill>
          <a:ln/>
        </p:spPr>
        <p:txBody>
          <a:bodyPr/>
          <a:lstStyle/>
          <a:p>
            <a:endParaRPr lang="en-US"/>
          </a:p>
        </p:txBody>
      </p:sp>
      <p:sp>
        <p:nvSpPr>
          <p:cNvPr id="21" name="Shape 19"/>
          <p:cNvSpPr/>
          <p:nvPr/>
        </p:nvSpPr>
        <p:spPr>
          <a:xfrm>
            <a:off x="10554919" y="5221224"/>
            <a:ext cx="457200" cy="457200"/>
          </a:xfrm>
          <a:prstGeom prst="rect">
            <a:avLst/>
          </a:prstGeom>
          <a:solidFill>
            <a:schemeClr val="bg1">
              <a:alpha val="12000"/>
            </a:schemeClr>
          </a:solidFill>
          <a:ln/>
        </p:spPr>
        <p:txBody>
          <a:bodyPr/>
          <a:lstStyle/>
          <a:p>
            <a:endParaRPr lang="en-US"/>
          </a:p>
        </p:txBody>
      </p:sp>
      <p:sp>
        <p:nvSpPr>
          <p:cNvPr id="22" name="Shape 20"/>
          <p:cNvSpPr/>
          <p:nvPr/>
        </p:nvSpPr>
        <p:spPr>
          <a:xfrm>
            <a:off x="11094415" y="5221224"/>
            <a:ext cx="457200" cy="457200"/>
          </a:xfrm>
          <a:prstGeom prst="rect">
            <a:avLst/>
          </a:prstGeom>
          <a:solidFill>
            <a:schemeClr val="accent1"/>
          </a:solidFill>
          <a:ln/>
        </p:spPr>
        <p:txBody>
          <a:bodyPr/>
          <a:lstStyle/>
          <a:p>
            <a:endParaRPr lang="en-US"/>
          </a:p>
        </p:txBody>
      </p:sp>
      <p:sp>
        <p:nvSpPr>
          <p:cNvPr id="23" name="Shape 21"/>
          <p:cNvSpPr/>
          <p:nvPr/>
        </p:nvSpPr>
        <p:spPr>
          <a:xfrm>
            <a:off x="7857439" y="5760720"/>
            <a:ext cx="457200" cy="457200"/>
          </a:xfrm>
          <a:prstGeom prst="rect">
            <a:avLst/>
          </a:prstGeom>
          <a:solidFill>
            <a:schemeClr val="accent1"/>
          </a:solidFill>
          <a:ln/>
        </p:spPr>
        <p:txBody>
          <a:bodyPr/>
          <a:lstStyle/>
          <a:p>
            <a:endParaRPr lang="en-US"/>
          </a:p>
        </p:txBody>
      </p:sp>
      <p:sp>
        <p:nvSpPr>
          <p:cNvPr id="24" name="Shape 22"/>
          <p:cNvSpPr/>
          <p:nvPr/>
        </p:nvSpPr>
        <p:spPr>
          <a:xfrm>
            <a:off x="8396935" y="5760720"/>
            <a:ext cx="457200" cy="457200"/>
          </a:xfrm>
          <a:prstGeom prst="rect">
            <a:avLst/>
          </a:prstGeom>
          <a:solidFill>
            <a:schemeClr val="bg1">
              <a:alpha val="12000"/>
            </a:schemeClr>
          </a:solidFill>
          <a:ln/>
        </p:spPr>
        <p:txBody>
          <a:bodyPr/>
          <a:lstStyle/>
          <a:p>
            <a:endParaRPr lang="en-US"/>
          </a:p>
        </p:txBody>
      </p:sp>
      <p:sp>
        <p:nvSpPr>
          <p:cNvPr id="25" name="Shape 23"/>
          <p:cNvSpPr/>
          <p:nvPr/>
        </p:nvSpPr>
        <p:spPr>
          <a:xfrm>
            <a:off x="8936431" y="5760720"/>
            <a:ext cx="457200" cy="457200"/>
          </a:xfrm>
          <a:prstGeom prst="rect">
            <a:avLst/>
          </a:prstGeom>
          <a:solidFill>
            <a:schemeClr val="accent2"/>
          </a:solidFill>
          <a:ln/>
        </p:spPr>
        <p:txBody>
          <a:bodyPr/>
          <a:lstStyle/>
          <a:p>
            <a:endParaRPr lang="en-US"/>
          </a:p>
        </p:txBody>
      </p:sp>
      <p:sp>
        <p:nvSpPr>
          <p:cNvPr id="26" name="Shape 24"/>
          <p:cNvSpPr/>
          <p:nvPr/>
        </p:nvSpPr>
        <p:spPr>
          <a:xfrm>
            <a:off x="9475927" y="5760720"/>
            <a:ext cx="457200" cy="457200"/>
          </a:xfrm>
          <a:prstGeom prst="rect">
            <a:avLst/>
          </a:prstGeom>
          <a:solidFill>
            <a:schemeClr val="accent1"/>
          </a:solidFill>
          <a:ln/>
        </p:spPr>
        <p:txBody>
          <a:bodyPr/>
          <a:lstStyle/>
          <a:p>
            <a:endParaRPr lang="en-US"/>
          </a:p>
        </p:txBody>
      </p:sp>
      <p:sp>
        <p:nvSpPr>
          <p:cNvPr id="27" name="Shape 25"/>
          <p:cNvSpPr/>
          <p:nvPr/>
        </p:nvSpPr>
        <p:spPr>
          <a:xfrm>
            <a:off x="10015423" y="5760720"/>
            <a:ext cx="457200" cy="457200"/>
          </a:xfrm>
          <a:prstGeom prst="rect">
            <a:avLst/>
          </a:prstGeom>
          <a:solidFill>
            <a:schemeClr val="accent1"/>
          </a:solidFill>
          <a:ln/>
        </p:spPr>
        <p:txBody>
          <a:bodyPr/>
          <a:lstStyle/>
          <a:p>
            <a:endParaRPr lang="en-US"/>
          </a:p>
        </p:txBody>
      </p:sp>
      <p:sp>
        <p:nvSpPr>
          <p:cNvPr id="28" name="Shape 26"/>
          <p:cNvSpPr/>
          <p:nvPr/>
        </p:nvSpPr>
        <p:spPr>
          <a:xfrm>
            <a:off x="10554919" y="5760720"/>
            <a:ext cx="457200" cy="457200"/>
          </a:xfrm>
          <a:prstGeom prst="rect">
            <a:avLst/>
          </a:prstGeom>
          <a:solidFill>
            <a:schemeClr val="accent1"/>
          </a:solidFill>
          <a:ln/>
        </p:spPr>
        <p:txBody>
          <a:bodyPr/>
          <a:lstStyle/>
          <a:p>
            <a:endParaRPr lang="en-US"/>
          </a:p>
        </p:txBody>
      </p:sp>
      <p:sp>
        <p:nvSpPr>
          <p:cNvPr id="29" name="Shape 27"/>
          <p:cNvSpPr/>
          <p:nvPr/>
        </p:nvSpPr>
        <p:spPr>
          <a:xfrm>
            <a:off x="11094415" y="5760720"/>
            <a:ext cx="457200" cy="457200"/>
          </a:xfrm>
          <a:prstGeom prst="rect">
            <a:avLst/>
          </a:prstGeom>
          <a:solidFill>
            <a:schemeClr val="bg1">
              <a:alpha val="12000"/>
            </a:schemeClr>
          </a:solidFill>
          <a:ln/>
        </p:spPr>
        <p:txBody>
          <a:bodyPr/>
          <a:lstStyle/>
          <a:p>
            <a:endParaRPr lang="en-US"/>
          </a:p>
        </p:txBody>
      </p:sp>
      <p:sp>
        <p:nvSpPr>
          <p:cNvPr id="31" name="Title placeholder"/>
          <p:cNvSpPr>
            <a:spLocks noGrp="1"/>
          </p:cNvSpPr>
          <p:nvPr>
            <p:ph type="title" idx="129" hasCustomPrompt="1"/>
          </p:nvPr>
        </p:nvSpPr>
        <p:spPr>
          <a:xfrm>
            <a:off x="731520" y="1325880"/>
            <a:ext cx="6949440" cy="2697480"/>
          </a:xfrm>
          <a:prstGeom prst="rect">
            <a:avLst/>
          </a:prstGeom>
          <a:noFill/>
          <a:ln/>
        </p:spPr>
        <p:txBody>
          <a:bodyPr wrap="square" lIns="0" tIns="0" rIns="0" bIns="0" rtlCol="0" anchor="b">
            <a:normAutofit/>
          </a:bodyPr>
          <a:lstStyle>
            <a:lvl1pPr marL="0" indent="0" algn="l">
              <a:buNone/>
              <a:defRPr lang="en-ZA" sz="4000" b="1" dirty="0">
                <a:solidFill>
                  <a:schemeClr val="bg1"/>
                </a:solidFill>
              </a:defRPr>
            </a:lvl1pPr>
          </a:lstStyle>
          <a:p>
            <a:pPr marL="0" indent="0" algn="l">
              <a:buNone/>
            </a:pPr>
            <a:r>
              <a:rPr lang="en-ZA" sz="4000" b="1" dirty="0">
                <a:solidFill>
                  <a:schemeClr val="bg1"/>
                </a:solidFill>
              </a:rPr>
              <a:t>Click to add the report title</a:t>
            </a:r>
            <a:endParaRPr lang="en-ZA" sz="4000" dirty="0"/>
          </a:p>
        </p:txBody>
      </p:sp>
      <p:sp>
        <p:nvSpPr>
          <p:cNvPr id="32" name="Subtitle placeholder"/>
          <p:cNvSpPr>
            <a:spLocks noGrp="1"/>
          </p:cNvSpPr>
          <p:nvPr>
            <p:ph type="body" idx="130" hasCustomPrompt="1"/>
          </p:nvPr>
        </p:nvSpPr>
        <p:spPr>
          <a:xfrm>
            <a:off x="731520" y="4206240"/>
            <a:ext cx="6949440" cy="822960"/>
          </a:xfrm>
          <a:prstGeom prst="rect">
            <a:avLst/>
          </a:prstGeom>
          <a:noFill/>
          <a:ln/>
        </p:spPr>
        <p:txBody>
          <a:bodyPr wrap="square" lIns="0" tIns="0" rIns="0" bIns="0" rtlCol="0" anchor="t"/>
          <a:lstStyle>
            <a:lvl1pPr marL="0" indent="0">
              <a:buNone/>
              <a:defRPr lang="en-ZA" sz="2000" dirty="0">
                <a:solidFill>
                  <a:schemeClr val="bg2"/>
                </a:solidFill>
              </a:defRPr>
            </a:lvl1pPr>
          </a:lstStyle>
          <a:p>
            <a:pPr marL="0" indent="0">
              <a:buNone/>
            </a:pPr>
            <a:r>
              <a:rPr lang="en-ZA" sz="2000" dirty="0">
                <a:solidFill>
                  <a:schemeClr val="bg2"/>
                </a:solidFill>
              </a:rPr>
              <a:t>Subtitle: scope, province or reporting period</a:t>
            </a:r>
            <a:endParaRPr lang="en-ZA"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11094415" y="3602736"/>
            <a:ext cx="457200" cy="457200"/>
          </a:xfrm>
          <a:prstGeom prst="rect">
            <a:avLst/>
          </a:prstGeom>
          <a:solidFill>
            <a:schemeClr val="accent2"/>
          </a:solidFill>
          <a:ln/>
        </p:spPr>
      </p:sp>
      <p:sp>
        <p:nvSpPr>
          <p:cNvPr id="3" name="Shape 1"/>
          <p:cNvSpPr/>
          <p:nvPr/>
        </p:nvSpPr>
        <p:spPr>
          <a:xfrm>
            <a:off x="10554919" y="4142232"/>
            <a:ext cx="457200" cy="457200"/>
          </a:xfrm>
          <a:prstGeom prst="rect">
            <a:avLst/>
          </a:prstGeom>
          <a:solidFill>
            <a:schemeClr val="accent1"/>
          </a:solidFill>
          <a:ln/>
        </p:spPr>
      </p:sp>
      <p:sp>
        <p:nvSpPr>
          <p:cNvPr id="4" name="Shape 2"/>
          <p:cNvSpPr/>
          <p:nvPr/>
        </p:nvSpPr>
        <p:spPr>
          <a:xfrm>
            <a:off x="11094415" y="4142232"/>
            <a:ext cx="457200" cy="457200"/>
          </a:xfrm>
          <a:prstGeom prst="rect">
            <a:avLst/>
          </a:prstGeom>
          <a:solidFill>
            <a:schemeClr val="bg1">
              <a:alpha val="12000"/>
            </a:schemeClr>
          </a:solidFill>
          <a:ln/>
        </p:spPr>
      </p:sp>
      <p:sp>
        <p:nvSpPr>
          <p:cNvPr id="5" name="Shape 3"/>
          <p:cNvSpPr/>
          <p:nvPr/>
        </p:nvSpPr>
        <p:spPr>
          <a:xfrm>
            <a:off x="10015423" y="4681728"/>
            <a:ext cx="457200" cy="457200"/>
          </a:xfrm>
          <a:prstGeom prst="rect">
            <a:avLst/>
          </a:prstGeom>
          <a:solidFill>
            <a:schemeClr val="bg1">
              <a:alpha val="12000"/>
            </a:schemeClr>
          </a:solidFill>
          <a:ln/>
        </p:spPr>
      </p:sp>
      <p:sp>
        <p:nvSpPr>
          <p:cNvPr id="6" name="Shape 4"/>
          <p:cNvSpPr/>
          <p:nvPr/>
        </p:nvSpPr>
        <p:spPr>
          <a:xfrm>
            <a:off x="10554919" y="4681728"/>
            <a:ext cx="457200" cy="457200"/>
          </a:xfrm>
          <a:prstGeom prst="rect">
            <a:avLst/>
          </a:prstGeom>
          <a:solidFill>
            <a:schemeClr val="accent1"/>
          </a:solidFill>
          <a:ln/>
        </p:spPr>
      </p:sp>
      <p:sp>
        <p:nvSpPr>
          <p:cNvPr id="7" name="Shape 5"/>
          <p:cNvSpPr/>
          <p:nvPr/>
        </p:nvSpPr>
        <p:spPr>
          <a:xfrm>
            <a:off x="11094415" y="4681728"/>
            <a:ext cx="457200" cy="457200"/>
          </a:xfrm>
          <a:prstGeom prst="rect">
            <a:avLst/>
          </a:prstGeom>
          <a:solidFill>
            <a:schemeClr val="bg1"/>
          </a:solidFill>
          <a:ln/>
        </p:spPr>
      </p:sp>
      <p:sp>
        <p:nvSpPr>
          <p:cNvPr id="8" name="Shape 6"/>
          <p:cNvSpPr/>
          <p:nvPr/>
        </p:nvSpPr>
        <p:spPr>
          <a:xfrm>
            <a:off x="9475927" y="5221224"/>
            <a:ext cx="457200" cy="457200"/>
          </a:xfrm>
          <a:prstGeom prst="rect">
            <a:avLst/>
          </a:prstGeom>
          <a:solidFill>
            <a:schemeClr val="accent3"/>
          </a:solidFill>
          <a:ln/>
        </p:spPr>
      </p:sp>
      <p:sp>
        <p:nvSpPr>
          <p:cNvPr id="9" name="Shape 7"/>
          <p:cNvSpPr/>
          <p:nvPr/>
        </p:nvSpPr>
        <p:spPr>
          <a:xfrm>
            <a:off x="10015423" y="5221224"/>
            <a:ext cx="457200" cy="457200"/>
          </a:xfrm>
          <a:prstGeom prst="rect">
            <a:avLst/>
          </a:prstGeom>
          <a:solidFill>
            <a:schemeClr val="accent1"/>
          </a:solidFill>
          <a:ln/>
        </p:spPr>
      </p:sp>
      <p:sp>
        <p:nvSpPr>
          <p:cNvPr id="10" name="Shape 8"/>
          <p:cNvSpPr/>
          <p:nvPr/>
        </p:nvSpPr>
        <p:spPr>
          <a:xfrm>
            <a:off x="10554919" y="5221224"/>
            <a:ext cx="457200" cy="457200"/>
          </a:xfrm>
          <a:prstGeom prst="rect">
            <a:avLst/>
          </a:prstGeom>
          <a:solidFill>
            <a:schemeClr val="bg1">
              <a:alpha val="12000"/>
            </a:schemeClr>
          </a:solidFill>
          <a:ln/>
        </p:spPr>
      </p:sp>
      <p:sp>
        <p:nvSpPr>
          <p:cNvPr id="11" name="Shape 9"/>
          <p:cNvSpPr/>
          <p:nvPr/>
        </p:nvSpPr>
        <p:spPr>
          <a:xfrm>
            <a:off x="11094415" y="5221224"/>
            <a:ext cx="457200" cy="457200"/>
          </a:xfrm>
          <a:prstGeom prst="rect">
            <a:avLst/>
          </a:prstGeom>
          <a:solidFill>
            <a:schemeClr val="accent1"/>
          </a:solidFill>
          <a:ln/>
        </p:spPr>
      </p:sp>
      <p:sp>
        <p:nvSpPr>
          <p:cNvPr id="12" name="Shape 10"/>
          <p:cNvSpPr/>
          <p:nvPr/>
        </p:nvSpPr>
        <p:spPr>
          <a:xfrm>
            <a:off x="8936431" y="5760720"/>
            <a:ext cx="457200" cy="457200"/>
          </a:xfrm>
          <a:prstGeom prst="rect">
            <a:avLst/>
          </a:prstGeom>
          <a:solidFill>
            <a:schemeClr val="accent1"/>
          </a:solidFill>
          <a:ln/>
        </p:spPr>
      </p:sp>
      <p:sp>
        <p:nvSpPr>
          <p:cNvPr id="13" name="Shape 11"/>
          <p:cNvSpPr/>
          <p:nvPr/>
        </p:nvSpPr>
        <p:spPr>
          <a:xfrm>
            <a:off x="9475927" y="5760720"/>
            <a:ext cx="457200" cy="457200"/>
          </a:xfrm>
          <a:prstGeom prst="rect">
            <a:avLst/>
          </a:prstGeom>
          <a:solidFill>
            <a:schemeClr val="bg1">
              <a:alpha val="12000"/>
            </a:schemeClr>
          </a:solidFill>
          <a:ln/>
        </p:spPr>
      </p:sp>
      <p:sp>
        <p:nvSpPr>
          <p:cNvPr id="14" name="Shape 12"/>
          <p:cNvSpPr/>
          <p:nvPr/>
        </p:nvSpPr>
        <p:spPr>
          <a:xfrm>
            <a:off x="10015423" y="5760720"/>
            <a:ext cx="457200" cy="457200"/>
          </a:xfrm>
          <a:prstGeom prst="rect">
            <a:avLst/>
          </a:prstGeom>
          <a:solidFill>
            <a:schemeClr val="accent1"/>
          </a:solidFill>
          <a:ln/>
        </p:spPr>
      </p:sp>
      <p:sp>
        <p:nvSpPr>
          <p:cNvPr id="15" name="Shape 13"/>
          <p:cNvSpPr/>
          <p:nvPr/>
        </p:nvSpPr>
        <p:spPr>
          <a:xfrm>
            <a:off x="10554919" y="5760720"/>
            <a:ext cx="457200" cy="457200"/>
          </a:xfrm>
          <a:prstGeom prst="rect">
            <a:avLst/>
          </a:prstGeom>
          <a:solidFill>
            <a:schemeClr val="accent2"/>
          </a:solidFill>
          <a:ln/>
        </p:spPr>
      </p:sp>
      <p:sp>
        <p:nvSpPr>
          <p:cNvPr id="16" name="Shape 14"/>
          <p:cNvSpPr/>
          <p:nvPr/>
        </p:nvSpPr>
        <p:spPr>
          <a:xfrm>
            <a:off x="11094415" y="5760720"/>
            <a:ext cx="457200" cy="457200"/>
          </a:xfrm>
          <a:prstGeom prst="rect">
            <a:avLst/>
          </a:prstGeom>
          <a:solidFill>
            <a:schemeClr val="accent1"/>
          </a:solidFill>
          <a:ln/>
        </p:spPr>
      </p:sp>
      <p:sp>
        <p:nvSpPr>
          <p:cNvPr id="17" name="Number placeholder"/>
          <p:cNvSpPr>
            <a:spLocks noGrp="1"/>
          </p:cNvSpPr>
          <p:nvPr>
            <p:ph type="body" idx="115" hasCustomPrompt="1"/>
          </p:nvPr>
        </p:nvSpPr>
        <p:spPr>
          <a:xfrm>
            <a:off x="731520" y="1097280"/>
            <a:ext cx="3657600" cy="1463040"/>
          </a:xfrm>
          <a:prstGeom prst="rect">
            <a:avLst/>
          </a:prstGeom>
          <a:noFill/>
          <a:ln/>
        </p:spPr>
        <p:txBody>
          <a:bodyPr wrap="square" lIns="0" tIns="0" rIns="0" bIns="0" rtlCol="0" anchor="t"/>
          <a:lstStyle>
            <a:lvl1pPr marL="0" indent="0">
              <a:buNone/>
              <a:defRPr lang="en-ZA" sz="8800" b="1" dirty="0">
                <a:solidFill>
                  <a:schemeClr val="accent2"/>
                </a:solidFill>
                <a:latin typeface="+mj-lt" pitchFamily="34" charset="0"/>
                <a:ea typeface="+mj-lt" pitchFamily="34" charset="-122"/>
                <a:cs typeface="+mj-lt" pitchFamily="34" charset="-120"/>
              </a:defRPr>
            </a:lvl1pPr>
          </a:lstStyle>
          <a:p>
            <a:pPr marL="0" indent="0">
              <a:buNone/>
            </a:pPr>
            <a:r>
              <a:rPr lang="en-ZA" sz="8800" b="1" dirty="0">
                <a:solidFill>
                  <a:schemeClr val="accent2"/>
                </a:solidFill>
                <a:latin typeface="+mj-lt" pitchFamily="34" charset="0"/>
                <a:ea typeface="+mj-lt" pitchFamily="34" charset="-122"/>
                <a:cs typeface="+mj-lt" pitchFamily="34" charset="-120"/>
              </a:rPr>
              <a:t>00</a:t>
            </a:r>
            <a:endParaRPr lang="en-ZA" sz="8800" dirty="0"/>
          </a:p>
        </p:txBody>
      </p:sp>
      <p:sp>
        <p:nvSpPr>
          <p:cNvPr id="18" name="Title placeholder"/>
          <p:cNvSpPr>
            <a:spLocks noGrp="1"/>
          </p:cNvSpPr>
          <p:nvPr>
            <p:ph type="title" idx="116" hasCustomPrompt="1"/>
          </p:nvPr>
        </p:nvSpPr>
        <p:spPr>
          <a:xfrm>
            <a:off x="731520" y="2651760"/>
            <a:ext cx="7680960" cy="1371600"/>
          </a:xfrm>
          <a:prstGeom prst="rect">
            <a:avLst/>
          </a:prstGeom>
          <a:noFill/>
          <a:ln/>
        </p:spPr>
        <p:txBody>
          <a:bodyPr wrap="square" lIns="0" tIns="0" rIns="0" bIns="0" rtlCol="0" anchor="b">
            <a:normAutofit/>
          </a:bodyPr>
          <a:lstStyle>
            <a:lvl1pPr marL="0" indent="0" algn="l">
              <a:buNone/>
              <a:defRPr lang="en-ZA" sz="4000" b="1" dirty="0">
                <a:solidFill>
                  <a:schemeClr val="bg1"/>
                </a:solidFill>
              </a:defRPr>
            </a:lvl1pPr>
          </a:lstStyle>
          <a:p>
            <a:pPr marL="0" indent="0" algn="l">
              <a:buNone/>
            </a:pPr>
            <a:r>
              <a:rPr lang="en-ZA" sz="4000" b="1" dirty="0">
                <a:solidFill>
                  <a:schemeClr val="bg1"/>
                </a:solidFill>
              </a:rPr>
              <a:t>Click to add the section title</a:t>
            </a:r>
            <a:endParaRPr lang="en-ZA" sz="4000" dirty="0"/>
          </a:p>
        </p:txBody>
      </p:sp>
      <p:sp>
        <p:nvSpPr>
          <p:cNvPr id="19" name="Body placeholder"/>
          <p:cNvSpPr>
            <a:spLocks noGrp="1"/>
          </p:cNvSpPr>
          <p:nvPr>
            <p:ph type="body" idx="117" hasCustomPrompt="1"/>
          </p:nvPr>
        </p:nvSpPr>
        <p:spPr>
          <a:xfrm>
            <a:off x="731520" y="4206240"/>
            <a:ext cx="6583680" cy="1188720"/>
          </a:xfrm>
          <a:prstGeom prst="rect">
            <a:avLst/>
          </a:prstGeom>
          <a:noFill/>
          <a:ln/>
        </p:spPr>
        <p:txBody>
          <a:bodyPr wrap="square" lIns="0" tIns="0" rIns="0" bIns="0" rtlCol="0" anchor="t"/>
          <a:lstStyle>
            <a:lvl1pPr marL="0" indent="0">
              <a:buNone/>
              <a:defRPr lang="en-ZA" sz="1800" dirty="0">
                <a:solidFill>
                  <a:schemeClr val="bg2"/>
                </a:solidFill>
              </a:defRPr>
            </a:lvl1pPr>
          </a:lstStyle>
          <a:p>
            <a:pPr marL="0" indent="0">
              <a:buNone/>
            </a:pPr>
            <a:r>
              <a:rPr lang="en-ZA" sz="1800" dirty="0">
                <a:solidFill>
                  <a:schemeClr val="bg2"/>
                </a:solidFill>
              </a:rPr>
              <a:t>One sentence on what this section covers</a:t>
            </a:r>
            <a:endParaRPr lang="en-ZA"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8" name="Title placeholder"/>
          <p:cNvSpPr>
            <a:spLocks noGrp="1"/>
          </p:cNvSpPr>
          <p:nvPr>
            <p:ph type="title" idx="106" hasCustomPrompt="1"/>
          </p:nvPr>
        </p:nvSpPr>
        <p:spPr>
          <a:xfrm>
            <a:off x="548640" y="411480"/>
            <a:ext cx="10332720" cy="868680"/>
          </a:xfrm>
          <a:prstGeom prst="rect">
            <a:avLst/>
          </a:prstGeom>
          <a:noFill/>
          <a:ln/>
        </p:spPr>
        <p:txBody>
          <a:bodyPr wrap="square" lIns="0" tIns="0" rIns="0" bIns="0" rtlCol="0" anchor="ctr">
            <a:normAutofit/>
          </a:bodyPr>
          <a:lstStyle>
            <a:lvl1pPr marL="0" indent="0" algn="l">
              <a:buNone/>
              <a:defRPr lang="en-ZA" sz="3600" b="1" dirty="0">
                <a:solidFill>
                  <a:schemeClr val="tx2"/>
                </a:solidFill>
              </a:defRPr>
            </a:lvl1pPr>
          </a:lstStyle>
          <a:p>
            <a:pPr marL="0" indent="0" algn="l">
              <a:buNone/>
            </a:pPr>
            <a:r>
              <a:rPr lang="en-ZA" sz="3600" b="1" dirty="0">
                <a:solidFill>
                  <a:schemeClr val="tx2"/>
                </a:solidFill>
              </a:rPr>
              <a:t>Click to add a headline</a:t>
            </a:r>
            <a:endParaRPr lang="en-ZA" sz="3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8" name="Title placeholder"/>
          <p:cNvSpPr>
            <a:spLocks noGrp="1"/>
          </p:cNvSpPr>
          <p:nvPr>
            <p:ph type="title" idx="106" hasCustomPrompt="1"/>
          </p:nvPr>
        </p:nvSpPr>
        <p:spPr>
          <a:xfrm>
            <a:off x="548640" y="411480"/>
            <a:ext cx="10332720" cy="868680"/>
          </a:xfrm>
          <a:prstGeom prst="rect">
            <a:avLst/>
          </a:prstGeom>
          <a:noFill/>
          <a:ln/>
        </p:spPr>
        <p:txBody>
          <a:bodyPr wrap="square" lIns="0" tIns="0" rIns="0" bIns="0" rtlCol="0" anchor="ctr">
            <a:normAutofit/>
          </a:bodyPr>
          <a:lstStyle>
            <a:lvl1pPr marL="0" indent="0" algn="l">
              <a:buNone/>
              <a:defRPr lang="en-ZA" sz="3600" b="1" dirty="0">
                <a:solidFill>
                  <a:schemeClr val="tx2"/>
                </a:solidFill>
              </a:defRPr>
            </a:lvl1pPr>
          </a:lstStyle>
          <a:p>
            <a:pPr marL="0" indent="0" algn="l">
              <a:buNone/>
            </a:pPr>
            <a:r>
              <a:rPr lang="en-ZA" sz="3600" b="1" dirty="0">
                <a:solidFill>
                  <a:schemeClr val="tx2"/>
                </a:solidFill>
              </a:rPr>
              <a:t>Click to add a headline</a:t>
            </a:r>
            <a:endParaRPr lang="en-ZA" sz="3600" dirty="0"/>
          </a:p>
        </p:txBody>
      </p:sp>
      <p:sp>
        <p:nvSpPr>
          <p:cNvPr id="10" name="Body placeholder"/>
          <p:cNvSpPr>
            <a:spLocks noGrp="1"/>
          </p:cNvSpPr>
          <p:nvPr>
            <p:ph type="body" idx="108" hasCustomPrompt="1"/>
          </p:nvPr>
        </p:nvSpPr>
        <p:spPr>
          <a:xfrm>
            <a:off x="548640" y="1600200"/>
            <a:ext cx="11094415" cy="4343400"/>
          </a:xfrm>
          <a:prstGeom prst="rect">
            <a:avLst/>
          </a:prstGeom>
          <a:noFill/>
          <a:ln/>
        </p:spPr>
        <p:txBody>
          <a:bodyPr wrap="square" lIns="0" tIns="0" rIns="0" bIns="0" rtlCol="0" anchor="t"/>
          <a:lstStyle>
            <a:lvl1pPr marL="342900" indent="-342900">
              <a:spcAft>
                <a:spcPts val="1000"/>
              </a:spcAft>
              <a:buSzPct val="100000"/>
              <a:buChar char="•"/>
              <a:defRPr lang="en-ZA" sz="1800" dirty="0">
                <a:solidFill>
                  <a:schemeClr val="tx1"/>
                </a:solidFill>
              </a:defRPr>
            </a:lvl1pPr>
          </a:lstStyle>
          <a:p>
            <a:pPr marL="342900" indent="-342900">
              <a:spcAft>
                <a:spcPts val="1000"/>
              </a:spcAft>
              <a:buSzPct val="100000"/>
              <a:buChar char="•"/>
            </a:pPr>
            <a:r>
              <a:rPr lang="en-ZA" sz="1800" dirty="0">
                <a:solidFill>
                  <a:schemeClr val="tx1"/>
                </a:solidFill>
              </a:rPr>
              <a:t>Click to add text</a:t>
            </a:r>
            <a:endParaRPr lang="en-ZA"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bg>
      <p:bgPr>
        <a:solidFill>
          <a:schemeClr val="bg1"/>
        </a:solidFill>
        <a:effectLst/>
      </p:bgPr>
    </p:bg>
    <p:spTree>
      <p:nvGrpSpPr>
        <p:cNvPr id="1" name=""/>
        <p:cNvGrpSpPr/>
        <p:nvPr/>
      </p:nvGrpSpPr>
      <p:grpSpPr>
        <a:xfrm>
          <a:off x="0" y="0"/>
          <a:ext cx="0" cy="0"/>
          <a:chOff x="0" y="0"/>
          <a:chExt cx="0" cy="0"/>
        </a:xfrm>
      </p:grpSpPr>
      <p:sp>
        <p:nvSpPr>
          <p:cNvPr id="8" name="Title placeholder"/>
          <p:cNvSpPr>
            <a:spLocks noGrp="1"/>
          </p:cNvSpPr>
          <p:nvPr>
            <p:ph type="title" idx="106" hasCustomPrompt="1"/>
          </p:nvPr>
        </p:nvSpPr>
        <p:spPr>
          <a:xfrm>
            <a:off x="548640" y="411480"/>
            <a:ext cx="10332720" cy="868680"/>
          </a:xfrm>
          <a:prstGeom prst="rect">
            <a:avLst/>
          </a:prstGeom>
          <a:noFill/>
          <a:ln/>
        </p:spPr>
        <p:txBody>
          <a:bodyPr wrap="square" lIns="0" tIns="0" rIns="0" bIns="0" rtlCol="0" anchor="ctr">
            <a:normAutofit/>
          </a:bodyPr>
          <a:lstStyle>
            <a:lvl1pPr marL="0" indent="0" algn="l">
              <a:buNone/>
              <a:defRPr lang="en-ZA" sz="3600" b="1" dirty="0">
                <a:solidFill>
                  <a:schemeClr val="tx2"/>
                </a:solidFill>
              </a:defRPr>
            </a:lvl1pPr>
          </a:lstStyle>
          <a:p>
            <a:pPr marL="0" indent="0" algn="l">
              <a:buNone/>
            </a:pPr>
            <a:r>
              <a:rPr lang="en-ZA" sz="3600" b="1" dirty="0">
                <a:solidFill>
                  <a:schemeClr val="tx2"/>
                </a:solidFill>
              </a:rPr>
              <a:t>Click to add a headline</a:t>
            </a:r>
            <a:endParaRPr lang="en-ZA" sz="3600" dirty="0"/>
          </a:p>
        </p:txBody>
      </p:sp>
      <p:sp>
        <p:nvSpPr>
          <p:cNvPr id="10" name="Shape 7"/>
          <p:cNvSpPr/>
          <p:nvPr/>
        </p:nvSpPr>
        <p:spPr>
          <a:xfrm>
            <a:off x="548640" y="1600200"/>
            <a:ext cx="5410048" cy="4343400"/>
          </a:xfrm>
          <a:prstGeom prst="rect">
            <a:avLst/>
          </a:prstGeom>
          <a:solidFill>
            <a:schemeClr val="bg2"/>
          </a:solidFill>
          <a:ln/>
        </p:spPr>
      </p:sp>
      <p:sp>
        <p:nvSpPr>
          <p:cNvPr id="11" name="Shape 8"/>
          <p:cNvSpPr/>
          <p:nvPr/>
        </p:nvSpPr>
        <p:spPr>
          <a:xfrm>
            <a:off x="6233008" y="1600200"/>
            <a:ext cx="5410048" cy="4343400"/>
          </a:xfrm>
          <a:prstGeom prst="rect">
            <a:avLst/>
          </a:prstGeom>
          <a:solidFill>
            <a:schemeClr val="bg2"/>
          </a:solidFill>
          <a:ln/>
        </p:spPr>
      </p:sp>
      <p:sp>
        <p:nvSpPr>
          <p:cNvPr id="12" name="LeftHead placeholder"/>
          <p:cNvSpPr>
            <a:spLocks noGrp="1"/>
          </p:cNvSpPr>
          <p:nvPr>
            <p:ph type="body" idx="110" hasCustomPrompt="1"/>
          </p:nvPr>
        </p:nvSpPr>
        <p:spPr>
          <a:xfrm>
            <a:off x="868680" y="1828800"/>
            <a:ext cx="3931920" cy="548640"/>
          </a:xfrm>
          <a:prstGeom prst="rect">
            <a:avLst/>
          </a:prstGeom>
          <a:noFill/>
          <a:ln/>
        </p:spPr>
        <p:txBody>
          <a:bodyPr wrap="square" lIns="0" tIns="0" rIns="0" bIns="0" rtlCol="0" anchor="ctr"/>
          <a:lstStyle>
            <a:lvl1pPr marL="0" indent="0">
              <a:buNone/>
              <a:defRPr lang="en-ZA" sz="2000" b="1" dirty="0">
                <a:solidFill>
                  <a:schemeClr val="tx2"/>
                </a:solidFill>
              </a:defRPr>
            </a:lvl1pPr>
          </a:lstStyle>
          <a:p>
            <a:pPr marL="0" indent="0">
              <a:buNone/>
            </a:pPr>
            <a:r>
              <a:rPr lang="en-ZA" sz="2000" b="1" dirty="0">
                <a:solidFill>
                  <a:schemeClr val="tx2"/>
                </a:solidFill>
              </a:rPr>
              <a:t>Group A</a:t>
            </a:r>
            <a:endParaRPr lang="en-ZA" sz="2000" dirty="0"/>
          </a:p>
        </p:txBody>
      </p:sp>
      <p:sp>
        <p:nvSpPr>
          <p:cNvPr id="13" name="Left placeholder"/>
          <p:cNvSpPr>
            <a:spLocks noGrp="1"/>
          </p:cNvSpPr>
          <p:nvPr>
            <p:ph type="body" idx="111" hasCustomPrompt="1"/>
          </p:nvPr>
        </p:nvSpPr>
        <p:spPr>
          <a:xfrm>
            <a:off x="868680" y="2651760"/>
            <a:ext cx="4769968" cy="3063240"/>
          </a:xfrm>
          <a:prstGeom prst="rect">
            <a:avLst/>
          </a:prstGeom>
          <a:noFill/>
          <a:ln/>
        </p:spPr>
        <p:txBody>
          <a:bodyPr wrap="square" lIns="0" tIns="0" rIns="0" bIns="0" rtlCol="0" anchor="t"/>
          <a:lstStyle>
            <a:lvl1pPr marL="342900" indent="-342900">
              <a:spcAft>
                <a:spcPts val="1000"/>
              </a:spcAft>
              <a:buSzPct val="100000"/>
              <a:buChar char="•"/>
              <a:defRPr lang="en-ZA" sz="1600" dirty="0">
                <a:solidFill>
                  <a:schemeClr val="tx1"/>
                </a:solidFill>
              </a:defRPr>
            </a:lvl1pPr>
          </a:lstStyle>
          <a:p>
            <a:pPr marL="342900" indent="-342900">
              <a:spcAft>
                <a:spcPts val="1000"/>
              </a:spcAft>
              <a:buSzPct val="100000"/>
              <a:buChar char="•"/>
            </a:pPr>
            <a:r>
              <a:rPr lang="en-ZA" sz="1600" dirty="0">
                <a:solidFill>
                  <a:schemeClr val="tx1"/>
                </a:solidFill>
              </a:rPr>
              <a:t>Click to add text</a:t>
            </a:r>
            <a:endParaRPr lang="en-ZA" sz="1600" dirty="0"/>
          </a:p>
        </p:txBody>
      </p:sp>
      <p:sp>
        <p:nvSpPr>
          <p:cNvPr id="14" name="RightHead placeholder"/>
          <p:cNvSpPr>
            <a:spLocks noGrp="1"/>
          </p:cNvSpPr>
          <p:nvPr>
            <p:ph type="body" idx="112" hasCustomPrompt="1"/>
          </p:nvPr>
        </p:nvSpPr>
        <p:spPr>
          <a:xfrm>
            <a:off x="6553048" y="1828800"/>
            <a:ext cx="3931920" cy="548640"/>
          </a:xfrm>
          <a:prstGeom prst="rect">
            <a:avLst/>
          </a:prstGeom>
          <a:noFill/>
          <a:ln/>
        </p:spPr>
        <p:txBody>
          <a:bodyPr wrap="square" lIns="0" tIns="0" rIns="0" bIns="0" rtlCol="0" anchor="ctr"/>
          <a:lstStyle>
            <a:lvl1pPr marL="0" indent="0">
              <a:buNone/>
              <a:defRPr lang="en-ZA" sz="2000" b="1" dirty="0">
                <a:solidFill>
                  <a:schemeClr val="tx2"/>
                </a:solidFill>
              </a:defRPr>
            </a:lvl1pPr>
          </a:lstStyle>
          <a:p>
            <a:pPr marL="0" indent="0">
              <a:buNone/>
            </a:pPr>
            <a:r>
              <a:rPr lang="en-ZA" sz="2000" b="1" dirty="0">
                <a:solidFill>
                  <a:schemeClr val="tx2"/>
                </a:solidFill>
              </a:rPr>
              <a:t>Group B</a:t>
            </a:r>
            <a:endParaRPr lang="en-ZA" sz="2000" dirty="0"/>
          </a:p>
        </p:txBody>
      </p:sp>
      <p:sp>
        <p:nvSpPr>
          <p:cNvPr id="15" name="Right placeholder"/>
          <p:cNvSpPr>
            <a:spLocks noGrp="1"/>
          </p:cNvSpPr>
          <p:nvPr>
            <p:ph type="body" idx="113" hasCustomPrompt="1"/>
          </p:nvPr>
        </p:nvSpPr>
        <p:spPr>
          <a:xfrm>
            <a:off x="6553048" y="2651760"/>
            <a:ext cx="4769968" cy="3063240"/>
          </a:xfrm>
          <a:prstGeom prst="rect">
            <a:avLst/>
          </a:prstGeom>
          <a:noFill/>
          <a:ln/>
        </p:spPr>
        <p:txBody>
          <a:bodyPr wrap="square" lIns="0" tIns="0" rIns="0" bIns="0" rtlCol="0" anchor="t"/>
          <a:lstStyle>
            <a:lvl1pPr marL="342900" indent="-342900">
              <a:spcAft>
                <a:spcPts val="1000"/>
              </a:spcAft>
              <a:buSzPct val="100000"/>
              <a:buChar char="•"/>
              <a:defRPr lang="en-ZA" sz="1600" dirty="0">
                <a:solidFill>
                  <a:schemeClr val="tx1"/>
                </a:solidFill>
              </a:defRPr>
            </a:lvl1pPr>
          </a:lstStyle>
          <a:p>
            <a:pPr marL="342900" indent="-342900">
              <a:spcAft>
                <a:spcPts val="1000"/>
              </a:spcAft>
              <a:buSzPct val="100000"/>
              <a:buChar char="•"/>
            </a:pPr>
            <a:r>
              <a:rPr lang="en-ZA" sz="1600" dirty="0">
                <a:solidFill>
                  <a:schemeClr val="tx1"/>
                </a:solidFill>
              </a:rPr>
              <a:t>Click to add text</a:t>
            </a:r>
            <a:endParaRPr lang="en-ZA"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rt and commentary">
    <p:bg>
      <p:bgPr>
        <a:solidFill>
          <a:schemeClr val="bg1"/>
        </a:solidFill>
        <a:effectLst/>
      </p:bgPr>
    </p:bg>
    <p:spTree>
      <p:nvGrpSpPr>
        <p:cNvPr id="1" name=""/>
        <p:cNvGrpSpPr/>
        <p:nvPr/>
      </p:nvGrpSpPr>
      <p:grpSpPr>
        <a:xfrm>
          <a:off x="0" y="0"/>
          <a:ext cx="0" cy="0"/>
          <a:chOff x="0" y="0"/>
          <a:chExt cx="0" cy="0"/>
        </a:xfrm>
      </p:grpSpPr>
      <p:sp>
        <p:nvSpPr>
          <p:cNvPr id="8" name="Title placeholder"/>
          <p:cNvSpPr>
            <a:spLocks noGrp="1"/>
          </p:cNvSpPr>
          <p:nvPr>
            <p:ph type="title" idx="106" hasCustomPrompt="1"/>
          </p:nvPr>
        </p:nvSpPr>
        <p:spPr>
          <a:xfrm>
            <a:off x="548640" y="411480"/>
            <a:ext cx="10332720" cy="868680"/>
          </a:xfrm>
          <a:prstGeom prst="rect">
            <a:avLst/>
          </a:prstGeom>
          <a:noFill/>
          <a:ln/>
        </p:spPr>
        <p:txBody>
          <a:bodyPr wrap="square" lIns="0" tIns="0" rIns="0" bIns="0" rtlCol="0" anchor="ctr">
            <a:normAutofit/>
          </a:bodyPr>
          <a:lstStyle>
            <a:lvl1pPr marL="0" indent="0" algn="l">
              <a:buNone/>
              <a:defRPr lang="en-ZA" sz="3600" b="1" dirty="0">
                <a:solidFill>
                  <a:schemeClr val="tx2"/>
                </a:solidFill>
              </a:defRPr>
            </a:lvl1pPr>
          </a:lstStyle>
          <a:p>
            <a:pPr marL="0" indent="0" algn="l">
              <a:buNone/>
            </a:pPr>
            <a:r>
              <a:rPr lang="en-ZA" sz="3600" b="1" dirty="0">
                <a:solidFill>
                  <a:schemeClr val="tx2"/>
                </a:solidFill>
              </a:rPr>
              <a:t>Click to add a headline</a:t>
            </a:r>
            <a:endParaRPr lang="en-ZA" sz="3600" dirty="0"/>
          </a:p>
        </p:txBody>
      </p:sp>
      <p:sp>
        <p:nvSpPr>
          <p:cNvPr id="10" name="Shape 7"/>
          <p:cNvSpPr/>
          <p:nvPr/>
        </p:nvSpPr>
        <p:spPr>
          <a:xfrm>
            <a:off x="7863840" y="1600200"/>
            <a:ext cx="3779215" cy="3931920"/>
          </a:xfrm>
          <a:prstGeom prst="rect">
            <a:avLst/>
          </a:prstGeom>
          <a:solidFill>
            <a:schemeClr val="bg2"/>
          </a:solidFill>
          <a:ln/>
        </p:spPr>
      </p:sp>
      <p:sp>
        <p:nvSpPr>
          <p:cNvPr id="11" name="Chart placeholder"/>
          <p:cNvSpPr>
            <a:spLocks noGrp="1"/>
          </p:cNvSpPr>
          <p:nvPr>
            <p:ph type="chart" idx="109" hasCustomPrompt="1"/>
          </p:nvPr>
        </p:nvSpPr>
        <p:spPr>
          <a:xfrm>
            <a:off x="548640" y="1600200"/>
            <a:ext cx="7040880" cy="3931920"/>
          </a:xfrm>
          <a:prstGeom prst="rect">
            <a:avLst/>
          </a:prstGeom>
          <a:noFill/>
          <a:ln/>
        </p:spPr>
        <p:txBody>
          <a:bodyPr wrap="square" lIns="0" tIns="0" rIns="0" bIns="0" rtlCol="0" anchor="t"/>
          <a:lstStyle>
            <a:lvl1pPr marL="0" indent="0">
              <a:buNone/>
              <a:defRPr lang="en-ZA" sz="1400" dirty="0">
                <a:solidFill>
                  <a:schemeClr val="accent6"/>
                </a:solidFill>
              </a:defRPr>
            </a:lvl1pPr>
          </a:lstStyle>
          <a:p>
            <a:pPr marL="0" indent="0">
              <a:buNone/>
            </a:pPr>
            <a:r>
              <a:rPr lang="en-ZA" sz="1400" dirty="0">
                <a:solidFill>
                  <a:schemeClr val="accent6"/>
                </a:solidFill>
              </a:rPr>
              <a:t>Click the icon to add a chart</a:t>
            </a:r>
            <a:endParaRPr lang="en-ZA" sz="1400" dirty="0"/>
          </a:p>
        </p:txBody>
      </p:sp>
      <p:sp>
        <p:nvSpPr>
          <p:cNvPr id="12" name="Body placeholder"/>
          <p:cNvSpPr>
            <a:spLocks noGrp="1"/>
          </p:cNvSpPr>
          <p:nvPr>
            <p:ph type="body" idx="110" hasCustomPrompt="1"/>
          </p:nvPr>
        </p:nvSpPr>
        <p:spPr>
          <a:xfrm>
            <a:off x="8138160" y="1828800"/>
            <a:ext cx="3230575" cy="3474720"/>
          </a:xfrm>
          <a:prstGeom prst="rect">
            <a:avLst/>
          </a:prstGeom>
          <a:noFill/>
          <a:ln/>
        </p:spPr>
        <p:txBody>
          <a:bodyPr wrap="square" lIns="0" tIns="0" rIns="0" bIns="0" rtlCol="0" anchor="t"/>
          <a:lstStyle>
            <a:lvl1pPr marL="0" indent="0">
              <a:spcAft>
                <a:spcPts val="800"/>
              </a:spcAft>
              <a:buNone/>
              <a:defRPr lang="en-ZA" sz="1600" dirty="0">
                <a:solidFill>
                  <a:schemeClr val="tx1"/>
                </a:solidFill>
              </a:defRPr>
            </a:lvl1pPr>
          </a:lstStyle>
          <a:p>
            <a:pPr marL="0" indent="0">
              <a:spcAft>
                <a:spcPts val="800"/>
              </a:spcAft>
              <a:buNone/>
            </a:pPr>
            <a:r>
              <a:rPr lang="en-ZA" sz="1600" dirty="0">
                <a:solidFill>
                  <a:schemeClr val="tx1"/>
                </a:solidFill>
              </a:rPr>
              <a:t>Click to add commentary</a:t>
            </a:r>
            <a:endParaRPr lang="en-ZA" sz="1600" dirty="0"/>
          </a:p>
        </p:txBody>
      </p:sp>
      <p:sp>
        <p:nvSpPr>
          <p:cNvPr id="13" name="Source placeholder"/>
          <p:cNvSpPr>
            <a:spLocks noGrp="1"/>
          </p:cNvSpPr>
          <p:nvPr>
            <p:ph type="body" idx="111" hasCustomPrompt="1"/>
          </p:nvPr>
        </p:nvSpPr>
        <p:spPr>
          <a:xfrm>
            <a:off x="548640" y="5669280"/>
            <a:ext cx="11094415" cy="274320"/>
          </a:xfrm>
          <a:prstGeom prst="rect">
            <a:avLst/>
          </a:prstGeom>
          <a:noFill/>
          <a:ln/>
        </p:spPr>
        <p:txBody>
          <a:bodyPr wrap="square" lIns="0" tIns="0" rIns="0" bIns="0" rtlCol="0" anchor="ctr"/>
          <a:lstStyle>
            <a:lvl1pPr marL="0" indent="0">
              <a:buNone/>
              <a:defRPr lang="en-ZA" sz="1100" i="1" dirty="0">
                <a:solidFill>
                  <a:schemeClr val="accent6"/>
                </a:solidFill>
              </a:defRPr>
            </a:lvl1pPr>
          </a:lstStyle>
          <a:p>
            <a:pPr marL="0" indent="0">
              <a:buNone/>
            </a:pPr>
            <a:r>
              <a:rPr lang="en-ZA" sz="1100" i="1" dirty="0">
                <a:solidFill>
                  <a:schemeClr val="accent6"/>
                </a:solidFill>
              </a:rPr>
              <a:t>Source: add dataset, publisher and year</a:t>
            </a:r>
            <a:endParaRPr lang="en-ZA"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e">
    <p:bg>
      <p:bgPr>
        <a:solidFill>
          <a:schemeClr val="bg1"/>
        </a:solidFill>
        <a:effectLst/>
      </p:bgPr>
    </p:bg>
    <p:spTree>
      <p:nvGrpSpPr>
        <p:cNvPr id="1" name=""/>
        <p:cNvGrpSpPr/>
        <p:nvPr/>
      </p:nvGrpSpPr>
      <p:grpSpPr>
        <a:xfrm>
          <a:off x="0" y="0"/>
          <a:ext cx="0" cy="0"/>
          <a:chOff x="0" y="0"/>
          <a:chExt cx="0" cy="0"/>
        </a:xfrm>
      </p:grpSpPr>
      <p:sp>
        <p:nvSpPr>
          <p:cNvPr id="8" name="Title placeholder"/>
          <p:cNvSpPr>
            <a:spLocks noGrp="1"/>
          </p:cNvSpPr>
          <p:nvPr>
            <p:ph type="title" idx="106" hasCustomPrompt="1"/>
          </p:nvPr>
        </p:nvSpPr>
        <p:spPr>
          <a:xfrm>
            <a:off x="548640" y="411480"/>
            <a:ext cx="10332720" cy="868680"/>
          </a:xfrm>
          <a:prstGeom prst="rect">
            <a:avLst/>
          </a:prstGeom>
          <a:noFill/>
          <a:ln/>
        </p:spPr>
        <p:txBody>
          <a:bodyPr wrap="square" lIns="0" tIns="0" rIns="0" bIns="0" rtlCol="0" anchor="ctr">
            <a:normAutofit/>
          </a:bodyPr>
          <a:lstStyle>
            <a:lvl1pPr marL="0" indent="0" algn="l">
              <a:buNone/>
              <a:defRPr lang="en-ZA" sz="3600" b="1" dirty="0">
                <a:solidFill>
                  <a:schemeClr val="tx2"/>
                </a:solidFill>
              </a:defRPr>
            </a:lvl1pPr>
          </a:lstStyle>
          <a:p>
            <a:pPr marL="0" indent="0" algn="l">
              <a:buNone/>
            </a:pPr>
            <a:r>
              <a:rPr lang="en-ZA" sz="3600" b="1" dirty="0">
                <a:solidFill>
                  <a:schemeClr val="tx2"/>
                </a:solidFill>
              </a:rPr>
              <a:t>Click to add a headline</a:t>
            </a:r>
            <a:endParaRPr lang="en-ZA" sz="3600" dirty="0"/>
          </a:p>
        </p:txBody>
      </p:sp>
      <p:sp>
        <p:nvSpPr>
          <p:cNvPr id="10" name="Table placeholder"/>
          <p:cNvSpPr>
            <a:spLocks noGrp="1"/>
          </p:cNvSpPr>
          <p:nvPr>
            <p:ph idx="108" hasCustomPrompt="1"/>
          </p:nvPr>
        </p:nvSpPr>
        <p:spPr>
          <a:xfrm>
            <a:off x="548640" y="1600200"/>
            <a:ext cx="11094415" cy="3931920"/>
          </a:xfrm>
          <a:prstGeom prst="rect">
            <a:avLst/>
          </a:prstGeom>
          <a:noFill/>
          <a:ln/>
        </p:spPr>
        <p:txBody>
          <a:bodyPr wrap="square" lIns="0" tIns="0" rIns="0" bIns="0" rtlCol="0" anchor="t"/>
          <a:lstStyle>
            <a:lvl1pPr marL="0" indent="0">
              <a:buNone/>
              <a:defRPr lang="en-ZA" sz="1400" dirty="0">
                <a:solidFill>
                  <a:schemeClr val="accent6"/>
                </a:solidFill>
              </a:defRPr>
            </a:lvl1pPr>
          </a:lstStyle>
          <a:p>
            <a:pPr marL="0" indent="0">
              <a:buNone/>
            </a:pPr>
            <a:r>
              <a:rPr lang="en-ZA" sz="1400" dirty="0">
                <a:solidFill>
                  <a:schemeClr val="accent6"/>
                </a:solidFill>
              </a:rPr>
              <a:t>Click the icon to add a table</a:t>
            </a:r>
            <a:endParaRPr lang="en-ZA" sz="1400" dirty="0"/>
          </a:p>
        </p:txBody>
      </p:sp>
      <p:sp>
        <p:nvSpPr>
          <p:cNvPr id="11" name="Source placeholder"/>
          <p:cNvSpPr>
            <a:spLocks noGrp="1"/>
          </p:cNvSpPr>
          <p:nvPr>
            <p:ph type="body" idx="109" hasCustomPrompt="1"/>
          </p:nvPr>
        </p:nvSpPr>
        <p:spPr>
          <a:xfrm>
            <a:off x="548640" y="5669280"/>
            <a:ext cx="11094415" cy="274320"/>
          </a:xfrm>
          <a:prstGeom prst="rect">
            <a:avLst/>
          </a:prstGeom>
          <a:noFill/>
          <a:ln/>
        </p:spPr>
        <p:txBody>
          <a:bodyPr wrap="square" lIns="0" tIns="0" rIns="0" bIns="0" rtlCol="0" anchor="ctr"/>
          <a:lstStyle>
            <a:lvl1pPr marL="0" indent="0">
              <a:buNone/>
              <a:defRPr lang="en-ZA" sz="1100" i="1" dirty="0">
                <a:solidFill>
                  <a:schemeClr val="accent6"/>
                </a:solidFill>
              </a:defRPr>
            </a:lvl1pPr>
          </a:lstStyle>
          <a:p>
            <a:pPr marL="0" indent="0">
              <a:buNone/>
            </a:pPr>
            <a:r>
              <a:rPr lang="en-ZA" sz="1100" i="1" dirty="0">
                <a:solidFill>
                  <a:schemeClr val="accent6"/>
                </a:solidFill>
              </a:rPr>
              <a:t>Source: add dataset, publisher and year</a:t>
            </a:r>
            <a:endParaRPr lang="en-ZA"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sidebar">
    <p:bg>
      <p:bgPr>
        <a:solidFill>
          <a:schemeClr val="bg1"/>
        </a:solidFill>
        <a:effectLst/>
      </p:bgPr>
    </p:bg>
    <p:spTree>
      <p:nvGrpSpPr>
        <p:cNvPr id="1" name=""/>
        <p:cNvGrpSpPr/>
        <p:nvPr/>
      </p:nvGrpSpPr>
      <p:grpSpPr>
        <a:xfrm>
          <a:off x="0" y="0"/>
          <a:ext cx="0" cy="0"/>
          <a:chOff x="0" y="0"/>
          <a:chExt cx="0" cy="0"/>
        </a:xfrm>
      </p:grpSpPr>
      <p:sp>
        <p:nvSpPr>
          <p:cNvPr id="8" name="Title placeholder"/>
          <p:cNvSpPr>
            <a:spLocks noGrp="1"/>
          </p:cNvSpPr>
          <p:nvPr>
            <p:ph type="title" idx="106" hasCustomPrompt="1"/>
          </p:nvPr>
        </p:nvSpPr>
        <p:spPr>
          <a:xfrm>
            <a:off x="548640" y="411480"/>
            <a:ext cx="10332720" cy="868680"/>
          </a:xfrm>
          <a:prstGeom prst="rect">
            <a:avLst/>
          </a:prstGeom>
          <a:noFill/>
          <a:ln/>
        </p:spPr>
        <p:txBody>
          <a:bodyPr wrap="square" lIns="0" tIns="0" rIns="0" bIns="0" rtlCol="0" anchor="ctr">
            <a:normAutofit/>
          </a:bodyPr>
          <a:lstStyle>
            <a:lvl1pPr marL="0" indent="0" algn="l">
              <a:buNone/>
              <a:defRPr lang="en-ZA" sz="3600" b="1" dirty="0">
                <a:solidFill>
                  <a:schemeClr val="tx2"/>
                </a:solidFill>
              </a:defRPr>
            </a:lvl1pPr>
          </a:lstStyle>
          <a:p>
            <a:pPr marL="0" indent="0" algn="l">
              <a:buNone/>
            </a:pPr>
            <a:r>
              <a:rPr lang="en-ZA" sz="3600" b="1" dirty="0">
                <a:solidFill>
                  <a:schemeClr val="tx2"/>
                </a:solidFill>
              </a:rPr>
              <a:t>Click to add a headline</a:t>
            </a:r>
            <a:endParaRPr lang="en-ZA" sz="3600" dirty="0"/>
          </a:p>
        </p:txBody>
      </p:sp>
      <p:sp>
        <p:nvSpPr>
          <p:cNvPr id="10" name="Shape 7"/>
          <p:cNvSpPr/>
          <p:nvPr/>
        </p:nvSpPr>
        <p:spPr>
          <a:xfrm>
            <a:off x="6949440" y="1600200"/>
            <a:ext cx="4693615" cy="4343400"/>
          </a:xfrm>
          <a:prstGeom prst="rect">
            <a:avLst/>
          </a:prstGeom>
          <a:solidFill>
            <a:schemeClr val="bg2"/>
          </a:solidFill>
          <a:ln/>
        </p:spPr>
      </p:sp>
      <p:sp>
        <p:nvSpPr>
          <p:cNvPr id="11" name="Body placeholder"/>
          <p:cNvSpPr>
            <a:spLocks noGrp="1"/>
          </p:cNvSpPr>
          <p:nvPr>
            <p:ph type="body" idx="109" hasCustomPrompt="1"/>
          </p:nvPr>
        </p:nvSpPr>
        <p:spPr>
          <a:xfrm>
            <a:off x="548640" y="1600200"/>
            <a:ext cx="6035040" cy="4343400"/>
          </a:xfrm>
          <a:prstGeom prst="rect">
            <a:avLst/>
          </a:prstGeom>
          <a:noFill/>
          <a:ln/>
        </p:spPr>
        <p:txBody>
          <a:bodyPr wrap="square" lIns="0" tIns="0" rIns="0" bIns="0" rtlCol="0" anchor="t"/>
          <a:lstStyle>
            <a:lvl1pPr marL="0" indent="0">
              <a:spcAft>
                <a:spcPts val="1000"/>
              </a:spcAft>
              <a:buNone/>
              <a:defRPr lang="en-ZA" sz="1600" dirty="0">
                <a:solidFill>
                  <a:schemeClr val="tx1"/>
                </a:solidFill>
              </a:defRPr>
            </a:lvl1pPr>
          </a:lstStyle>
          <a:p>
            <a:pPr marL="0" indent="0">
              <a:spcAft>
                <a:spcPts val="1000"/>
              </a:spcAft>
              <a:buNone/>
            </a:pPr>
            <a:r>
              <a:rPr lang="en-ZA" sz="1600" dirty="0">
                <a:solidFill>
                  <a:schemeClr val="tx1"/>
                </a:solidFill>
              </a:rPr>
              <a:t>Click to add text</a:t>
            </a:r>
            <a:endParaRPr lang="en-ZA" sz="1600" dirty="0"/>
          </a:p>
        </p:txBody>
      </p:sp>
      <p:sp>
        <p:nvSpPr>
          <p:cNvPr id="12" name="SideHead placeholder"/>
          <p:cNvSpPr>
            <a:spLocks noGrp="1"/>
          </p:cNvSpPr>
          <p:nvPr>
            <p:ph type="body" idx="110" hasCustomPrompt="1"/>
          </p:nvPr>
        </p:nvSpPr>
        <p:spPr>
          <a:xfrm>
            <a:off x="7269480" y="1828800"/>
            <a:ext cx="3108960" cy="640080"/>
          </a:xfrm>
          <a:prstGeom prst="rect">
            <a:avLst/>
          </a:prstGeom>
          <a:noFill/>
          <a:ln/>
        </p:spPr>
        <p:txBody>
          <a:bodyPr wrap="square" lIns="0" tIns="0" rIns="0" bIns="0" rtlCol="0" anchor="ctr"/>
          <a:lstStyle>
            <a:lvl1pPr marL="0" indent="0">
              <a:buNone/>
              <a:defRPr lang="en-ZA" sz="2000" b="1" dirty="0">
                <a:solidFill>
                  <a:schemeClr val="tx2"/>
                </a:solidFill>
              </a:defRPr>
            </a:lvl1pPr>
          </a:lstStyle>
          <a:p>
            <a:pPr marL="0" indent="0">
              <a:buNone/>
            </a:pPr>
            <a:r>
              <a:rPr lang="en-ZA" sz="2000" b="1" dirty="0">
                <a:solidFill>
                  <a:schemeClr val="tx2"/>
                </a:solidFill>
              </a:rPr>
              <a:t>Sidebar heading</a:t>
            </a:r>
            <a:endParaRPr lang="en-ZA" sz="2000" dirty="0"/>
          </a:p>
        </p:txBody>
      </p:sp>
      <p:sp>
        <p:nvSpPr>
          <p:cNvPr id="13" name="Side placeholder"/>
          <p:cNvSpPr>
            <a:spLocks noGrp="1"/>
          </p:cNvSpPr>
          <p:nvPr>
            <p:ph type="body" idx="111" hasCustomPrompt="1"/>
          </p:nvPr>
        </p:nvSpPr>
        <p:spPr>
          <a:xfrm>
            <a:off x="7269480" y="2697480"/>
            <a:ext cx="4053535" cy="3017520"/>
          </a:xfrm>
          <a:prstGeom prst="rect">
            <a:avLst/>
          </a:prstGeom>
          <a:noFill/>
          <a:ln/>
        </p:spPr>
        <p:txBody>
          <a:bodyPr wrap="square" lIns="0" tIns="0" rIns="0" bIns="0" rtlCol="0" anchor="t"/>
          <a:lstStyle>
            <a:lvl1pPr marL="0" indent="0">
              <a:spcAft>
                <a:spcPts val="800"/>
              </a:spcAft>
              <a:buNone/>
              <a:defRPr lang="en-ZA" sz="1400" dirty="0">
                <a:solidFill>
                  <a:schemeClr val="tx1"/>
                </a:solidFill>
              </a:defRPr>
            </a:lvl1pPr>
          </a:lstStyle>
          <a:p>
            <a:pPr marL="0" indent="0">
              <a:spcAft>
                <a:spcPts val="800"/>
              </a:spcAft>
              <a:buNone/>
            </a:pPr>
            <a:r>
              <a:rPr lang="en-ZA" sz="1400" dirty="0">
                <a:solidFill>
                  <a:schemeClr val="tx1"/>
                </a:solidFill>
              </a:rPr>
              <a:t>Click to add a note</a:t>
            </a:r>
            <a:endParaRPr lang="en-ZA"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Key message">
    <p:bg>
      <p:bgPr>
        <a:solidFill>
          <a:schemeClr val="bg2"/>
        </a:solidFill>
        <a:effectLst/>
      </p:bgPr>
    </p:bg>
    <p:spTree>
      <p:nvGrpSpPr>
        <p:cNvPr id="1" name=""/>
        <p:cNvGrpSpPr/>
        <p:nvPr/>
      </p:nvGrpSpPr>
      <p:grpSpPr>
        <a:xfrm>
          <a:off x="0" y="0"/>
          <a:ext cx="0" cy="0"/>
          <a:chOff x="0" y="0"/>
          <a:chExt cx="0" cy="0"/>
        </a:xfrm>
      </p:grpSpPr>
      <p:sp>
        <p:nvSpPr>
          <p:cNvPr id="8" name="Shape 6"/>
          <p:cNvSpPr/>
          <p:nvPr/>
        </p:nvSpPr>
        <p:spPr>
          <a:xfrm>
            <a:off x="1371600" y="1143000"/>
            <a:ext cx="822960" cy="822960"/>
          </a:xfrm>
          <a:prstGeom prst="rect">
            <a:avLst/>
          </a:prstGeom>
          <a:solidFill>
            <a:schemeClr val="accent2"/>
          </a:solidFill>
          <a:ln/>
        </p:spPr>
      </p:sp>
      <p:pic>
        <p:nvPicPr>
          <p:cNvPr id="9" name="Image 0" descr="preencoded.png"/>
          <p:cNvPicPr>
            <a:picLocks noChangeAspect="1"/>
          </p:cNvPicPr>
          <p:nvPr/>
        </p:nvPicPr>
        <p:blipFill>
          <a:blip r:embed="rId2"/>
          <a:stretch>
            <a:fillRect/>
          </a:stretch>
        </p:blipFill>
        <p:spPr>
          <a:xfrm>
            <a:off x="1581912" y="1353312"/>
            <a:ext cx="402336" cy="402336"/>
          </a:xfrm>
          <a:prstGeom prst="rect">
            <a:avLst/>
          </a:prstGeom>
        </p:spPr>
      </p:pic>
      <p:sp>
        <p:nvSpPr>
          <p:cNvPr id="10" name="Body placeholder"/>
          <p:cNvSpPr>
            <a:spLocks noGrp="1"/>
          </p:cNvSpPr>
          <p:nvPr>
            <p:ph type="body" idx="108" hasCustomPrompt="1"/>
          </p:nvPr>
        </p:nvSpPr>
        <p:spPr>
          <a:xfrm>
            <a:off x="1371600" y="2286000"/>
            <a:ext cx="9418320" cy="2194560"/>
          </a:xfrm>
          <a:prstGeom prst="rect">
            <a:avLst/>
          </a:prstGeom>
          <a:noFill/>
          <a:ln/>
        </p:spPr>
        <p:txBody>
          <a:bodyPr wrap="square" lIns="0" tIns="0" rIns="0" bIns="0" rtlCol="0" anchor="t"/>
          <a:lstStyle>
            <a:lvl1pPr marL="0" indent="0">
              <a:buNone/>
              <a:defRPr lang="en-ZA" sz="3200" dirty="0">
                <a:solidFill>
                  <a:schemeClr val="tx2"/>
                </a:solidFill>
                <a:latin typeface="+mj-lt" pitchFamily="34" charset="0"/>
                <a:ea typeface="+mj-lt" pitchFamily="34" charset="-122"/>
                <a:cs typeface="+mj-lt" pitchFamily="34" charset="-120"/>
              </a:defRPr>
            </a:lvl1pPr>
          </a:lstStyle>
          <a:p>
            <a:pPr marL="0" indent="0">
              <a:buNone/>
            </a:pPr>
            <a:r>
              <a:rPr lang="en-ZA" sz="3200" dirty="0">
                <a:solidFill>
                  <a:schemeClr val="tx2"/>
                </a:solidFill>
                <a:latin typeface="+mj-lt" pitchFamily="34" charset="0"/>
                <a:ea typeface="+mj-lt" pitchFamily="34" charset="-122"/>
                <a:cs typeface="+mj-lt" pitchFamily="34" charset="-120"/>
              </a:rPr>
              <a:t>State the single most important insight</a:t>
            </a:r>
            <a:endParaRPr lang="en-ZA" sz="3200" dirty="0"/>
          </a:p>
        </p:txBody>
      </p:sp>
      <p:sp>
        <p:nvSpPr>
          <p:cNvPr id="11" name="Attribution placeholder"/>
          <p:cNvSpPr>
            <a:spLocks noGrp="1"/>
          </p:cNvSpPr>
          <p:nvPr>
            <p:ph type="body" idx="109" hasCustomPrompt="1"/>
          </p:nvPr>
        </p:nvSpPr>
        <p:spPr>
          <a:xfrm>
            <a:off x="1371600" y="4754880"/>
            <a:ext cx="9418320" cy="457200"/>
          </a:xfrm>
          <a:prstGeom prst="rect">
            <a:avLst/>
          </a:prstGeom>
          <a:noFill/>
          <a:ln/>
        </p:spPr>
        <p:txBody>
          <a:bodyPr wrap="square" lIns="0" tIns="0" rIns="0" bIns="0" rtlCol="0" anchor="ctr"/>
          <a:lstStyle>
            <a:lvl1pPr marL="0" indent="0">
              <a:buNone/>
              <a:defRPr lang="en-ZA" sz="1600" dirty="0">
                <a:solidFill>
                  <a:schemeClr val="accent6"/>
                </a:solidFill>
              </a:defRPr>
            </a:lvl1pPr>
          </a:lstStyle>
          <a:p>
            <a:pPr marL="0" indent="0">
              <a:buNone/>
            </a:pPr>
            <a:r>
              <a:rPr lang="en-ZA" sz="1600" dirty="0">
                <a:solidFill>
                  <a:schemeClr val="accent6"/>
                </a:solidFill>
              </a:rPr>
              <a:t>Supporting evidence or source</a:t>
            </a:r>
            <a:endParaRPr lang="en-ZA"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11094415" y="2523744"/>
            <a:ext cx="457200" cy="457200"/>
          </a:xfrm>
          <a:prstGeom prst="rect">
            <a:avLst/>
          </a:prstGeom>
          <a:solidFill>
            <a:schemeClr val="accent2"/>
          </a:solidFill>
          <a:ln/>
        </p:spPr>
        <p:txBody>
          <a:bodyPr/>
          <a:lstStyle/>
          <a:p>
            <a:endParaRPr lang="en-ZA"/>
          </a:p>
        </p:txBody>
      </p:sp>
      <p:sp>
        <p:nvSpPr>
          <p:cNvPr id="3" name="Shape 1"/>
          <p:cNvSpPr/>
          <p:nvPr/>
        </p:nvSpPr>
        <p:spPr>
          <a:xfrm>
            <a:off x="10554919" y="3063240"/>
            <a:ext cx="457200" cy="457200"/>
          </a:xfrm>
          <a:prstGeom prst="rect">
            <a:avLst/>
          </a:prstGeom>
          <a:solidFill>
            <a:schemeClr val="accent1"/>
          </a:solidFill>
          <a:ln/>
        </p:spPr>
        <p:txBody>
          <a:bodyPr/>
          <a:lstStyle/>
          <a:p>
            <a:endParaRPr lang="en-ZA"/>
          </a:p>
        </p:txBody>
      </p:sp>
      <p:sp>
        <p:nvSpPr>
          <p:cNvPr id="4" name="Shape 2"/>
          <p:cNvSpPr/>
          <p:nvPr/>
        </p:nvSpPr>
        <p:spPr>
          <a:xfrm>
            <a:off x="11094415" y="3063240"/>
            <a:ext cx="457200" cy="457200"/>
          </a:xfrm>
          <a:prstGeom prst="rect">
            <a:avLst/>
          </a:prstGeom>
          <a:solidFill>
            <a:schemeClr val="bg1">
              <a:alpha val="12000"/>
            </a:schemeClr>
          </a:solidFill>
          <a:ln/>
        </p:spPr>
        <p:txBody>
          <a:bodyPr/>
          <a:lstStyle/>
          <a:p>
            <a:endParaRPr lang="en-ZA"/>
          </a:p>
        </p:txBody>
      </p:sp>
      <p:sp>
        <p:nvSpPr>
          <p:cNvPr id="5" name="Shape 3"/>
          <p:cNvSpPr/>
          <p:nvPr/>
        </p:nvSpPr>
        <p:spPr>
          <a:xfrm>
            <a:off x="10015423" y="3602736"/>
            <a:ext cx="457200" cy="457200"/>
          </a:xfrm>
          <a:prstGeom prst="rect">
            <a:avLst/>
          </a:prstGeom>
          <a:solidFill>
            <a:schemeClr val="bg1">
              <a:alpha val="12000"/>
            </a:schemeClr>
          </a:solidFill>
          <a:ln/>
        </p:spPr>
        <p:txBody>
          <a:bodyPr/>
          <a:lstStyle/>
          <a:p>
            <a:endParaRPr lang="en-ZA"/>
          </a:p>
        </p:txBody>
      </p:sp>
      <p:sp>
        <p:nvSpPr>
          <p:cNvPr id="6" name="Shape 4"/>
          <p:cNvSpPr/>
          <p:nvPr/>
        </p:nvSpPr>
        <p:spPr>
          <a:xfrm>
            <a:off x="10554919" y="3602736"/>
            <a:ext cx="457200" cy="457200"/>
          </a:xfrm>
          <a:prstGeom prst="rect">
            <a:avLst/>
          </a:prstGeom>
          <a:solidFill>
            <a:schemeClr val="bg1"/>
          </a:solidFill>
          <a:ln/>
        </p:spPr>
        <p:txBody>
          <a:bodyPr/>
          <a:lstStyle/>
          <a:p>
            <a:endParaRPr lang="en-ZA"/>
          </a:p>
        </p:txBody>
      </p:sp>
      <p:sp>
        <p:nvSpPr>
          <p:cNvPr id="7" name="Shape 5"/>
          <p:cNvSpPr/>
          <p:nvPr/>
        </p:nvSpPr>
        <p:spPr>
          <a:xfrm>
            <a:off x="11094415" y="3602736"/>
            <a:ext cx="457200" cy="457200"/>
          </a:xfrm>
          <a:prstGeom prst="rect">
            <a:avLst/>
          </a:prstGeom>
          <a:solidFill>
            <a:schemeClr val="accent1"/>
          </a:solidFill>
          <a:ln/>
        </p:spPr>
        <p:txBody>
          <a:bodyPr/>
          <a:lstStyle/>
          <a:p>
            <a:endParaRPr lang="en-ZA"/>
          </a:p>
        </p:txBody>
      </p:sp>
      <p:sp>
        <p:nvSpPr>
          <p:cNvPr id="8" name="Shape 6"/>
          <p:cNvSpPr/>
          <p:nvPr/>
        </p:nvSpPr>
        <p:spPr>
          <a:xfrm>
            <a:off x="9475927" y="4142232"/>
            <a:ext cx="457200" cy="457200"/>
          </a:xfrm>
          <a:prstGeom prst="rect">
            <a:avLst/>
          </a:prstGeom>
          <a:solidFill>
            <a:schemeClr val="accent3"/>
          </a:solidFill>
          <a:ln/>
        </p:spPr>
        <p:txBody>
          <a:bodyPr/>
          <a:lstStyle/>
          <a:p>
            <a:endParaRPr lang="en-ZA"/>
          </a:p>
        </p:txBody>
      </p:sp>
      <p:sp>
        <p:nvSpPr>
          <p:cNvPr id="9" name="Shape 7"/>
          <p:cNvSpPr/>
          <p:nvPr/>
        </p:nvSpPr>
        <p:spPr>
          <a:xfrm>
            <a:off x="10015423" y="4142232"/>
            <a:ext cx="457200" cy="457200"/>
          </a:xfrm>
          <a:prstGeom prst="rect">
            <a:avLst/>
          </a:prstGeom>
          <a:solidFill>
            <a:schemeClr val="accent1"/>
          </a:solidFill>
          <a:ln/>
        </p:spPr>
        <p:txBody>
          <a:bodyPr/>
          <a:lstStyle/>
          <a:p>
            <a:endParaRPr lang="en-ZA"/>
          </a:p>
        </p:txBody>
      </p:sp>
      <p:sp>
        <p:nvSpPr>
          <p:cNvPr id="10" name="Shape 8"/>
          <p:cNvSpPr/>
          <p:nvPr/>
        </p:nvSpPr>
        <p:spPr>
          <a:xfrm>
            <a:off x="10554919" y="4142232"/>
            <a:ext cx="457200" cy="457200"/>
          </a:xfrm>
          <a:prstGeom prst="rect">
            <a:avLst/>
          </a:prstGeom>
          <a:solidFill>
            <a:schemeClr val="bg1">
              <a:alpha val="12000"/>
            </a:schemeClr>
          </a:solidFill>
          <a:ln/>
        </p:spPr>
        <p:txBody>
          <a:bodyPr/>
          <a:lstStyle/>
          <a:p>
            <a:endParaRPr lang="en-ZA"/>
          </a:p>
        </p:txBody>
      </p:sp>
      <p:sp>
        <p:nvSpPr>
          <p:cNvPr id="11" name="Shape 9"/>
          <p:cNvSpPr/>
          <p:nvPr/>
        </p:nvSpPr>
        <p:spPr>
          <a:xfrm>
            <a:off x="11094415" y="4142232"/>
            <a:ext cx="457200" cy="457200"/>
          </a:xfrm>
          <a:prstGeom prst="rect">
            <a:avLst/>
          </a:prstGeom>
          <a:solidFill>
            <a:schemeClr val="accent1"/>
          </a:solidFill>
          <a:ln/>
        </p:spPr>
        <p:txBody>
          <a:bodyPr/>
          <a:lstStyle/>
          <a:p>
            <a:endParaRPr lang="en-ZA"/>
          </a:p>
        </p:txBody>
      </p:sp>
      <p:sp>
        <p:nvSpPr>
          <p:cNvPr id="12" name="Shape 10"/>
          <p:cNvSpPr/>
          <p:nvPr/>
        </p:nvSpPr>
        <p:spPr>
          <a:xfrm>
            <a:off x="8936431" y="4681728"/>
            <a:ext cx="457200" cy="457200"/>
          </a:xfrm>
          <a:prstGeom prst="rect">
            <a:avLst/>
          </a:prstGeom>
          <a:solidFill>
            <a:schemeClr val="accent1"/>
          </a:solidFill>
          <a:ln/>
        </p:spPr>
        <p:txBody>
          <a:bodyPr/>
          <a:lstStyle/>
          <a:p>
            <a:endParaRPr lang="en-ZA"/>
          </a:p>
        </p:txBody>
      </p:sp>
      <p:sp>
        <p:nvSpPr>
          <p:cNvPr id="13" name="Shape 11"/>
          <p:cNvSpPr/>
          <p:nvPr/>
        </p:nvSpPr>
        <p:spPr>
          <a:xfrm>
            <a:off x="9475927" y="4681728"/>
            <a:ext cx="457200" cy="457200"/>
          </a:xfrm>
          <a:prstGeom prst="rect">
            <a:avLst/>
          </a:prstGeom>
          <a:solidFill>
            <a:schemeClr val="bg1">
              <a:alpha val="12000"/>
            </a:schemeClr>
          </a:solidFill>
          <a:ln/>
        </p:spPr>
        <p:txBody>
          <a:bodyPr/>
          <a:lstStyle/>
          <a:p>
            <a:endParaRPr lang="en-ZA"/>
          </a:p>
        </p:txBody>
      </p:sp>
      <p:sp>
        <p:nvSpPr>
          <p:cNvPr id="14" name="Shape 12"/>
          <p:cNvSpPr/>
          <p:nvPr/>
        </p:nvSpPr>
        <p:spPr>
          <a:xfrm>
            <a:off x="10015423" y="4681728"/>
            <a:ext cx="457200" cy="457200"/>
          </a:xfrm>
          <a:prstGeom prst="rect">
            <a:avLst/>
          </a:prstGeom>
          <a:solidFill>
            <a:schemeClr val="accent1"/>
          </a:solidFill>
          <a:ln/>
        </p:spPr>
        <p:txBody>
          <a:bodyPr/>
          <a:lstStyle/>
          <a:p>
            <a:endParaRPr lang="en-ZA"/>
          </a:p>
        </p:txBody>
      </p:sp>
      <p:sp>
        <p:nvSpPr>
          <p:cNvPr id="15" name="Shape 13"/>
          <p:cNvSpPr/>
          <p:nvPr/>
        </p:nvSpPr>
        <p:spPr>
          <a:xfrm>
            <a:off x="10554919" y="4681728"/>
            <a:ext cx="457200" cy="457200"/>
          </a:xfrm>
          <a:prstGeom prst="rect">
            <a:avLst/>
          </a:prstGeom>
          <a:solidFill>
            <a:schemeClr val="accent1"/>
          </a:solidFill>
          <a:ln/>
        </p:spPr>
        <p:txBody>
          <a:bodyPr/>
          <a:lstStyle/>
          <a:p>
            <a:endParaRPr lang="en-ZA"/>
          </a:p>
        </p:txBody>
      </p:sp>
      <p:sp>
        <p:nvSpPr>
          <p:cNvPr id="16" name="Shape 14"/>
          <p:cNvSpPr/>
          <p:nvPr/>
        </p:nvSpPr>
        <p:spPr>
          <a:xfrm>
            <a:off x="11094415" y="4681728"/>
            <a:ext cx="457200" cy="457200"/>
          </a:xfrm>
          <a:prstGeom prst="rect">
            <a:avLst/>
          </a:prstGeom>
          <a:solidFill>
            <a:schemeClr val="accent2"/>
          </a:solidFill>
          <a:ln/>
        </p:spPr>
        <p:txBody>
          <a:bodyPr/>
          <a:lstStyle/>
          <a:p>
            <a:endParaRPr lang="en-ZA"/>
          </a:p>
        </p:txBody>
      </p:sp>
      <p:sp>
        <p:nvSpPr>
          <p:cNvPr id="17" name="Shape 15"/>
          <p:cNvSpPr/>
          <p:nvPr/>
        </p:nvSpPr>
        <p:spPr>
          <a:xfrm>
            <a:off x="8396935" y="5221224"/>
            <a:ext cx="457200" cy="457200"/>
          </a:xfrm>
          <a:prstGeom prst="rect">
            <a:avLst/>
          </a:prstGeom>
          <a:solidFill>
            <a:schemeClr val="bg1"/>
          </a:solidFill>
          <a:ln/>
        </p:spPr>
        <p:txBody>
          <a:bodyPr/>
          <a:lstStyle/>
          <a:p>
            <a:endParaRPr lang="en-ZA"/>
          </a:p>
        </p:txBody>
      </p:sp>
      <p:sp>
        <p:nvSpPr>
          <p:cNvPr id="18" name="Shape 16"/>
          <p:cNvSpPr/>
          <p:nvPr/>
        </p:nvSpPr>
        <p:spPr>
          <a:xfrm>
            <a:off x="8936431" y="5221224"/>
            <a:ext cx="457200" cy="457200"/>
          </a:xfrm>
          <a:prstGeom prst="rect">
            <a:avLst/>
          </a:prstGeom>
          <a:solidFill>
            <a:schemeClr val="accent1"/>
          </a:solidFill>
          <a:ln/>
        </p:spPr>
        <p:txBody>
          <a:bodyPr/>
          <a:lstStyle/>
          <a:p>
            <a:endParaRPr lang="en-ZA"/>
          </a:p>
        </p:txBody>
      </p:sp>
      <p:sp>
        <p:nvSpPr>
          <p:cNvPr id="19" name="Shape 17"/>
          <p:cNvSpPr/>
          <p:nvPr/>
        </p:nvSpPr>
        <p:spPr>
          <a:xfrm>
            <a:off x="9475927" y="5221224"/>
            <a:ext cx="457200" cy="457200"/>
          </a:xfrm>
          <a:prstGeom prst="rect">
            <a:avLst/>
          </a:prstGeom>
          <a:solidFill>
            <a:schemeClr val="accent1"/>
          </a:solidFill>
          <a:ln/>
        </p:spPr>
        <p:txBody>
          <a:bodyPr/>
          <a:lstStyle/>
          <a:p>
            <a:endParaRPr lang="en-ZA"/>
          </a:p>
        </p:txBody>
      </p:sp>
      <p:sp>
        <p:nvSpPr>
          <p:cNvPr id="20" name="Shape 18"/>
          <p:cNvSpPr/>
          <p:nvPr/>
        </p:nvSpPr>
        <p:spPr>
          <a:xfrm>
            <a:off x="10015423" y="5221224"/>
            <a:ext cx="457200" cy="457200"/>
          </a:xfrm>
          <a:prstGeom prst="rect">
            <a:avLst/>
          </a:prstGeom>
          <a:solidFill>
            <a:schemeClr val="accent3"/>
          </a:solidFill>
          <a:ln/>
        </p:spPr>
        <p:txBody>
          <a:bodyPr/>
          <a:lstStyle/>
          <a:p>
            <a:endParaRPr lang="en-ZA"/>
          </a:p>
        </p:txBody>
      </p:sp>
      <p:sp>
        <p:nvSpPr>
          <p:cNvPr id="21" name="Shape 19"/>
          <p:cNvSpPr/>
          <p:nvPr/>
        </p:nvSpPr>
        <p:spPr>
          <a:xfrm>
            <a:off x="10554919" y="5221224"/>
            <a:ext cx="457200" cy="457200"/>
          </a:xfrm>
          <a:prstGeom prst="rect">
            <a:avLst/>
          </a:prstGeom>
          <a:solidFill>
            <a:schemeClr val="bg1">
              <a:alpha val="12000"/>
            </a:schemeClr>
          </a:solidFill>
          <a:ln/>
        </p:spPr>
        <p:txBody>
          <a:bodyPr/>
          <a:lstStyle/>
          <a:p>
            <a:endParaRPr lang="en-ZA"/>
          </a:p>
        </p:txBody>
      </p:sp>
      <p:sp>
        <p:nvSpPr>
          <p:cNvPr id="22" name="Shape 20"/>
          <p:cNvSpPr/>
          <p:nvPr/>
        </p:nvSpPr>
        <p:spPr>
          <a:xfrm>
            <a:off x="11094415" y="5221224"/>
            <a:ext cx="457200" cy="457200"/>
          </a:xfrm>
          <a:prstGeom prst="rect">
            <a:avLst/>
          </a:prstGeom>
          <a:solidFill>
            <a:schemeClr val="accent1"/>
          </a:solidFill>
          <a:ln/>
        </p:spPr>
        <p:txBody>
          <a:bodyPr/>
          <a:lstStyle/>
          <a:p>
            <a:endParaRPr lang="en-ZA"/>
          </a:p>
        </p:txBody>
      </p:sp>
      <p:sp>
        <p:nvSpPr>
          <p:cNvPr id="23" name="Shape 21"/>
          <p:cNvSpPr/>
          <p:nvPr/>
        </p:nvSpPr>
        <p:spPr>
          <a:xfrm>
            <a:off x="7857439" y="5760720"/>
            <a:ext cx="457200" cy="457200"/>
          </a:xfrm>
          <a:prstGeom prst="rect">
            <a:avLst/>
          </a:prstGeom>
          <a:solidFill>
            <a:schemeClr val="accent1"/>
          </a:solidFill>
          <a:ln/>
        </p:spPr>
        <p:txBody>
          <a:bodyPr/>
          <a:lstStyle/>
          <a:p>
            <a:endParaRPr lang="en-ZA"/>
          </a:p>
        </p:txBody>
      </p:sp>
      <p:sp>
        <p:nvSpPr>
          <p:cNvPr id="24" name="Shape 22"/>
          <p:cNvSpPr/>
          <p:nvPr/>
        </p:nvSpPr>
        <p:spPr>
          <a:xfrm>
            <a:off x="8396935" y="5760720"/>
            <a:ext cx="457200" cy="457200"/>
          </a:xfrm>
          <a:prstGeom prst="rect">
            <a:avLst/>
          </a:prstGeom>
          <a:solidFill>
            <a:schemeClr val="bg1">
              <a:alpha val="12000"/>
            </a:schemeClr>
          </a:solidFill>
          <a:ln/>
        </p:spPr>
        <p:txBody>
          <a:bodyPr/>
          <a:lstStyle/>
          <a:p>
            <a:endParaRPr lang="en-ZA"/>
          </a:p>
        </p:txBody>
      </p:sp>
      <p:sp>
        <p:nvSpPr>
          <p:cNvPr id="25" name="Shape 23"/>
          <p:cNvSpPr/>
          <p:nvPr/>
        </p:nvSpPr>
        <p:spPr>
          <a:xfrm>
            <a:off x="8936431" y="5760720"/>
            <a:ext cx="457200" cy="457200"/>
          </a:xfrm>
          <a:prstGeom prst="rect">
            <a:avLst/>
          </a:prstGeom>
          <a:solidFill>
            <a:schemeClr val="accent2"/>
          </a:solidFill>
          <a:ln/>
        </p:spPr>
        <p:txBody>
          <a:bodyPr/>
          <a:lstStyle/>
          <a:p>
            <a:endParaRPr lang="en-ZA"/>
          </a:p>
        </p:txBody>
      </p:sp>
      <p:sp>
        <p:nvSpPr>
          <p:cNvPr id="26" name="Shape 24"/>
          <p:cNvSpPr/>
          <p:nvPr/>
        </p:nvSpPr>
        <p:spPr>
          <a:xfrm>
            <a:off x="9475927" y="5760720"/>
            <a:ext cx="457200" cy="457200"/>
          </a:xfrm>
          <a:prstGeom prst="rect">
            <a:avLst/>
          </a:prstGeom>
          <a:solidFill>
            <a:schemeClr val="accent1"/>
          </a:solidFill>
          <a:ln/>
        </p:spPr>
        <p:txBody>
          <a:bodyPr/>
          <a:lstStyle/>
          <a:p>
            <a:endParaRPr lang="en-ZA"/>
          </a:p>
        </p:txBody>
      </p:sp>
      <p:sp>
        <p:nvSpPr>
          <p:cNvPr id="27" name="Shape 25"/>
          <p:cNvSpPr/>
          <p:nvPr/>
        </p:nvSpPr>
        <p:spPr>
          <a:xfrm>
            <a:off x="10015423" y="5760720"/>
            <a:ext cx="457200" cy="457200"/>
          </a:xfrm>
          <a:prstGeom prst="rect">
            <a:avLst/>
          </a:prstGeom>
          <a:solidFill>
            <a:schemeClr val="accent1"/>
          </a:solidFill>
          <a:ln/>
        </p:spPr>
        <p:txBody>
          <a:bodyPr/>
          <a:lstStyle/>
          <a:p>
            <a:endParaRPr lang="en-ZA"/>
          </a:p>
        </p:txBody>
      </p:sp>
      <p:sp>
        <p:nvSpPr>
          <p:cNvPr id="28" name="Shape 26"/>
          <p:cNvSpPr/>
          <p:nvPr/>
        </p:nvSpPr>
        <p:spPr>
          <a:xfrm>
            <a:off x="10554919" y="5760720"/>
            <a:ext cx="457200" cy="457200"/>
          </a:xfrm>
          <a:prstGeom prst="rect">
            <a:avLst/>
          </a:prstGeom>
          <a:solidFill>
            <a:schemeClr val="accent1"/>
          </a:solidFill>
          <a:ln/>
        </p:spPr>
        <p:txBody>
          <a:bodyPr/>
          <a:lstStyle/>
          <a:p>
            <a:endParaRPr lang="en-ZA"/>
          </a:p>
        </p:txBody>
      </p:sp>
      <p:sp>
        <p:nvSpPr>
          <p:cNvPr id="29" name="Shape 27"/>
          <p:cNvSpPr/>
          <p:nvPr/>
        </p:nvSpPr>
        <p:spPr>
          <a:xfrm>
            <a:off x="11094415" y="5760720"/>
            <a:ext cx="457200" cy="457200"/>
          </a:xfrm>
          <a:prstGeom prst="rect">
            <a:avLst/>
          </a:prstGeom>
          <a:solidFill>
            <a:schemeClr val="bg1">
              <a:alpha val="12000"/>
            </a:schemeClr>
          </a:solidFill>
          <a:ln/>
        </p:spPr>
        <p:txBody>
          <a:bodyPr/>
          <a:lstStyle/>
          <a:p>
            <a:endParaRPr lang="en-ZA"/>
          </a:p>
        </p:txBody>
      </p:sp>
      <p:sp>
        <p:nvSpPr>
          <p:cNvPr id="30" name="Title placeholder"/>
          <p:cNvSpPr>
            <a:spLocks noGrp="1"/>
          </p:cNvSpPr>
          <p:nvPr>
            <p:ph type="title" idx="128" hasCustomPrompt="1"/>
          </p:nvPr>
        </p:nvSpPr>
        <p:spPr>
          <a:xfrm>
            <a:off x="731520" y="1737360"/>
            <a:ext cx="6949440" cy="1554480"/>
          </a:xfrm>
          <a:prstGeom prst="rect">
            <a:avLst/>
          </a:prstGeom>
          <a:noFill/>
          <a:ln/>
        </p:spPr>
        <p:txBody>
          <a:bodyPr wrap="square" lIns="0" tIns="0" rIns="0" bIns="0" rtlCol="0" anchor="b">
            <a:normAutofit/>
          </a:bodyPr>
          <a:lstStyle>
            <a:lvl1pPr marL="0" indent="0" algn="l">
              <a:buNone/>
              <a:defRPr lang="en-ZA" sz="5400" b="1" dirty="0">
                <a:solidFill>
                  <a:schemeClr val="bg1"/>
                </a:solidFill>
              </a:defRPr>
            </a:lvl1pPr>
          </a:lstStyle>
          <a:p>
            <a:pPr marL="0" indent="0" algn="l">
              <a:buNone/>
            </a:pPr>
            <a:r>
              <a:rPr lang="en-ZA" sz="5400" b="1" dirty="0">
                <a:solidFill>
                  <a:schemeClr val="bg1"/>
                </a:solidFill>
              </a:rPr>
              <a:t>Thank you</a:t>
            </a:r>
            <a:endParaRPr lang="en-ZA" sz="5400" dirty="0"/>
          </a:p>
        </p:txBody>
      </p:sp>
      <p:sp>
        <p:nvSpPr>
          <p:cNvPr id="31" name="Body placeholder"/>
          <p:cNvSpPr>
            <a:spLocks noGrp="1"/>
          </p:cNvSpPr>
          <p:nvPr>
            <p:ph type="body" idx="129" hasCustomPrompt="1"/>
          </p:nvPr>
        </p:nvSpPr>
        <p:spPr>
          <a:xfrm>
            <a:off x="731520" y="3474720"/>
            <a:ext cx="6949440" cy="822960"/>
          </a:xfrm>
          <a:prstGeom prst="rect">
            <a:avLst/>
          </a:prstGeom>
          <a:noFill/>
          <a:ln/>
        </p:spPr>
        <p:txBody>
          <a:bodyPr wrap="square" lIns="0" tIns="0" rIns="0" bIns="0" rtlCol="0" anchor="t"/>
          <a:lstStyle>
            <a:lvl1pPr marL="0" indent="0">
              <a:buNone/>
              <a:defRPr lang="en-ZA" sz="2200" dirty="0">
                <a:solidFill>
                  <a:schemeClr val="bg2"/>
                </a:solidFill>
              </a:defRPr>
            </a:lvl1pPr>
          </a:lstStyle>
          <a:p>
            <a:pPr marL="0" indent="0">
              <a:buNone/>
            </a:pPr>
            <a:r>
              <a:rPr lang="en-ZA" sz="2200" dirty="0">
                <a:solidFill>
                  <a:schemeClr val="bg2"/>
                </a:solidFill>
              </a:rPr>
              <a:t>Questions and discussion</a:t>
            </a:r>
            <a:endParaRPr lang="en-ZA" sz="22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a:t>‹#›</a:t>
            </a:fld>
            <a:endParaRPr lang="en-Z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Z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itle placeholder"/>
          <p:cNvSpPr>
            <a:spLocks noGrp="1"/>
          </p:cNvSpPr>
          <p:nvPr>
            <p:ph type="title" idx="129" hasCustomPrompt="1"/>
          </p:nvPr>
        </p:nvSpPr>
        <p:spPr>
          <a:xfrm>
            <a:off x="731520" y="1325880"/>
            <a:ext cx="6949440" cy="2697480"/>
          </a:xfrm>
          <a:prstGeom prst="rect">
            <a:avLst/>
          </a:prstGeom>
          <a:noFill/>
          <a:ln/>
        </p:spPr>
        <p:txBody>
          <a:bodyPr wrap="square" lIns="0" tIns="0" rIns="0" bIns="0" rtlCol="0" anchor="b">
            <a:normAutofit/>
          </a:bodyPr>
          <a:lstStyle/>
          <a:p>
            <a:pPr marL="0" indent="0" algn="l">
              <a:buNone/>
            </a:pPr>
            <a:r>
              <a:rPr lang="en-ZA" sz="4000" b="1" noProof="0" dirty="0">
                <a:solidFill>
                  <a:schemeClr val="bg1"/>
                </a:solidFill>
              </a:rPr>
              <a:t>BIN381 – Milestone 4</a:t>
            </a:r>
            <a:br>
              <a:rPr lang="en-ZA" sz="4000" b="1" noProof="0" dirty="0">
                <a:solidFill>
                  <a:schemeClr val="bg1"/>
                </a:solidFill>
              </a:rPr>
            </a:br>
            <a:r>
              <a:rPr lang="en-ZA" sz="4000" b="1" noProof="0" dirty="0">
                <a:solidFill>
                  <a:schemeClr val="bg1"/>
                </a:solidFill>
              </a:rPr>
              <a:t>Presentation</a:t>
            </a:r>
            <a:endParaRPr lang="en-ZA" sz="4000" noProof="0" dirty="0"/>
          </a:p>
        </p:txBody>
      </p:sp>
      <p:sp>
        <p:nvSpPr>
          <p:cNvPr id="6" name="Meta placeholder"/>
          <p:cNvSpPr>
            <a:spLocks noGrp="1"/>
          </p:cNvSpPr>
          <p:nvPr>
            <p:ph type="body" idx="4294967295" hasCustomPrompt="1"/>
          </p:nvPr>
        </p:nvSpPr>
        <p:spPr>
          <a:xfrm>
            <a:off x="769260" y="4515917"/>
            <a:ext cx="2666089" cy="786730"/>
          </a:xfrm>
          <a:prstGeom prst="rect">
            <a:avLst/>
          </a:prstGeom>
          <a:noFill/>
          <a:ln/>
        </p:spPr>
        <p:txBody>
          <a:bodyPr wrap="square" lIns="0" tIns="0" rIns="0" bIns="0" rtlCol="0" anchor="b"/>
          <a:lstStyle/>
          <a:p>
            <a:pPr marL="0" indent="0">
              <a:buNone/>
            </a:pPr>
            <a:r>
              <a:rPr lang="en-ZA" sz="1400" noProof="0" dirty="0">
                <a:solidFill>
                  <a:schemeClr val="bg1"/>
                </a:solidFill>
                <a:latin typeface="Century" panose="02040604050505020304" pitchFamily="18" charset="0"/>
              </a:rPr>
              <a:t>Jandre Neethling	·  601304</a:t>
            </a:r>
          </a:p>
          <a:p>
            <a:pPr marL="0" indent="0">
              <a:buNone/>
            </a:pPr>
            <a:r>
              <a:rPr lang="en-ZA" sz="1400" noProof="0" dirty="0">
                <a:solidFill>
                  <a:schemeClr val="bg1"/>
                </a:solidFill>
                <a:latin typeface="Century" panose="02040604050505020304" pitchFamily="18" charset="0"/>
              </a:rPr>
              <a:t>Henri Claassen	</a:t>
            </a:r>
            <a:r>
              <a:rPr kumimoji="0" lang="en-ZA" sz="1400" b="0" i="0" u="none" strike="noStrike" kern="1200" cap="none" spc="0" normalizeH="0" baseline="0" noProof="0" dirty="0">
                <a:ln>
                  <a:noFill/>
                </a:ln>
                <a:solidFill>
                  <a:schemeClr val="bg1"/>
                </a:solidFill>
                <a:effectLst/>
                <a:uLnTx/>
                <a:uFillTx/>
                <a:latin typeface="Century" panose="02040604050505020304" pitchFamily="18" charset="0"/>
              </a:rPr>
              <a:t>·  601720</a:t>
            </a:r>
          </a:p>
          <a:p>
            <a:pPr marL="0" indent="0">
              <a:buNone/>
            </a:pPr>
            <a:r>
              <a:rPr lang="en-ZA" sz="1400" noProof="0" dirty="0">
                <a:solidFill>
                  <a:schemeClr val="bg1"/>
                </a:solidFill>
                <a:latin typeface="Century" panose="02040604050505020304" pitchFamily="18" charset="0"/>
              </a:rPr>
              <a:t>Declin Vorkel	</a:t>
            </a:r>
            <a:r>
              <a:rPr kumimoji="0" lang="en-ZA" sz="1400" b="0" i="0" u="none" strike="noStrike" kern="1200" cap="none" spc="0" normalizeH="0" baseline="0" noProof="0" dirty="0">
                <a:ln>
                  <a:noFill/>
                </a:ln>
                <a:solidFill>
                  <a:schemeClr val="bg1"/>
                </a:solidFill>
                <a:effectLst/>
                <a:uLnTx/>
                <a:uFillTx/>
                <a:latin typeface="Century" panose="02040604050505020304" pitchFamily="18" charset="0"/>
              </a:rPr>
              <a:t>·  601756</a:t>
            </a:r>
            <a:endParaRPr lang="en-ZA" sz="1400" noProof="0" dirty="0">
              <a:solidFill>
                <a:schemeClr val="bg1"/>
              </a:solidFill>
              <a:latin typeface="Century" panose="02040604050505020304" pitchFamily="18" charset="0"/>
            </a:endParaRPr>
          </a:p>
        </p:txBody>
      </p:sp>
      <p:sp>
        <p:nvSpPr>
          <p:cNvPr id="7" name="Project label"/>
          <p:cNvSpPr txBox="1"/>
          <p:nvPr/>
        </p:nvSpPr>
        <p:spPr>
          <a:xfrm>
            <a:off x="769260" y="4287317"/>
            <a:ext cx="3538555" cy="228600"/>
          </a:xfrm>
          <a:prstGeom prst="rect">
            <a:avLst/>
          </a:prstGeom>
          <a:noFill/>
        </p:spPr>
        <p:txBody>
          <a:bodyPr wrap="square" lIns="0" tIns="0" rIns="0" bIns="0" anchor="ctr">
            <a:noAutofit/>
          </a:bodyPr>
          <a:lstStyle/>
          <a:p>
            <a:r>
              <a:rPr lang="en-ZA" sz="1400" b="1" spc="200" noProof="0" dirty="0">
                <a:solidFill>
                  <a:schemeClr val="bg1"/>
                </a:solidFill>
                <a:latin typeface="+mj-lt"/>
              </a:rPr>
              <a:t>GROUP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EEE67-F997-5FCA-ABE5-FEAD9A194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EDD2A-B586-F2A7-72ED-F75F1621F7FE}"/>
              </a:ext>
            </a:extLst>
          </p:cNvPr>
          <p:cNvSpPr>
            <a:spLocks noGrp="1"/>
          </p:cNvSpPr>
          <p:nvPr>
            <p:ph type="title" idx="106"/>
          </p:nvPr>
        </p:nvSpPr>
        <p:spPr/>
        <p:txBody>
          <a:bodyPr/>
          <a:lstStyle/>
          <a:p>
            <a:r>
              <a:rPr lang="en-ZA" noProof="0" dirty="0" err="1"/>
              <a:t>Introductio</a:t>
            </a:r>
            <a:r>
              <a:rPr lang="en-ZA" dirty="0"/>
              <a:t>n</a:t>
            </a:r>
            <a:endParaRPr lang="en-ZA" noProof="0" dirty="0"/>
          </a:p>
        </p:txBody>
      </p:sp>
      <p:sp>
        <p:nvSpPr>
          <p:cNvPr id="3" name="Slide Number Placeholder 0">
            <a:extLst>
              <a:ext uri="{FF2B5EF4-FFF2-40B4-BE49-F238E27FC236}">
                <a16:creationId xmlns:a16="http://schemas.microsoft.com/office/drawing/2014/main" id="{C365E909-D04D-119E-5C39-F1683FB58FC2}"/>
              </a:ext>
            </a:extLst>
          </p:cNvPr>
          <p:cNvSpPr>
            <a:spLocks noGrp="1"/>
          </p:cNvSpPr>
          <p:nvPr>
            <p:ph type="sldNum" sz="quarter" idx="4294967295"/>
          </p:nvPr>
        </p:nvSpPr>
        <p:spPr>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ZA" b="0" noProof="0"/>
              <a:t>2</a:t>
            </a:fld>
            <a:endParaRPr lang="en-ZA" noProof="0" dirty="0"/>
          </a:p>
        </p:txBody>
      </p:sp>
      <p:pic>
        <p:nvPicPr>
          <p:cNvPr id="5" name="Corner motif" descr="Decorative block motif">
            <a:extLst>
              <a:ext uri="{FF2B5EF4-FFF2-40B4-BE49-F238E27FC236}">
                <a16:creationId xmlns:a16="http://schemas.microsoft.com/office/drawing/2014/main" id="{E2B4564E-75BB-9A69-45BD-B70273951B80}"/>
              </a:ext>
            </a:extLst>
          </p:cNvPr>
          <p:cNvPicPr>
            <a:picLocks noChangeAspect="1"/>
          </p:cNvPicPr>
          <p:nvPr/>
        </p:nvPicPr>
        <p:blipFill>
          <a:blip r:embed="rId3"/>
          <a:stretch>
            <a:fillRect/>
          </a:stretch>
        </p:blipFill>
        <p:spPr>
          <a:xfrm rot="5400000">
            <a:off x="11158423" y="603504"/>
            <a:ext cx="484632" cy="484632"/>
          </a:xfrm>
          <a:prstGeom prst="rect">
            <a:avLst/>
          </a:prstGeom>
        </p:spPr>
      </p:pic>
      <p:sp>
        <p:nvSpPr>
          <p:cNvPr id="6" name="Recommendation 1">
            <a:extLst>
              <a:ext uri="{FF2B5EF4-FFF2-40B4-BE49-F238E27FC236}">
                <a16:creationId xmlns:a16="http://schemas.microsoft.com/office/drawing/2014/main" id="{536E38E1-0DD6-F5F8-A9B0-89AEC598FEE2}"/>
              </a:ext>
            </a:extLst>
          </p:cNvPr>
          <p:cNvSpPr/>
          <p:nvPr/>
        </p:nvSpPr>
        <p:spPr>
          <a:xfrm>
            <a:off x="548639" y="1600199"/>
            <a:ext cx="11094415" cy="1591575"/>
          </a:xfrm>
          <a:prstGeom prst="rect">
            <a:avLst/>
          </a:prstGeom>
          <a:solidFill>
            <a:schemeClr val="bg2"/>
          </a:solidFill>
          <a:ln>
            <a:noFill/>
          </a:ln>
        </p:spPr>
        <p:txBody>
          <a:bodyPr rtlCol="0" anchor="ctr"/>
          <a:lstStyle/>
          <a:p>
            <a:pPr algn="ctr"/>
            <a:endParaRPr lang="en-ZA" noProof="0" dirty="0"/>
          </a:p>
        </p:txBody>
      </p:sp>
      <p:sp>
        <p:nvSpPr>
          <p:cNvPr id="9" name="Recommendation 1 heading">
            <a:extLst>
              <a:ext uri="{FF2B5EF4-FFF2-40B4-BE49-F238E27FC236}">
                <a16:creationId xmlns:a16="http://schemas.microsoft.com/office/drawing/2014/main" id="{E685FA96-B7B6-C52F-D547-EA313A9AF555}"/>
              </a:ext>
            </a:extLst>
          </p:cNvPr>
          <p:cNvSpPr txBox="1"/>
          <p:nvPr/>
        </p:nvSpPr>
        <p:spPr>
          <a:xfrm>
            <a:off x="5363899" y="1727235"/>
            <a:ext cx="1464201" cy="236795"/>
          </a:xfrm>
          <a:prstGeom prst="rect">
            <a:avLst/>
          </a:prstGeom>
          <a:noFill/>
        </p:spPr>
        <p:txBody>
          <a:bodyPr wrap="square" lIns="0" tIns="0" rIns="0" bIns="0" anchor="ctr">
            <a:noAutofit/>
          </a:bodyPr>
          <a:lstStyle/>
          <a:p>
            <a:pPr marL="0" indent="0" algn="ctr">
              <a:buNone/>
            </a:pPr>
            <a:r>
              <a:rPr lang="en-ZA" sz="1800" b="1" noProof="0" dirty="0">
                <a:solidFill>
                  <a:schemeClr val="tx2"/>
                </a:solidFill>
              </a:rPr>
              <a:t>Overview</a:t>
            </a:r>
          </a:p>
        </p:txBody>
      </p:sp>
      <p:sp>
        <p:nvSpPr>
          <p:cNvPr id="10" name="Recommendation 1 evidence">
            <a:extLst>
              <a:ext uri="{FF2B5EF4-FFF2-40B4-BE49-F238E27FC236}">
                <a16:creationId xmlns:a16="http://schemas.microsoft.com/office/drawing/2014/main" id="{722683CA-E164-BA79-905B-78C550957457}"/>
              </a:ext>
            </a:extLst>
          </p:cNvPr>
          <p:cNvSpPr txBox="1"/>
          <p:nvPr/>
        </p:nvSpPr>
        <p:spPr>
          <a:xfrm>
            <a:off x="868985" y="2089454"/>
            <a:ext cx="10405740" cy="1028156"/>
          </a:xfrm>
          <a:prstGeom prst="rect">
            <a:avLst/>
          </a:prstGeom>
          <a:noFill/>
        </p:spPr>
        <p:txBody>
          <a:bodyPr wrap="square" lIns="0" tIns="0" rIns="0" bIns="0" anchor="t">
            <a:noAutofit/>
          </a:bodyPr>
          <a:lstStyle/>
          <a:p>
            <a:pPr algn="just"/>
            <a:r>
              <a:rPr lang="en-GB" sz="1400" dirty="0">
                <a:latin typeface="Century" panose="02040604050505020304" pitchFamily="18" charset="0"/>
              </a:rPr>
              <a:t>The purpose of the project was to investigate socioeconomic development, household well-being and economic participation in South Africa. The main goal was to define a defensible analytics problem, select relevant data, engineer an analytical dataset, uncover patterns, build and evaluate suitable models, and communicate a decision support solution based on the 2024 South African survey dataset.</a:t>
            </a:r>
            <a:endParaRPr lang="en-ZA" sz="1400" b="0" noProof="0" dirty="0">
              <a:solidFill>
                <a:schemeClr val="tx1"/>
              </a:solidFill>
              <a:latin typeface="Century" panose="02040604050505020304" pitchFamily="18" charset="0"/>
            </a:endParaRPr>
          </a:p>
        </p:txBody>
      </p:sp>
      <p:sp>
        <p:nvSpPr>
          <p:cNvPr id="21" name="Limitations panel">
            <a:extLst>
              <a:ext uri="{FF2B5EF4-FFF2-40B4-BE49-F238E27FC236}">
                <a16:creationId xmlns:a16="http://schemas.microsoft.com/office/drawing/2014/main" id="{CF3AC133-CC87-0D07-D5AE-FCAAEBD6EA4E}"/>
              </a:ext>
            </a:extLst>
          </p:cNvPr>
          <p:cNvSpPr/>
          <p:nvPr/>
        </p:nvSpPr>
        <p:spPr>
          <a:xfrm>
            <a:off x="548792" y="3666227"/>
            <a:ext cx="11094415" cy="2329131"/>
          </a:xfrm>
          <a:prstGeom prst="rect">
            <a:avLst/>
          </a:prstGeom>
          <a:solidFill>
            <a:schemeClr val="tx2"/>
          </a:solidFill>
          <a:ln>
            <a:noFill/>
          </a:ln>
        </p:spPr>
        <p:txBody>
          <a:bodyPr rtlCol="0" anchor="ctr"/>
          <a:lstStyle/>
          <a:p>
            <a:pPr algn="ctr"/>
            <a:endParaRPr lang="en-ZA" noProof="0" dirty="0"/>
          </a:p>
        </p:txBody>
      </p:sp>
      <p:sp>
        <p:nvSpPr>
          <p:cNvPr id="22" name="Limitations panel label">
            <a:extLst>
              <a:ext uri="{FF2B5EF4-FFF2-40B4-BE49-F238E27FC236}">
                <a16:creationId xmlns:a16="http://schemas.microsoft.com/office/drawing/2014/main" id="{393B8609-CE21-08A7-9862-1098443642A5}"/>
              </a:ext>
            </a:extLst>
          </p:cNvPr>
          <p:cNvSpPr txBox="1"/>
          <p:nvPr/>
        </p:nvSpPr>
        <p:spPr>
          <a:xfrm>
            <a:off x="5332408" y="3814774"/>
            <a:ext cx="1526876" cy="228600"/>
          </a:xfrm>
          <a:prstGeom prst="rect">
            <a:avLst/>
          </a:prstGeom>
          <a:noFill/>
        </p:spPr>
        <p:txBody>
          <a:bodyPr wrap="square" lIns="0" tIns="0" rIns="0" bIns="0" anchor="ctr">
            <a:noAutofit/>
          </a:bodyPr>
          <a:lstStyle/>
          <a:p>
            <a:pPr marL="0" indent="0" algn="ctr">
              <a:buNone/>
            </a:pPr>
            <a:r>
              <a:rPr lang="en-ZA" b="1" spc="200" noProof="0" dirty="0">
                <a:solidFill>
                  <a:schemeClr val="bg1"/>
                </a:solidFill>
              </a:rPr>
              <a:t>Our Project</a:t>
            </a:r>
          </a:p>
        </p:txBody>
      </p:sp>
      <p:sp>
        <p:nvSpPr>
          <p:cNvPr id="23" name="Limitations points">
            <a:extLst>
              <a:ext uri="{FF2B5EF4-FFF2-40B4-BE49-F238E27FC236}">
                <a16:creationId xmlns:a16="http://schemas.microsoft.com/office/drawing/2014/main" id="{E889284C-42AC-F1AC-7F8E-0F480BA6BAFD}"/>
              </a:ext>
            </a:extLst>
          </p:cNvPr>
          <p:cNvSpPr txBox="1"/>
          <p:nvPr/>
        </p:nvSpPr>
        <p:spPr>
          <a:xfrm>
            <a:off x="869137" y="4191921"/>
            <a:ext cx="10405740" cy="1497085"/>
          </a:xfrm>
          <a:prstGeom prst="rect">
            <a:avLst/>
          </a:prstGeom>
          <a:noFill/>
        </p:spPr>
        <p:txBody>
          <a:bodyPr wrap="square" lIns="0" tIns="0" rIns="0" bIns="0" anchor="t">
            <a:noAutofit/>
          </a:bodyPr>
          <a:lstStyle/>
          <a:p>
            <a:pPr algn="just">
              <a:spcAft>
                <a:spcPts val="1100"/>
              </a:spcAft>
              <a:buSzPct val="100000"/>
            </a:pPr>
            <a:r>
              <a:rPr lang="en-GB" sz="1400" dirty="0">
                <a:solidFill>
                  <a:schemeClr val="bg1"/>
                </a:solidFill>
                <a:latin typeface="Century" panose="02040604050505020304" pitchFamily="18" charset="0"/>
              </a:rPr>
              <a:t>For our project we decided our focus was on the relationship between digitalisation (access to the internet) and education and whether they act as complements, substitutes or independent of each other when it comes to employment. The reason our project focuses on this is because every year the National Treasury budgets for both education and digitalisation and our goal is to analyse the data given and try to justify the allocation of the budget. If it is proven that one has a greater effect than the other on employment, then it should be allocated a greater budget, if both combined have an effect on employment then both budgets should be planned and targeted together or if they have no effect on employment and should get their budgets reduced.</a:t>
            </a:r>
            <a:endParaRPr lang="en-ZA" sz="1400" noProof="0" dirty="0">
              <a:solidFill>
                <a:schemeClr val="bg1"/>
              </a:solidFill>
              <a:latin typeface="Century" panose="02040604050505020304" pitchFamily="18" charset="0"/>
            </a:endParaRPr>
          </a:p>
        </p:txBody>
      </p:sp>
    </p:spTree>
    <p:extLst>
      <p:ext uri="{BB962C8B-B14F-4D97-AF65-F5344CB8AC3E}">
        <p14:creationId xmlns:p14="http://schemas.microsoft.com/office/powerpoint/2010/main" val="20714485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dirty="0"/>
              <a:t>Crisp-DM: </a:t>
            </a:r>
            <a:r>
              <a:rPr lang="en-ZA" noProof="0" dirty="0"/>
              <a:t>Business </a:t>
            </a:r>
            <a:r>
              <a:rPr lang="en-ZA" dirty="0"/>
              <a:t>U</a:t>
            </a:r>
            <a:r>
              <a:rPr lang="en-ZA" noProof="0" dirty="0" err="1"/>
              <a:t>nderstanding</a:t>
            </a:r>
            <a:endParaRPr lang="en-ZA" noProof="0" dirty="0"/>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3</a:t>
            </a:fld>
            <a:endParaRPr lang="en-ZA" noProof="0" dirty="0"/>
          </a:p>
        </p:txBody>
      </p:sp>
      <p:pic>
        <p:nvPicPr>
          <p:cNvPr id="5" name="Corner motif" descr="Decorative block motif"/>
          <p:cNvPicPr>
            <a:picLocks noChangeAspect="1"/>
          </p:cNvPicPr>
          <p:nvPr/>
        </p:nvPicPr>
        <p:blipFill>
          <a:blip r:embed="rId3"/>
          <a:stretch>
            <a:fillRect/>
          </a:stretch>
        </p:blipFill>
        <p:spPr>
          <a:xfrm rot="10800000">
            <a:off x="11158423" y="603504"/>
            <a:ext cx="484632" cy="484632"/>
          </a:xfrm>
          <a:prstGeom prst="rect">
            <a:avLst/>
          </a:prstGeom>
        </p:spPr>
      </p:pic>
      <p:sp>
        <p:nvSpPr>
          <p:cNvPr id="6" name="Icon tile: briefcase"/>
          <p:cNvSpPr/>
          <p:nvPr/>
        </p:nvSpPr>
        <p:spPr>
          <a:xfrm>
            <a:off x="548640" y="1783080"/>
            <a:ext cx="731520" cy="731520"/>
          </a:xfrm>
          <a:prstGeom prst="rect">
            <a:avLst/>
          </a:prstGeom>
          <a:solidFill>
            <a:schemeClr val="accent3"/>
          </a:solidFill>
          <a:ln>
            <a:noFill/>
          </a:ln>
        </p:spPr>
        <p:txBody>
          <a:bodyPr rtlCol="0" anchor="ctr"/>
          <a:lstStyle/>
          <a:p>
            <a:pPr algn="ctr"/>
            <a:endParaRPr lang="en-ZA" noProof="0" dirty="0"/>
          </a:p>
        </p:txBody>
      </p:sp>
      <p:pic>
        <p:nvPicPr>
          <p:cNvPr id="7" name="Icon: briefcase" descr="briefcase icon"/>
          <p:cNvPicPr>
            <a:picLocks noChangeAspect="1"/>
          </p:cNvPicPr>
          <p:nvPr/>
        </p:nvPicPr>
        <p:blipFill>
          <a:blip r:embed="rId4"/>
          <a:stretch>
            <a:fillRect/>
          </a:stretch>
        </p:blipFill>
        <p:spPr>
          <a:xfrm>
            <a:off x="731520" y="1965960"/>
            <a:ext cx="365760" cy="365760"/>
          </a:xfrm>
          <a:prstGeom prst="rect">
            <a:avLst/>
          </a:prstGeom>
        </p:spPr>
      </p:pic>
      <p:sp>
        <p:nvSpPr>
          <p:cNvPr id="8" name="Row 1 label"/>
          <p:cNvSpPr txBox="1"/>
          <p:nvPr/>
        </p:nvSpPr>
        <p:spPr>
          <a:xfrm>
            <a:off x="1554480" y="1691640"/>
            <a:ext cx="5029200" cy="228600"/>
          </a:xfrm>
          <a:prstGeom prst="rect">
            <a:avLst/>
          </a:prstGeom>
          <a:noFill/>
        </p:spPr>
        <p:txBody>
          <a:bodyPr wrap="square" lIns="0" tIns="0" rIns="0" bIns="0" anchor="ctr">
            <a:noAutofit/>
          </a:bodyPr>
          <a:lstStyle/>
          <a:p>
            <a:pPr marL="0" indent="0">
              <a:buNone/>
            </a:pPr>
            <a:r>
              <a:rPr lang="en-ZA" sz="1100" b="1" spc="200" noProof="0" dirty="0">
                <a:solidFill>
                  <a:schemeClr val="accent6"/>
                </a:solidFill>
                <a:latin typeface="Century" panose="02040604050505020304" pitchFamily="18" charset="0"/>
              </a:rPr>
              <a:t>OUR PROBLEM</a:t>
            </a:r>
          </a:p>
        </p:txBody>
      </p:sp>
      <p:sp>
        <p:nvSpPr>
          <p:cNvPr id="9" name="Row 1 heading"/>
          <p:cNvSpPr txBox="1"/>
          <p:nvPr/>
        </p:nvSpPr>
        <p:spPr>
          <a:xfrm>
            <a:off x="1554480" y="1965960"/>
            <a:ext cx="4095822" cy="365760"/>
          </a:xfrm>
          <a:prstGeom prst="rect">
            <a:avLst/>
          </a:prstGeom>
          <a:noFill/>
        </p:spPr>
        <p:txBody>
          <a:bodyPr wrap="square" lIns="0" tIns="0" rIns="0" bIns="0" anchor="ctr">
            <a:noAutofit/>
          </a:bodyPr>
          <a:lstStyle/>
          <a:p>
            <a:pPr marL="0" indent="0">
              <a:buNone/>
            </a:pPr>
            <a:r>
              <a:rPr lang="en-ZA" sz="1800" b="1" noProof="0" dirty="0">
                <a:solidFill>
                  <a:schemeClr val="tx2"/>
                </a:solidFill>
                <a:latin typeface="Century" panose="02040604050505020304" pitchFamily="18" charset="0"/>
              </a:rPr>
              <a:t>High Unemployment, </a:t>
            </a:r>
            <a:r>
              <a:rPr lang="en-ZA" b="1" dirty="0">
                <a:solidFill>
                  <a:schemeClr val="tx2"/>
                </a:solidFill>
                <a:latin typeface="Century" panose="02040604050505020304" pitchFamily="18" charset="0"/>
              </a:rPr>
              <a:t>u</a:t>
            </a:r>
            <a:r>
              <a:rPr lang="en-ZA" sz="1800" b="1" noProof="0" dirty="0" err="1">
                <a:solidFill>
                  <a:schemeClr val="tx2"/>
                </a:solidFill>
                <a:latin typeface="Century" panose="02040604050505020304" pitchFamily="18" charset="0"/>
              </a:rPr>
              <a:t>nequal</a:t>
            </a:r>
            <a:r>
              <a:rPr lang="en-ZA" sz="1800" b="1" noProof="0" dirty="0">
                <a:solidFill>
                  <a:schemeClr val="tx2"/>
                </a:solidFill>
                <a:latin typeface="Century" panose="02040604050505020304" pitchFamily="18" charset="0"/>
              </a:rPr>
              <a:t> access</a:t>
            </a:r>
          </a:p>
        </p:txBody>
      </p:sp>
      <p:sp>
        <p:nvSpPr>
          <p:cNvPr id="10" name="Row 1 text"/>
          <p:cNvSpPr txBox="1"/>
          <p:nvPr/>
        </p:nvSpPr>
        <p:spPr>
          <a:xfrm>
            <a:off x="1554479" y="2377440"/>
            <a:ext cx="9326879" cy="640080"/>
          </a:xfrm>
          <a:prstGeom prst="rect">
            <a:avLst/>
          </a:prstGeom>
          <a:noFill/>
        </p:spPr>
        <p:txBody>
          <a:bodyPr wrap="square" lIns="0" tIns="0" rIns="0" bIns="0" anchor="t">
            <a:noAutofit/>
          </a:bodyPr>
          <a:lstStyle/>
          <a:p>
            <a:pPr algn="just"/>
            <a:r>
              <a:rPr lang="en-ZA" sz="1400" dirty="0">
                <a:latin typeface="Century" panose="02040604050505020304" pitchFamily="18" charset="0"/>
              </a:rPr>
              <a:t>Education is very important for getting a job, but job seeking now happens online. If half the country does not have online or digital access, is our country getting the full value out of what we spend on education?</a:t>
            </a:r>
            <a:endParaRPr lang="en-ZA" sz="1400" b="0" noProof="0" dirty="0">
              <a:solidFill>
                <a:schemeClr val="tx1"/>
              </a:solidFill>
              <a:latin typeface="Century" panose="02040604050505020304" pitchFamily="18" charset="0"/>
            </a:endParaRPr>
          </a:p>
        </p:txBody>
      </p:sp>
      <p:sp>
        <p:nvSpPr>
          <p:cNvPr id="11" name="Icon tile: city"/>
          <p:cNvSpPr/>
          <p:nvPr/>
        </p:nvSpPr>
        <p:spPr>
          <a:xfrm>
            <a:off x="548640" y="3246120"/>
            <a:ext cx="731520" cy="731520"/>
          </a:xfrm>
          <a:prstGeom prst="rect">
            <a:avLst/>
          </a:prstGeom>
          <a:solidFill>
            <a:schemeClr val="accent2"/>
          </a:solidFill>
          <a:ln>
            <a:noFill/>
          </a:ln>
        </p:spPr>
        <p:txBody>
          <a:bodyPr rtlCol="0" anchor="ctr"/>
          <a:lstStyle/>
          <a:p>
            <a:pPr algn="ctr"/>
            <a:endParaRPr lang="en-ZA" noProof="0" dirty="0"/>
          </a:p>
        </p:txBody>
      </p:sp>
      <p:pic>
        <p:nvPicPr>
          <p:cNvPr id="12" name="Icon: city" descr="city icon"/>
          <p:cNvPicPr>
            <a:picLocks noChangeAspect="1"/>
          </p:cNvPicPr>
          <p:nvPr/>
        </p:nvPicPr>
        <p:blipFill>
          <a:blip r:embed="rId5"/>
          <a:stretch>
            <a:fillRect/>
          </a:stretch>
        </p:blipFill>
        <p:spPr>
          <a:xfrm>
            <a:off x="731520" y="3429000"/>
            <a:ext cx="365760" cy="365760"/>
          </a:xfrm>
          <a:prstGeom prst="rect">
            <a:avLst/>
          </a:prstGeom>
        </p:spPr>
      </p:pic>
      <p:sp>
        <p:nvSpPr>
          <p:cNvPr id="13" name="Row 2 label"/>
          <p:cNvSpPr txBox="1"/>
          <p:nvPr/>
        </p:nvSpPr>
        <p:spPr>
          <a:xfrm>
            <a:off x="1554480" y="3154680"/>
            <a:ext cx="5029200" cy="228600"/>
          </a:xfrm>
          <a:prstGeom prst="rect">
            <a:avLst/>
          </a:prstGeom>
          <a:noFill/>
        </p:spPr>
        <p:txBody>
          <a:bodyPr wrap="square" lIns="0" tIns="0" rIns="0" bIns="0" anchor="ctr">
            <a:noAutofit/>
          </a:bodyPr>
          <a:lstStyle/>
          <a:p>
            <a:pPr marL="0" indent="0">
              <a:buNone/>
            </a:pPr>
            <a:r>
              <a:rPr lang="en-ZA" sz="1100" b="1" spc="200" noProof="0" dirty="0">
                <a:solidFill>
                  <a:schemeClr val="accent6"/>
                </a:solidFill>
                <a:latin typeface="Century" panose="02040604050505020304" pitchFamily="18" charset="0"/>
              </a:rPr>
              <a:t>THE STAKEHOLDER</a:t>
            </a:r>
          </a:p>
        </p:txBody>
      </p:sp>
      <p:sp>
        <p:nvSpPr>
          <p:cNvPr id="14" name="Row 2 heading"/>
          <p:cNvSpPr txBox="1"/>
          <p:nvPr/>
        </p:nvSpPr>
        <p:spPr>
          <a:xfrm>
            <a:off x="1554480" y="3429000"/>
            <a:ext cx="5029200" cy="365760"/>
          </a:xfrm>
          <a:prstGeom prst="rect">
            <a:avLst/>
          </a:prstGeom>
          <a:noFill/>
        </p:spPr>
        <p:txBody>
          <a:bodyPr wrap="square" lIns="0" tIns="0" rIns="0" bIns="0" anchor="ctr">
            <a:noAutofit/>
          </a:bodyPr>
          <a:lstStyle/>
          <a:p>
            <a:pPr marL="0" indent="0">
              <a:buNone/>
            </a:pPr>
            <a:r>
              <a:rPr lang="en-ZA" sz="1800" b="1" noProof="0" dirty="0">
                <a:solidFill>
                  <a:schemeClr val="tx2"/>
                </a:solidFill>
                <a:latin typeface="Century" panose="02040604050505020304" pitchFamily="18" charset="0"/>
              </a:rPr>
              <a:t>National Treasury</a:t>
            </a:r>
          </a:p>
        </p:txBody>
      </p:sp>
      <p:sp>
        <p:nvSpPr>
          <p:cNvPr id="15" name="Row 2 text"/>
          <p:cNvSpPr txBox="1"/>
          <p:nvPr/>
        </p:nvSpPr>
        <p:spPr>
          <a:xfrm>
            <a:off x="1554480" y="3840480"/>
            <a:ext cx="9326880" cy="640080"/>
          </a:xfrm>
          <a:prstGeom prst="rect">
            <a:avLst/>
          </a:prstGeom>
          <a:noFill/>
        </p:spPr>
        <p:txBody>
          <a:bodyPr wrap="square" lIns="0" tIns="0" rIns="0" bIns="0" anchor="t">
            <a:noAutofit/>
          </a:bodyPr>
          <a:lstStyle/>
          <a:p>
            <a:pPr algn="just"/>
            <a:r>
              <a:rPr lang="en-GB" sz="1400" b="0" noProof="0" dirty="0">
                <a:solidFill>
                  <a:schemeClr val="tx1"/>
                </a:solidFill>
                <a:latin typeface="Century" panose="02040604050505020304" pitchFamily="18" charset="0"/>
              </a:rPr>
              <a:t>The National treasury advises the government on how to allocate development funding </a:t>
            </a:r>
            <a:r>
              <a:rPr lang="en-ZA" sz="1400" dirty="0">
                <a:latin typeface="Century" panose="02040604050505020304" pitchFamily="18" charset="0"/>
              </a:rPr>
              <a:t>so they need evidence on whether these two budgets affect each other</a:t>
            </a:r>
            <a:r>
              <a:rPr lang="en-GB" sz="1400" b="0" noProof="0" dirty="0">
                <a:solidFill>
                  <a:schemeClr val="tx1"/>
                </a:solidFill>
                <a:latin typeface="Century" panose="02040604050505020304" pitchFamily="18" charset="0"/>
              </a:rPr>
              <a:t> and that is where we come in.</a:t>
            </a:r>
          </a:p>
          <a:p>
            <a:pPr marL="0" indent="0" algn="just">
              <a:buNone/>
            </a:pPr>
            <a:endParaRPr lang="en-ZA" sz="1400" b="0" noProof="0" dirty="0">
              <a:solidFill>
                <a:schemeClr val="tx1"/>
              </a:solidFill>
              <a:latin typeface="Century" panose="02040604050505020304" pitchFamily="18" charset="0"/>
            </a:endParaRPr>
          </a:p>
        </p:txBody>
      </p:sp>
      <p:sp>
        <p:nvSpPr>
          <p:cNvPr id="16" name="Icon tile: question"/>
          <p:cNvSpPr/>
          <p:nvPr/>
        </p:nvSpPr>
        <p:spPr>
          <a:xfrm>
            <a:off x="548640" y="4709160"/>
            <a:ext cx="731520" cy="731520"/>
          </a:xfrm>
          <a:prstGeom prst="rect">
            <a:avLst/>
          </a:prstGeom>
          <a:solidFill>
            <a:schemeClr val="accent1"/>
          </a:solidFill>
          <a:ln>
            <a:noFill/>
          </a:ln>
        </p:spPr>
        <p:txBody>
          <a:bodyPr rtlCol="0" anchor="ctr"/>
          <a:lstStyle/>
          <a:p>
            <a:pPr algn="ctr"/>
            <a:endParaRPr lang="en-ZA" noProof="0" dirty="0"/>
          </a:p>
        </p:txBody>
      </p:sp>
      <p:pic>
        <p:nvPicPr>
          <p:cNvPr id="17" name="Icon: question" descr="question icon"/>
          <p:cNvPicPr>
            <a:picLocks noChangeAspect="1"/>
          </p:cNvPicPr>
          <p:nvPr/>
        </p:nvPicPr>
        <p:blipFill>
          <a:blip r:embed="rId6"/>
          <a:stretch>
            <a:fillRect/>
          </a:stretch>
        </p:blipFill>
        <p:spPr>
          <a:xfrm>
            <a:off x="731520" y="4892040"/>
            <a:ext cx="365760" cy="365760"/>
          </a:xfrm>
          <a:prstGeom prst="rect">
            <a:avLst/>
          </a:prstGeom>
        </p:spPr>
      </p:pic>
      <p:sp>
        <p:nvSpPr>
          <p:cNvPr id="18" name="Row 3 label"/>
          <p:cNvSpPr txBox="1"/>
          <p:nvPr/>
        </p:nvSpPr>
        <p:spPr>
          <a:xfrm>
            <a:off x="1554480" y="4617720"/>
            <a:ext cx="5029200" cy="228600"/>
          </a:xfrm>
          <a:prstGeom prst="rect">
            <a:avLst/>
          </a:prstGeom>
          <a:noFill/>
        </p:spPr>
        <p:txBody>
          <a:bodyPr wrap="square" lIns="0" tIns="0" rIns="0" bIns="0" anchor="ctr">
            <a:noAutofit/>
          </a:bodyPr>
          <a:lstStyle/>
          <a:p>
            <a:pPr marL="0" indent="0">
              <a:buNone/>
            </a:pPr>
            <a:r>
              <a:rPr lang="en-ZA" sz="1100" b="1" spc="200" noProof="0" dirty="0">
                <a:solidFill>
                  <a:schemeClr val="accent6"/>
                </a:solidFill>
                <a:latin typeface="Century" panose="02040604050505020304" pitchFamily="18" charset="0"/>
              </a:rPr>
              <a:t>THE QUESTION</a:t>
            </a:r>
          </a:p>
        </p:txBody>
      </p:sp>
      <p:sp>
        <p:nvSpPr>
          <p:cNvPr id="19" name="Row 3 heading"/>
          <p:cNvSpPr txBox="1"/>
          <p:nvPr/>
        </p:nvSpPr>
        <p:spPr>
          <a:xfrm>
            <a:off x="1554480" y="4892040"/>
            <a:ext cx="5029200" cy="365760"/>
          </a:xfrm>
          <a:prstGeom prst="rect">
            <a:avLst/>
          </a:prstGeom>
          <a:noFill/>
        </p:spPr>
        <p:txBody>
          <a:bodyPr wrap="square" lIns="0" tIns="0" rIns="0" bIns="0" anchor="ctr">
            <a:noAutofit/>
          </a:bodyPr>
          <a:lstStyle/>
          <a:p>
            <a:pPr marL="0" indent="0">
              <a:buNone/>
            </a:pPr>
            <a:r>
              <a:rPr lang="en-ZA" sz="1800" b="1" noProof="0" dirty="0">
                <a:solidFill>
                  <a:schemeClr val="tx2"/>
                </a:solidFill>
                <a:latin typeface="Century" panose="02040604050505020304" pitchFamily="18" charset="0"/>
              </a:rPr>
              <a:t>The effect on employment?</a:t>
            </a:r>
          </a:p>
        </p:txBody>
      </p:sp>
      <p:sp>
        <p:nvSpPr>
          <p:cNvPr id="20" name="Row 3 text"/>
          <p:cNvSpPr txBox="1"/>
          <p:nvPr/>
        </p:nvSpPr>
        <p:spPr>
          <a:xfrm>
            <a:off x="1554479" y="5303520"/>
            <a:ext cx="9326878" cy="502920"/>
          </a:xfrm>
          <a:prstGeom prst="rect">
            <a:avLst/>
          </a:prstGeom>
          <a:noFill/>
        </p:spPr>
        <p:txBody>
          <a:bodyPr wrap="square" lIns="0" tIns="0" rIns="0" bIns="0" anchor="t">
            <a:noAutofit/>
          </a:bodyPr>
          <a:lstStyle/>
          <a:p>
            <a:pPr marL="0" indent="0">
              <a:buNone/>
            </a:pPr>
            <a:r>
              <a:rPr lang="en-ZA" sz="1400" b="0" noProof="0" dirty="0">
                <a:solidFill>
                  <a:schemeClr val="tx1"/>
                </a:solidFill>
                <a:latin typeface="Century" panose="02040604050505020304" pitchFamily="18" charset="0"/>
              </a:rPr>
              <a:t>Does the interaction between home internet and education </a:t>
            </a:r>
            <a:r>
              <a:rPr lang="en-GB" sz="1400" b="0" noProof="0" dirty="0">
                <a:solidFill>
                  <a:schemeClr val="tx1"/>
                </a:solidFill>
                <a:latin typeface="Century" panose="02040604050505020304" pitchFamily="18" charset="0"/>
              </a:rPr>
              <a:t>boost each other, replace each other or have no effect together with regards to education</a:t>
            </a:r>
            <a:r>
              <a:rPr lang="en-ZA" sz="1400" b="0" noProof="0" dirty="0">
                <a:solidFill>
                  <a:schemeClr val="tx1"/>
                </a:solidFill>
                <a:latin typeface="Century" panose="020406040505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dirty="0"/>
              <a:t>Crisp-DM: </a:t>
            </a:r>
            <a:r>
              <a:rPr lang="en-ZA" noProof="0" dirty="0"/>
              <a:t>Data </a:t>
            </a:r>
            <a:r>
              <a:rPr lang="en-ZA" dirty="0"/>
              <a:t>U</a:t>
            </a:r>
            <a:r>
              <a:rPr lang="en-ZA" noProof="0" dirty="0" err="1"/>
              <a:t>nderstanding</a:t>
            </a:r>
            <a:endParaRPr lang="en-ZA" noProof="0" dirty="0"/>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4</a:t>
            </a:fld>
            <a:endParaRPr lang="en-ZA" noProof="0" dirty="0"/>
          </a:p>
        </p:txBody>
      </p:sp>
      <p:pic>
        <p:nvPicPr>
          <p:cNvPr id="5" name="Corner motif" descr="Decorative block motif"/>
          <p:cNvPicPr>
            <a:picLocks noChangeAspect="1"/>
          </p:cNvPicPr>
          <p:nvPr/>
        </p:nvPicPr>
        <p:blipFill>
          <a:blip r:embed="rId3"/>
          <a:stretch>
            <a:fillRect/>
          </a:stretch>
        </p:blipFill>
        <p:spPr>
          <a:xfrm rot="16200000">
            <a:off x="11158423" y="603504"/>
            <a:ext cx="484632" cy="484632"/>
          </a:xfrm>
          <a:prstGeom prst="rect">
            <a:avLst/>
          </a:prstGeom>
        </p:spPr>
      </p:pic>
      <p:sp>
        <p:nvSpPr>
          <p:cNvPr id="6" name="Dataset selection card"/>
          <p:cNvSpPr/>
          <p:nvPr/>
        </p:nvSpPr>
        <p:spPr>
          <a:xfrm>
            <a:off x="548640" y="1600200"/>
            <a:ext cx="5212080" cy="4343400"/>
          </a:xfrm>
          <a:prstGeom prst="rect">
            <a:avLst/>
          </a:prstGeom>
          <a:solidFill>
            <a:schemeClr val="bg2"/>
          </a:solidFill>
          <a:ln>
            <a:noFill/>
          </a:ln>
        </p:spPr>
        <p:txBody>
          <a:bodyPr rtlCol="0" anchor="ctr"/>
          <a:lstStyle/>
          <a:p>
            <a:pPr algn="ctr"/>
            <a:endParaRPr lang="en-ZA" noProof="0" dirty="0"/>
          </a:p>
        </p:txBody>
      </p:sp>
      <p:sp>
        <p:nvSpPr>
          <p:cNvPr id="7" name="Dataset selection heading"/>
          <p:cNvSpPr txBox="1"/>
          <p:nvPr/>
        </p:nvSpPr>
        <p:spPr>
          <a:xfrm>
            <a:off x="822960" y="1828800"/>
            <a:ext cx="4663440" cy="365760"/>
          </a:xfrm>
          <a:prstGeom prst="rect">
            <a:avLst/>
          </a:prstGeom>
          <a:noFill/>
        </p:spPr>
        <p:txBody>
          <a:bodyPr wrap="square" lIns="0" tIns="0" rIns="0" bIns="0" anchor="ctr">
            <a:noAutofit/>
          </a:bodyPr>
          <a:lstStyle/>
          <a:p>
            <a:pPr marL="0" indent="0">
              <a:buNone/>
            </a:pPr>
            <a:r>
              <a:rPr lang="en-ZA" sz="1800" b="1" noProof="0" dirty="0">
                <a:solidFill>
                  <a:schemeClr val="tx2"/>
                </a:solidFill>
                <a:latin typeface="Century" panose="02040604050505020304" pitchFamily="18" charset="0"/>
              </a:rPr>
              <a:t>4 of 11 Stats SA datasets selected</a:t>
            </a:r>
          </a:p>
        </p:txBody>
      </p:sp>
      <p:sp>
        <p:nvSpPr>
          <p:cNvPr id="8" name="Dataset tile D01"/>
          <p:cNvSpPr/>
          <p:nvPr/>
        </p:nvSpPr>
        <p:spPr>
          <a:xfrm>
            <a:off x="822960" y="2377440"/>
            <a:ext cx="701040" cy="457200"/>
          </a:xfrm>
          <a:prstGeom prst="rect">
            <a:avLst/>
          </a:prstGeom>
          <a:solidFill>
            <a:schemeClr val="accent2"/>
          </a:solidFill>
          <a:ln>
            <a:noFill/>
          </a:ln>
        </p:spPr>
        <p:txBody>
          <a:bodyPr rtlCol="0" anchor="ctr"/>
          <a:lstStyle/>
          <a:p>
            <a:pPr algn="ctr"/>
            <a:endParaRPr lang="en-ZA" noProof="0" dirty="0"/>
          </a:p>
        </p:txBody>
      </p:sp>
      <p:sp>
        <p:nvSpPr>
          <p:cNvPr id="9" name="Dataset D01"/>
          <p:cNvSpPr txBox="1"/>
          <p:nvPr/>
        </p:nvSpPr>
        <p:spPr>
          <a:xfrm>
            <a:off x="822960" y="2377440"/>
            <a:ext cx="701040" cy="457200"/>
          </a:xfrm>
          <a:prstGeom prst="rect">
            <a:avLst/>
          </a:prstGeom>
          <a:noFill/>
        </p:spPr>
        <p:txBody>
          <a:bodyPr wrap="square" lIns="0" tIns="0" rIns="0" bIns="0" anchor="ctr">
            <a:noAutofit/>
          </a:bodyPr>
          <a:lstStyle/>
          <a:p>
            <a:pPr marL="0" indent="0" algn="ctr">
              <a:buNone/>
            </a:pPr>
            <a:r>
              <a:rPr lang="en-ZA" sz="1300" b="1" noProof="0" dirty="0">
                <a:solidFill>
                  <a:schemeClr val="bg1"/>
                </a:solidFill>
              </a:rPr>
              <a:t>D01</a:t>
            </a:r>
          </a:p>
        </p:txBody>
      </p:sp>
      <p:sp>
        <p:nvSpPr>
          <p:cNvPr id="10" name="Dataset tile D02"/>
          <p:cNvSpPr/>
          <p:nvPr/>
        </p:nvSpPr>
        <p:spPr>
          <a:xfrm>
            <a:off x="1615440" y="2377440"/>
            <a:ext cx="701040" cy="457200"/>
          </a:xfrm>
          <a:prstGeom prst="rect">
            <a:avLst/>
          </a:prstGeom>
          <a:solidFill>
            <a:schemeClr val="accent2"/>
          </a:solidFill>
          <a:ln>
            <a:noFill/>
          </a:ln>
        </p:spPr>
        <p:txBody>
          <a:bodyPr rtlCol="0" anchor="ctr"/>
          <a:lstStyle/>
          <a:p>
            <a:pPr algn="ctr"/>
            <a:endParaRPr lang="en-ZA" noProof="0" dirty="0"/>
          </a:p>
        </p:txBody>
      </p:sp>
      <p:sp>
        <p:nvSpPr>
          <p:cNvPr id="11" name="Dataset D02"/>
          <p:cNvSpPr txBox="1"/>
          <p:nvPr/>
        </p:nvSpPr>
        <p:spPr>
          <a:xfrm>
            <a:off x="1615440" y="2377440"/>
            <a:ext cx="701040" cy="457200"/>
          </a:xfrm>
          <a:prstGeom prst="rect">
            <a:avLst/>
          </a:prstGeom>
          <a:noFill/>
        </p:spPr>
        <p:txBody>
          <a:bodyPr wrap="square" lIns="0" tIns="0" rIns="0" bIns="0" anchor="ctr">
            <a:noAutofit/>
          </a:bodyPr>
          <a:lstStyle/>
          <a:p>
            <a:pPr marL="0" indent="0" algn="ctr">
              <a:buNone/>
            </a:pPr>
            <a:r>
              <a:rPr lang="en-ZA" sz="1300" b="1" noProof="0" dirty="0">
                <a:solidFill>
                  <a:schemeClr val="bg1"/>
                </a:solidFill>
              </a:rPr>
              <a:t>D02</a:t>
            </a:r>
          </a:p>
        </p:txBody>
      </p:sp>
      <p:sp>
        <p:nvSpPr>
          <p:cNvPr id="12" name="Dataset tile D03"/>
          <p:cNvSpPr/>
          <p:nvPr/>
        </p:nvSpPr>
        <p:spPr>
          <a:xfrm>
            <a:off x="2407920" y="2377440"/>
            <a:ext cx="701040" cy="457200"/>
          </a:xfrm>
          <a:prstGeom prst="rect">
            <a:avLst/>
          </a:prstGeom>
          <a:solidFill>
            <a:schemeClr val="accent2"/>
          </a:solidFill>
          <a:ln>
            <a:noFill/>
          </a:ln>
        </p:spPr>
        <p:txBody>
          <a:bodyPr rtlCol="0" anchor="ctr"/>
          <a:lstStyle/>
          <a:p>
            <a:pPr algn="ctr"/>
            <a:endParaRPr lang="en-ZA" noProof="0" dirty="0"/>
          </a:p>
        </p:txBody>
      </p:sp>
      <p:sp>
        <p:nvSpPr>
          <p:cNvPr id="13" name="Dataset D03"/>
          <p:cNvSpPr txBox="1"/>
          <p:nvPr/>
        </p:nvSpPr>
        <p:spPr>
          <a:xfrm>
            <a:off x="2407920" y="2377440"/>
            <a:ext cx="701040" cy="457200"/>
          </a:xfrm>
          <a:prstGeom prst="rect">
            <a:avLst/>
          </a:prstGeom>
          <a:noFill/>
        </p:spPr>
        <p:txBody>
          <a:bodyPr wrap="square" lIns="0" tIns="0" rIns="0" bIns="0" anchor="ctr">
            <a:noAutofit/>
          </a:bodyPr>
          <a:lstStyle/>
          <a:p>
            <a:pPr marL="0" indent="0" algn="ctr">
              <a:buNone/>
            </a:pPr>
            <a:r>
              <a:rPr lang="en-ZA" sz="1300" b="1" noProof="0" dirty="0">
                <a:solidFill>
                  <a:schemeClr val="bg1"/>
                </a:solidFill>
              </a:rPr>
              <a:t>D03</a:t>
            </a:r>
          </a:p>
        </p:txBody>
      </p:sp>
      <p:sp>
        <p:nvSpPr>
          <p:cNvPr id="14" name="Dataset tile D04"/>
          <p:cNvSpPr/>
          <p:nvPr/>
        </p:nvSpPr>
        <p:spPr>
          <a:xfrm>
            <a:off x="3200400" y="2377440"/>
            <a:ext cx="701040" cy="457200"/>
          </a:xfrm>
          <a:prstGeom prst="rect">
            <a:avLst/>
          </a:prstGeom>
          <a:solidFill>
            <a:schemeClr val="bg1"/>
          </a:solidFill>
          <a:ln>
            <a:noFill/>
          </a:ln>
        </p:spPr>
        <p:txBody>
          <a:bodyPr rtlCol="0" anchor="ctr"/>
          <a:lstStyle/>
          <a:p>
            <a:pPr algn="ctr"/>
            <a:endParaRPr lang="en-ZA" noProof="0" dirty="0"/>
          </a:p>
        </p:txBody>
      </p:sp>
      <p:sp>
        <p:nvSpPr>
          <p:cNvPr id="15" name="Dataset D04"/>
          <p:cNvSpPr txBox="1"/>
          <p:nvPr/>
        </p:nvSpPr>
        <p:spPr>
          <a:xfrm>
            <a:off x="3200400" y="2377440"/>
            <a:ext cx="701040" cy="457200"/>
          </a:xfrm>
          <a:prstGeom prst="rect">
            <a:avLst/>
          </a:prstGeom>
          <a:noFill/>
        </p:spPr>
        <p:txBody>
          <a:bodyPr wrap="square" lIns="0" tIns="0" rIns="0" bIns="0" anchor="ctr">
            <a:noAutofit/>
          </a:bodyPr>
          <a:lstStyle/>
          <a:p>
            <a:pPr marL="0" indent="0" algn="ctr">
              <a:buNone/>
            </a:pPr>
            <a:r>
              <a:rPr lang="en-ZA" sz="1300" b="0" noProof="0" dirty="0">
                <a:solidFill>
                  <a:schemeClr val="tx2"/>
                </a:solidFill>
              </a:rPr>
              <a:t>D04</a:t>
            </a:r>
          </a:p>
        </p:txBody>
      </p:sp>
      <p:sp>
        <p:nvSpPr>
          <p:cNvPr id="16" name="Dataset tile D05"/>
          <p:cNvSpPr/>
          <p:nvPr/>
        </p:nvSpPr>
        <p:spPr>
          <a:xfrm>
            <a:off x="3992880" y="2377440"/>
            <a:ext cx="701040" cy="457200"/>
          </a:xfrm>
          <a:prstGeom prst="rect">
            <a:avLst/>
          </a:prstGeom>
          <a:solidFill>
            <a:schemeClr val="bg1"/>
          </a:solidFill>
          <a:ln>
            <a:noFill/>
          </a:ln>
        </p:spPr>
        <p:txBody>
          <a:bodyPr rtlCol="0" anchor="ctr"/>
          <a:lstStyle/>
          <a:p>
            <a:pPr algn="ctr"/>
            <a:endParaRPr lang="en-ZA" noProof="0" dirty="0"/>
          </a:p>
        </p:txBody>
      </p:sp>
      <p:sp>
        <p:nvSpPr>
          <p:cNvPr id="17" name="Dataset D05"/>
          <p:cNvSpPr txBox="1"/>
          <p:nvPr/>
        </p:nvSpPr>
        <p:spPr>
          <a:xfrm>
            <a:off x="3992880" y="2377440"/>
            <a:ext cx="701040" cy="457200"/>
          </a:xfrm>
          <a:prstGeom prst="rect">
            <a:avLst/>
          </a:prstGeom>
          <a:noFill/>
        </p:spPr>
        <p:txBody>
          <a:bodyPr wrap="square" lIns="0" tIns="0" rIns="0" bIns="0" anchor="ctr">
            <a:noAutofit/>
          </a:bodyPr>
          <a:lstStyle/>
          <a:p>
            <a:pPr marL="0" indent="0" algn="ctr">
              <a:buNone/>
            </a:pPr>
            <a:r>
              <a:rPr lang="en-ZA" sz="1300" b="0" noProof="0" dirty="0">
                <a:solidFill>
                  <a:schemeClr val="tx2"/>
                </a:solidFill>
              </a:rPr>
              <a:t>D05</a:t>
            </a:r>
          </a:p>
        </p:txBody>
      </p:sp>
      <p:sp>
        <p:nvSpPr>
          <p:cNvPr id="18" name="Dataset tile D06"/>
          <p:cNvSpPr/>
          <p:nvPr/>
        </p:nvSpPr>
        <p:spPr>
          <a:xfrm>
            <a:off x="4785360" y="2377440"/>
            <a:ext cx="701040" cy="457200"/>
          </a:xfrm>
          <a:prstGeom prst="rect">
            <a:avLst/>
          </a:prstGeom>
          <a:solidFill>
            <a:schemeClr val="bg1"/>
          </a:solidFill>
          <a:ln>
            <a:noFill/>
          </a:ln>
        </p:spPr>
        <p:txBody>
          <a:bodyPr rtlCol="0" anchor="ctr"/>
          <a:lstStyle/>
          <a:p>
            <a:pPr algn="ctr"/>
            <a:endParaRPr lang="en-ZA" noProof="0" dirty="0"/>
          </a:p>
        </p:txBody>
      </p:sp>
      <p:sp>
        <p:nvSpPr>
          <p:cNvPr id="19" name="Dataset D06"/>
          <p:cNvSpPr txBox="1"/>
          <p:nvPr/>
        </p:nvSpPr>
        <p:spPr>
          <a:xfrm>
            <a:off x="4785360" y="2377440"/>
            <a:ext cx="701040" cy="457200"/>
          </a:xfrm>
          <a:prstGeom prst="rect">
            <a:avLst/>
          </a:prstGeom>
          <a:noFill/>
        </p:spPr>
        <p:txBody>
          <a:bodyPr wrap="square" lIns="0" tIns="0" rIns="0" bIns="0" anchor="ctr">
            <a:noAutofit/>
          </a:bodyPr>
          <a:lstStyle/>
          <a:p>
            <a:pPr marL="0" indent="0" algn="ctr">
              <a:buNone/>
            </a:pPr>
            <a:r>
              <a:rPr lang="en-ZA" sz="1300" b="0" noProof="0" dirty="0">
                <a:solidFill>
                  <a:schemeClr val="tx2"/>
                </a:solidFill>
              </a:rPr>
              <a:t>D06</a:t>
            </a:r>
          </a:p>
        </p:txBody>
      </p:sp>
      <p:sp>
        <p:nvSpPr>
          <p:cNvPr id="20" name="Dataset tile D07"/>
          <p:cNvSpPr/>
          <p:nvPr/>
        </p:nvSpPr>
        <p:spPr>
          <a:xfrm>
            <a:off x="822960" y="2926080"/>
            <a:ext cx="701040" cy="457200"/>
          </a:xfrm>
          <a:prstGeom prst="rect">
            <a:avLst/>
          </a:prstGeom>
          <a:solidFill>
            <a:schemeClr val="bg1"/>
          </a:solidFill>
          <a:ln>
            <a:noFill/>
          </a:ln>
        </p:spPr>
        <p:txBody>
          <a:bodyPr rtlCol="0" anchor="ctr"/>
          <a:lstStyle/>
          <a:p>
            <a:pPr algn="ctr"/>
            <a:endParaRPr lang="en-ZA" noProof="0" dirty="0"/>
          </a:p>
        </p:txBody>
      </p:sp>
      <p:sp>
        <p:nvSpPr>
          <p:cNvPr id="21" name="Dataset D07"/>
          <p:cNvSpPr txBox="1"/>
          <p:nvPr/>
        </p:nvSpPr>
        <p:spPr>
          <a:xfrm>
            <a:off x="822960" y="2926080"/>
            <a:ext cx="701040" cy="457200"/>
          </a:xfrm>
          <a:prstGeom prst="rect">
            <a:avLst/>
          </a:prstGeom>
          <a:noFill/>
        </p:spPr>
        <p:txBody>
          <a:bodyPr wrap="square" lIns="0" tIns="0" rIns="0" bIns="0" anchor="ctr">
            <a:noAutofit/>
          </a:bodyPr>
          <a:lstStyle/>
          <a:p>
            <a:pPr marL="0" indent="0" algn="ctr">
              <a:buNone/>
            </a:pPr>
            <a:r>
              <a:rPr lang="en-ZA" sz="1300" b="0" noProof="0" dirty="0">
                <a:solidFill>
                  <a:schemeClr val="tx2"/>
                </a:solidFill>
              </a:rPr>
              <a:t>D07</a:t>
            </a:r>
          </a:p>
        </p:txBody>
      </p:sp>
      <p:sp>
        <p:nvSpPr>
          <p:cNvPr id="22" name="Dataset tile D08"/>
          <p:cNvSpPr/>
          <p:nvPr/>
        </p:nvSpPr>
        <p:spPr>
          <a:xfrm>
            <a:off x="1615440" y="2926080"/>
            <a:ext cx="701040" cy="457200"/>
          </a:xfrm>
          <a:prstGeom prst="rect">
            <a:avLst/>
          </a:prstGeom>
          <a:solidFill>
            <a:schemeClr val="accent2"/>
          </a:solidFill>
          <a:ln>
            <a:noFill/>
          </a:ln>
        </p:spPr>
        <p:txBody>
          <a:bodyPr rtlCol="0" anchor="ctr"/>
          <a:lstStyle/>
          <a:p>
            <a:pPr algn="ctr"/>
            <a:endParaRPr lang="en-ZA" noProof="0" dirty="0"/>
          </a:p>
        </p:txBody>
      </p:sp>
      <p:sp>
        <p:nvSpPr>
          <p:cNvPr id="23" name="Dataset D08"/>
          <p:cNvSpPr txBox="1"/>
          <p:nvPr/>
        </p:nvSpPr>
        <p:spPr>
          <a:xfrm>
            <a:off x="1615440" y="2926080"/>
            <a:ext cx="701040" cy="457200"/>
          </a:xfrm>
          <a:prstGeom prst="rect">
            <a:avLst/>
          </a:prstGeom>
          <a:noFill/>
        </p:spPr>
        <p:txBody>
          <a:bodyPr wrap="square" lIns="0" tIns="0" rIns="0" bIns="0" anchor="ctr">
            <a:noAutofit/>
          </a:bodyPr>
          <a:lstStyle/>
          <a:p>
            <a:pPr marL="0" indent="0" algn="ctr">
              <a:buNone/>
            </a:pPr>
            <a:r>
              <a:rPr lang="en-ZA" sz="1300" b="1" noProof="0" dirty="0">
                <a:solidFill>
                  <a:schemeClr val="bg1"/>
                </a:solidFill>
              </a:rPr>
              <a:t>D08</a:t>
            </a:r>
          </a:p>
        </p:txBody>
      </p:sp>
      <p:sp>
        <p:nvSpPr>
          <p:cNvPr id="24" name="Dataset tile D09"/>
          <p:cNvSpPr/>
          <p:nvPr/>
        </p:nvSpPr>
        <p:spPr>
          <a:xfrm>
            <a:off x="2407920" y="2926080"/>
            <a:ext cx="701040" cy="457200"/>
          </a:xfrm>
          <a:prstGeom prst="rect">
            <a:avLst/>
          </a:prstGeom>
          <a:solidFill>
            <a:schemeClr val="bg1"/>
          </a:solidFill>
          <a:ln>
            <a:noFill/>
          </a:ln>
        </p:spPr>
        <p:txBody>
          <a:bodyPr rtlCol="0" anchor="ctr"/>
          <a:lstStyle/>
          <a:p>
            <a:pPr algn="ctr"/>
            <a:endParaRPr lang="en-ZA" noProof="0" dirty="0"/>
          </a:p>
        </p:txBody>
      </p:sp>
      <p:sp>
        <p:nvSpPr>
          <p:cNvPr id="25" name="Dataset D09"/>
          <p:cNvSpPr txBox="1"/>
          <p:nvPr/>
        </p:nvSpPr>
        <p:spPr>
          <a:xfrm>
            <a:off x="2407920" y="2926080"/>
            <a:ext cx="701040" cy="457200"/>
          </a:xfrm>
          <a:prstGeom prst="rect">
            <a:avLst/>
          </a:prstGeom>
          <a:noFill/>
        </p:spPr>
        <p:txBody>
          <a:bodyPr wrap="square" lIns="0" tIns="0" rIns="0" bIns="0" anchor="ctr">
            <a:noAutofit/>
          </a:bodyPr>
          <a:lstStyle/>
          <a:p>
            <a:pPr marL="0" indent="0" algn="ctr">
              <a:buNone/>
            </a:pPr>
            <a:r>
              <a:rPr lang="en-ZA" sz="1300" b="0" noProof="0" dirty="0">
                <a:solidFill>
                  <a:schemeClr val="tx2"/>
                </a:solidFill>
              </a:rPr>
              <a:t>D09</a:t>
            </a:r>
          </a:p>
        </p:txBody>
      </p:sp>
      <p:sp>
        <p:nvSpPr>
          <p:cNvPr id="26" name="Dataset tile D10"/>
          <p:cNvSpPr/>
          <p:nvPr/>
        </p:nvSpPr>
        <p:spPr>
          <a:xfrm>
            <a:off x="3200400" y="2926080"/>
            <a:ext cx="701040" cy="457200"/>
          </a:xfrm>
          <a:prstGeom prst="rect">
            <a:avLst/>
          </a:prstGeom>
          <a:solidFill>
            <a:schemeClr val="bg1"/>
          </a:solidFill>
          <a:ln>
            <a:noFill/>
          </a:ln>
        </p:spPr>
        <p:txBody>
          <a:bodyPr rtlCol="0" anchor="ctr"/>
          <a:lstStyle/>
          <a:p>
            <a:pPr algn="ctr"/>
            <a:endParaRPr lang="en-ZA" noProof="0" dirty="0"/>
          </a:p>
        </p:txBody>
      </p:sp>
      <p:sp>
        <p:nvSpPr>
          <p:cNvPr id="27" name="Dataset D10"/>
          <p:cNvSpPr txBox="1"/>
          <p:nvPr/>
        </p:nvSpPr>
        <p:spPr>
          <a:xfrm>
            <a:off x="3200400" y="2926080"/>
            <a:ext cx="701040" cy="457200"/>
          </a:xfrm>
          <a:prstGeom prst="rect">
            <a:avLst/>
          </a:prstGeom>
          <a:noFill/>
        </p:spPr>
        <p:txBody>
          <a:bodyPr wrap="square" lIns="0" tIns="0" rIns="0" bIns="0" anchor="ctr">
            <a:noAutofit/>
          </a:bodyPr>
          <a:lstStyle/>
          <a:p>
            <a:pPr marL="0" indent="0" algn="ctr">
              <a:buNone/>
            </a:pPr>
            <a:r>
              <a:rPr lang="en-ZA" sz="1300" b="0" noProof="0" dirty="0">
                <a:solidFill>
                  <a:schemeClr val="tx2"/>
                </a:solidFill>
              </a:rPr>
              <a:t>D10</a:t>
            </a:r>
          </a:p>
        </p:txBody>
      </p:sp>
      <p:sp>
        <p:nvSpPr>
          <p:cNvPr id="28" name="Dataset tile D11"/>
          <p:cNvSpPr/>
          <p:nvPr/>
        </p:nvSpPr>
        <p:spPr>
          <a:xfrm>
            <a:off x="3992880" y="2926080"/>
            <a:ext cx="701040" cy="457200"/>
          </a:xfrm>
          <a:prstGeom prst="rect">
            <a:avLst/>
          </a:prstGeom>
          <a:solidFill>
            <a:schemeClr val="bg1"/>
          </a:solidFill>
          <a:ln>
            <a:noFill/>
          </a:ln>
        </p:spPr>
        <p:txBody>
          <a:bodyPr rtlCol="0" anchor="ctr"/>
          <a:lstStyle/>
          <a:p>
            <a:pPr algn="ctr"/>
            <a:endParaRPr lang="en-ZA" noProof="0" dirty="0"/>
          </a:p>
        </p:txBody>
      </p:sp>
      <p:sp>
        <p:nvSpPr>
          <p:cNvPr id="29" name="Dataset D11"/>
          <p:cNvSpPr txBox="1"/>
          <p:nvPr/>
        </p:nvSpPr>
        <p:spPr>
          <a:xfrm>
            <a:off x="3992880" y="2926080"/>
            <a:ext cx="701040" cy="457200"/>
          </a:xfrm>
          <a:prstGeom prst="rect">
            <a:avLst/>
          </a:prstGeom>
          <a:noFill/>
        </p:spPr>
        <p:txBody>
          <a:bodyPr wrap="square" lIns="0" tIns="0" rIns="0" bIns="0" anchor="ctr">
            <a:noAutofit/>
          </a:bodyPr>
          <a:lstStyle/>
          <a:p>
            <a:pPr marL="0" indent="0" algn="ctr">
              <a:buNone/>
            </a:pPr>
            <a:r>
              <a:rPr lang="en-ZA" sz="1300" b="0" noProof="0" dirty="0">
                <a:solidFill>
                  <a:schemeClr val="tx2"/>
                </a:solidFill>
              </a:rPr>
              <a:t>D11</a:t>
            </a:r>
          </a:p>
        </p:txBody>
      </p:sp>
      <p:sp>
        <p:nvSpPr>
          <p:cNvPr id="30" name="Selected datasets"/>
          <p:cNvSpPr txBox="1"/>
          <p:nvPr/>
        </p:nvSpPr>
        <p:spPr>
          <a:xfrm>
            <a:off x="822960" y="3611880"/>
            <a:ext cx="4663440" cy="1188720"/>
          </a:xfrm>
          <a:prstGeom prst="rect">
            <a:avLst/>
          </a:prstGeom>
          <a:noFill/>
        </p:spPr>
        <p:txBody>
          <a:bodyPr wrap="square" lIns="0" tIns="0" rIns="0" bIns="0" anchor="t">
            <a:noAutofit/>
          </a:bodyPr>
          <a:lstStyle/>
          <a:p>
            <a:pPr marL="0" indent="0">
              <a:spcAft>
                <a:spcPts val="600"/>
              </a:spcAft>
              <a:buNone/>
            </a:pPr>
            <a:r>
              <a:rPr lang="en-ZA" sz="1300" b="1" noProof="0" dirty="0">
                <a:solidFill>
                  <a:schemeClr val="tx2"/>
                </a:solidFill>
                <a:latin typeface="Century" panose="02040604050505020304" pitchFamily="18" charset="0"/>
              </a:rPr>
              <a:t>D01  </a:t>
            </a:r>
            <a:r>
              <a:rPr lang="en-ZA" sz="1300" b="0" noProof="0" dirty="0">
                <a:solidFill>
                  <a:schemeClr val="tx1"/>
                </a:solidFill>
                <a:latin typeface="Century" panose="02040604050505020304" pitchFamily="18" charset="0"/>
              </a:rPr>
              <a:t>Population: age, sex, province, survey weights</a:t>
            </a:r>
          </a:p>
          <a:p>
            <a:pPr marL="0" indent="0">
              <a:spcAft>
                <a:spcPts val="600"/>
              </a:spcAft>
              <a:buNone/>
            </a:pPr>
            <a:r>
              <a:rPr lang="en-ZA" sz="1300" b="1" noProof="0" dirty="0">
                <a:solidFill>
                  <a:schemeClr val="tx2"/>
                </a:solidFill>
                <a:latin typeface="Century" panose="02040604050505020304" pitchFamily="18" charset="0"/>
              </a:rPr>
              <a:t>D02  </a:t>
            </a:r>
            <a:r>
              <a:rPr lang="en-ZA" sz="1300" b="0" noProof="0" dirty="0">
                <a:solidFill>
                  <a:schemeClr val="tx1"/>
                </a:solidFill>
                <a:latin typeface="Century" panose="02040604050505020304" pitchFamily="18" charset="0"/>
              </a:rPr>
              <a:t>Learning: education level and attendance</a:t>
            </a:r>
          </a:p>
          <a:p>
            <a:pPr marL="0" indent="0">
              <a:spcAft>
                <a:spcPts val="600"/>
              </a:spcAft>
              <a:buNone/>
            </a:pPr>
            <a:r>
              <a:rPr lang="en-ZA" sz="1300" b="1" noProof="0" dirty="0">
                <a:solidFill>
                  <a:schemeClr val="tx2"/>
                </a:solidFill>
                <a:latin typeface="Century" panose="02040604050505020304" pitchFamily="18" charset="0"/>
              </a:rPr>
              <a:t>D03  </a:t>
            </a:r>
            <a:r>
              <a:rPr lang="en-ZA" sz="1300" b="0" noProof="0" dirty="0">
                <a:solidFill>
                  <a:schemeClr val="tx1"/>
                </a:solidFill>
                <a:latin typeface="Century" panose="02040604050505020304" pitchFamily="18" charset="0"/>
              </a:rPr>
              <a:t>Economic participation: employment and salary</a:t>
            </a:r>
          </a:p>
          <a:p>
            <a:pPr marL="0" indent="0">
              <a:spcAft>
                <a:spcPts val="600"/>
              </a:spcAft>
              <a:buNone/>
            </a:pPr>
            <a:r>
              <a:rPr lang="en-ZA" sz="1300" b="1" noProof="0" dirty="0">
                <a:solidFill>
                  <a:schemeClr val="tx2"/>
                </a:solidFill>
                <a:latin typeface="Century" panose="02040604050505020304" pitchFamily="18" charset="0"/>
              </a:rPr>
              <a:t>D08  </a:t>
            </a:r>
            <a:r>
              <a:rPr lang="en-ZA" sz="1300" b="0" noProof="0" dirty="0">
                <a:solidFill>
                  <a:schemeClr val="tx1"/>
                </a:solidFill>
                <a:latin typeface="Century" panose="02040604050505020304" pitchFamily="18" charset="0"/>
              </a:rPr>
              <a:t>Connectivity: household internet and devices</a:t>
            </a:r>
          </a:p>
        </p:txBody>
      </p:sp>
      <p:sp>
        <p:nvSpPr>
          <p:cNvPr id="31" name="Excluded datasets"/>
          <p:cNvSpPr txBox="1"/>
          <p:nvPr/>
        </p:nvSpPr>
        <p:spPr>
          <a:xfrm>
            <a:off x="822960" y="5120640"/>
            <a:ext cx="4663440" cy="548640"/>
          </a:xfrm>
          <a:prstGeom prst="rect">
            <a:avLst/>
          </a:prstGeom>
          <a:noFill/>
        </p:spPr>
        <p:txBody>
          <a:bodyPr wrap="square" lIns="0" tIns="0" rIns="0" bIns="0" anchor="b">
            <a:noAutofit/>
          </a:bodyPr>
          <a:lstStyle/>
          <a:p>
            <a:pPr marL="0" indent="0">
              <a:buNone/>
            </a:pPr>
            <a:r>
              <a:rPr lang="en-ZA" sz="1200" b="1" noProof="0" dirty="0">
                <a:solidFill>
                  <a:schemeClr val="tx2"/>
                </a:solidFill>
                <a:latin typeface="Century" panose="02040604050505020304" pitchFamily="18" charset="0"/>
              </a:rPr>
              <a:t>Left out:  </a:t>
            </a:r>
          </a:p>
          <a:p>
            <a:pPr marL="0" indent="0">
              <a:buNone/>
            </a:pPr>
            <a:r>
              <a:rPr lang="en-ZA" sz="1200" b="0" noProof="0" dirty="0">
                <a:solidFill>
                  <a:schemeClr val="tx1"/>
                </a:solidFill>
                <a:latin typeface="Century" panose="02040604050505020304" pitchFamily="18" charset="0"/>
              </a:rPr>
              <a:t>D04</a:t>
            </a:r>
            <a:r>
              <a:rPr lang="en-ZA" sz="1200" dirty="0">
                <a:latin typeface="Century" panose="02040604050505020304" pitchFamily="18" charset="0"/>
              </a:rPr>
              <a:t> - </a:t>
            </a:r>
            <a:r>
              <a:rPr lang="en-ZA" sz="1200" b="0" noProof="0" dirty="0">
                <a:solidFill>
                  <a:schemeClr val="tx1"/>
                </a:solidFill>
                <a:latin typeface="Century" panose="02040604050505020304" pitchFamily="18" charset="0"/>
              </a:rPr>
              <a:t>D07, D09 and D10 are not needed</a:t>
            </a:r>
          </a:p>
          <a:p>
            <a:pPr marL="0" indent="0">
              <a:buNone/>
            </a:pPr>
            <a:r>
              <a:rPr lang="en-ZA" sz="1200" b="0" noProof="0" dirty="0">
                <a:solidFill>
                  <a:schemeClr val="tx1"/>
                </a:solidFill>
                <a:latin typeface="Century" panose="02040604050505020304" pitchFamily="18" charset="0"/>
              </a:rPr>
              <a:t>D11</a:t>
            </a:r>
            <a:r>
              <a:rPr lang="en-ZA" sz="1200" dirty="0">
                <a:latin typeface="Century" panose="02040604050505020304" pitchFamily="18" charset="0"/>
              </a:rPr>
              <a:t>’s data</a:t>
            </a:r>
            <a:r>
              <a:rPr lang="en-ZA" sz="1200" b="0" noProof="0" dirty="0">
                <a:solidFill>
                  <a:schemeClr val="tx1"/>
                </a:solidFill>
                <a:latin typeface="Century" panose="02040604050505020304" pitchFamily="18" charset="0"/>
              </a:rPr>
              <a:t> comes from a separate survey</a:t>
            </a:r>
          </a:p>
        </p:txBody>
      </p:sp>
      <p:sp>
        <p:nvSpPr>
          <p:cNvPr id="32" name="Quality intro"/>
          <p:cNvSpPr txBox="1"/>
          <p:nvPr/>
        </p:nvSpPr>
        <p:spPr>
          <a:xfrm>
            <a:off x="6126480" y="1600200"/>
            <a:ext cx="5516575" cy="832104"/>
          </a:xfrm>
          <a:prstGeom prst="rect">
            <a:avLst/>
          </a:prstGeom>
          <a:noFill/>
        </p:spPr>
        <p:txBody>
          <a:bodyPr wrap="square" lIns="0" tIns="0" rIns="0" bIns="0" anchor="t">
            <a:noAutofit/>
          </a:bodyPr>
          <a:lstStyle/>
          <a:p>
            <a:pPr marL="0" indent="0" algn="just">
              <a:buNone/>
            </a:pPr>
            <a:r>
              <a:rPr lang="en-ZA" sz="1400" b="0" noProof="0" dirty="0">
                <a:solidFill>
                  <a:schemeClr val="tx1"/>
                </a:solidFill>
                <a:latin typeface="Century" panose="02040604050505020304" pitchFamily="18" charset="0"/>
              </a:rPr>
              <a:t>We assumed that no dataset was clean. We checked each one independently for completeness, uniqueness, validity, consistency and structure. There were however problems we picked up on.</a:t>
            </a:r>
          </a:p>
          <a:p>
            <a:pPr marL="0" indent="0" algn="just">
              <a:buNone/>
            </a:pPr>
            <a:r>
              <a:rPr lang="en-ZA" sz="1400" dirty="0">
                <a:latin typeface="Century" panose="02040604050505020304" pitchFamily="18" charset="0"/>
              </a:rPr>
              <a:t>The most prevalent problems included the following:</a:t>
            </a:r>
            <a:endParaRPr lang="en-ZA" sz="1400" b="0" noProof="0" dirty="0">
              <a:solidFill>
                <a:schemeClr val="tx1"/>
              </a:solidFill>
              <a:latin typeface="Century" panose="02040604050505020304" pitchFamily="18" charset="0"/>
            </a:endParaRPr>
          </a:p>
        </p:txBody>
      </p:sp>
      <p:sp>
        <p:nvSpPr>
          <p:cNvPr id="33" name="Icon tile: db"/>
          <p:cNvSpPr/>
          <p:nvPr/>
        </p:nvSpPr>
        <p:spPr>
          <a:xfrm>
            <a:off x="6126480" y="2592324"/>
            <a:ext cx="640080" cy="640080"/>
          </a:xfrm>
          <a:prstGeom prst="rect">
            <a:avLst/>
          </a:prstGeom>
          <a:solidFill>
            <a:schemeClr val="accent2"/>
          </a:solidFill>
          <a:ln>
            <a:noFill/>
          </a:ln>
        </p:spPr>
        <p:txBody>
          <a:bodyPr rtlCol="0" anchor="ctr"/>
          <a:lstStyle/>
          <a:p>
            <a:pPr algn="ctr"/>
            <a:endParaRPr lang="en-ZA" noProof="0" dirty="0"/>
          </a:p>
        </p:txBody>
      </p:sp>
      <p:pic>
        <p:nvPicPr>
          <p:cNvPr id="34" name="Icon: db" descr="db icon"/>
          <p:cNvPicPr>
            <a:picLocks noChangeAspect="1"/>
          </p:cNvPicPr>
          <p:nvPr/>
        </p:nvPicPr>
        <p:blipFill>
          <a:blip r:embed="rId4"/>
          <a:stretch>
            <a:fillRect/>
          </a:stretch>
        </p:blipFill>
        <p:spPr>
          <a:xfrm>
            <a:off x="6286500" y="2752344"/>
            <a:ext cx="320040" cy="320040"/>
          </a:xfrm>
          <a:prstGeom prst="rect">
            <a:avLst/>
          </a:prstGeom>
        </p:spPr>
      </p:pic>
      <p:sp>
        <p:nvSpPr>
          <p:cNvPr id="35" name="Finding 1 heading"/>
          <p:cNvSpPr txBox="1"/>
          <p:nvPr/>
        </p:nvSpPr>
        <p:spPr>
          <a:xfrm>
            <a:off x="6995160" y="2569464"/>
            <a:ext cx="4647895" cy="32004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Household IDs were being rounded</a:t>
            </a:r>
          </a:p>
        </p:txBody>
      </p:sp>
      <p:sp>
        <p:nvSpPr>
          <p:cNvPr id="36" name="Finding 1 text"/>
          <p:cNvSpPr txBox="1"/>
          <p:nvPr/>
        </p:nvSpPr>
        <p:spPr>
          <a:xfrm>
            <a:off x="6995160" y="2912364"/>
            <a:ext cx="4647895" cy="800100"/>
          </a:xfrm>
          <a:prstGeom prst="rect">
            <a:avLst/>
          </a:prstGeom>
          <a:noFill/>
        </p:spPr>
        <p:txBody>
          <a:bodyPr wrap="square" lIns="0" tIns="0" rIns="0" bIns="0" anchor="t">
            <a:noAutofit/>
          </a:bodyPr>
          <a:lstStyle/>
          <a:p>
            <a:pPr marL="0" indent="0">
              <a:buNone/>
            </a:pPr>
            <a:r>
              <a:rPr lang="en-ZA" sz="1300" b="0" noProof="0" dirty="0">
                <a:solidFill>
                  <a:schemeClr val="tx1"/>
                </a:solidFill>
                <a:latin typeface="Century" panose="02040604050505020304" pitchFamily="18" charset="0"/>
              </a:rPr>
              <a:t>The Household IDs were being rounded during the import process due to them being of the double datatype and were 18 digits long</a:t>
            </a:r>
            <a:r>
              <a:rPr lang="en-ZA" sz="1300" dirty="0">
                <a:latin typeface="Century" panose="02040604050505020304" pitchFamily="18" charset="0"/>
              </a:rPr>
              <a:t>, meaning instead of 20000 distinct households there was only 1 with the value: 1.60e17.</a:t>
            </a:r>
            <a:endParaRPr lang="en-ZA" sz="1300" b="0" noProof="0" dirty="0">
              <a:solidFill>
                <a:schemeClr val="tx1"/>
              </a:solidFill>
              <a:latin typeface="Century" panose="02040604050505020304" pitchFamily="18" charset="0"/>
            </a:endParaRPr>
          </a:p>
        </p:txBody>
      </p:sp>
      <p:sp>
        <p:nvSpPr>
          <p:cNvPr id="37" name="Icon tile: coins"/>
          <p:cNvSpPr/>
          <p:nvPr/>
        </p:nvSpPr>
        <p:spPr>
          <a:xfrm>
            <a:off x="6126480" y="3872484"/>
            <a:ext cx="640080" cy="640080"/>
          </a:xfrm>
          <a:prstGeom prst="rect">
            <a:avLst/>
          </a:prstGeom>
          <a:solidFill>
            <a:schemeClr val="accent1"/>
          </a:solidFill>
          <a:ln>
            <a:noFill/>
          </a:ln>
        </p:spPr>
        <p:txBody>
          <a:bodyPr rtlCol="0" anchor="ctr"/>
          <a:lstStyle/>
          <a:p>
            <a:pPr algn="ctr"/>
            <a:endParaRPr lang="en-ZA" noProof="0" dirty="0"/>
          </a:p>
        </p:txBody>
      </p:sp>
      <p:pic>
        <p:nvPicPr>
          <p:cNvPr id="38" name="Icon: coins" descr="coins icon"/>
          <p:cNvPicPr>
            <a:picLocks noChangeAspect="1"/>
          </p:cNvPicPr>
          <p:nvPr/>
        </p:nvPicPr>
        <p:blipFill>
          <a:blip r:embed="rId5"/>
          <a:stretch>
            <a:fillRect/>
          </a:stretch>
        </p:blipFill>
        <p:spPr>
          <a:xfrm>
            <a:off x="6286500" y="4032504"/>
            <a:ext cx="320040" cy="320040"/>
          </a:xfrm>
          <a:prstGeom prst="rect">
            <a:avLst/>
          </a:prstGeom>
        </p:spPr>
      </p:pic>
      <p:sp>
        <p:nvSpPr>
          <p:cNvPr id="39" name="Finding 2 heading"/>
          <p:cNvSpPr txBox="1"/>
          <p:nvPr/>
        </p:nvSpPr>
        <p:spPr>
          <a:xfrm>
            <a:off x="6995160" y="3849624"/>
            <a:ext cx="4647895" cy="32004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Salary was mostly placeholder codes</a:t>
            </a:r>
          </a:p>
        </p:txBody>
      </p:sp>
      <p:sp>
        <p:nvSpPr>
          <p:cNvPr id="40" name="Finding 2 text"/>
          <p:cNvSpPr txBox="1"/>
          <p:nvPr/>
        </p:nvSpPr>
        <p:spPr>
          <a:xfrm>
            <a:off x="6995160" y="4192524"/>
            <a:ext cx="4647895" cy="790956"/>
          </a:xfrm>
          <a:prstGeom prst="rect">
            <a:avLst/>
          </a:prstGeom>
          <a:noFill/>
        </p:spPr>
        <p:txBody>
          <a:bodyPr wrap="square" lIns="0" tIns="0" rIns="0" bIns="0" anchor="t">
            <a:noAutofit/>
          </a:bodyPr>
          <a:lstStyle/>
          <a:p>
            <a:pPr marL="0" indent="0">
              <a:buNone/>
            </a:pPr>
            <a:r>
              <a:rPr lang="en-ZA" sz="1300" b="0" noProof="0" dirty="0">
                <a:solidFill>
                  <a:schemeClr val="tx1"/>
                </a:solidFill>
                <a:latin typeface="Century" panose="02040604050505020304" pitchFamily="18" charset="0"/>
              </a:rPr>
              <a:t>74% of all of the salary values were “888888888” or “999999999”</a:t>
            </a:r>
            <a:r>
              <a:rPr lang="en-ZA" sz="1300" dirty="0">
                <a:latin typeface="Century" panose="02040604050505020304" pitchFamily="18" charset="0"/>
              </a:rPr>
              <a:t>, which stood for “</a:t>
            </a:r>
            <a:r>
              <a:rPr lang="en-ZA" sz="1300" b="0" noProof="0" dirty="0">
                <a:solidFill>
                  <a:schemeClr val="tx1"/>
                </a:solidFill>
                <a:latin typeface="Century" panose="02040604050505020304" pitchFamily="18" charset="0"/>
              </a:rPr>
              <a:t>not applicable” and “non-response”, meaning that 74% (94% after cleaning) of </a:t>
            </a:r>
            <a:r>
              <a:rPr lang="en-ZA" sz="1300" dirty="0">
                <a:latin typeface="Century" panose="02040604050505020304" pitchFamily="18" charset="0"/>
              </a:rPr>
              <a:t>the sample </a:t>
            </a:r>
            <a:r>
              <a:rPr lang="en-ZA" sz="1300" b="0" noProof="0" dirty="0">
                <a:solidFill>
                  <a:schemeClr val="tx1"/>
                </a:solidFill>
                <a:latin typeface="Century" panose="02040604050505020304" pitchFamily="18" charset="0"/>
              </a:rPr>
              <a:t>didn’t get paid or didn’t want to reveal their salary.</a:t>
            </a:r>
          </a:p>
        </p:txBody>
      </p:sp>
      <p:sp>
        <p:nvSpPr>
          <p:cNvPr id="41" name="Icon tile: search"/>
          <p:cNvSpPr/>
          <p:nvPr/>
        </p:nvSpPr>
        <p:spPr>
          <a:xfrm>
            <a:off x="6126480" y="5152644"/>
            <a:ext cx="640080" cy="640080"/>
          </a:xfrm>
          <a:prstGeom prst="rect">
            <a:avLst/>
          </a:prstGeom>
          <a:solidFill>
            <a:schemeClr val="accent3"/>
          </a:solidFill>
          <a:ln>
            <a:noFill/>
          </a:ln>
        </p:spPr>
        <p:txBody>
          <a:bodyPr rtlCol="0" anchor="ctr"/>
          <a:lstStyle/>
          <a:p>
            <a:pPr algn="ctr"/>
            <a:endParaRPr lang="en-ZA" noProof="0" dirty="0"/>
          </a:p>
        </p:txBody>
      </p:sp>
      <p:pic>
        <p:nvPicPr>
          <p:cNvPr id="42" name="Icon: search" descr="search icon"/>
          <p:cNvPicPr>
            <a:picLocks noChangeAspect="1"/>
          </p:cNvPicPr>
          <p:nvPr/>
        </p:nvPicPr>
        <p:blipFill>
          <a:blip r:embed="rId6"/>
          <a:stretch>
            <a:fillRect/>
          </a:stretch>
        </p:blipFill>
        <p:spPr>
          <a:xfrm>
            <a:off x="6286500" y="5312664"/>
            <a:ext cx="320040" cy="320040"/>
          </a:xfrm>
          <a:prstGeom prst="rect">
            <a:avLst/>
          </a:prstGeom>
        </p:spPr>
      </p:pic>
      <p:sp>
        <p:nvSpPr>
          <p:cNvPr id="43" name="Finding 3 heading"/>
          <p:cNvSpPr txBox="1"/>
          <p:nvPr/>
        </p:nvSpPr>
        <p:spPr>
          <a:xfrm>
            <a:off x="6995160" y="5129784"/>
            <a:ext cx="4647895" cy="32004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D11 could not be linked</a:t>
            </a:r>
          </a:p>
        </p:txBody>
      </p:sp>
      <p:sp>
        <p:nvSpPr>
          <p:cNvPr id="44" name="Finding 3 text"/>
          <p:cNvSpPr txBox="1"/>
          <p:nvPr/>
        </p:nvSpPr>
        <p:spPr>
          <a:xfrm>
            <a:off x="6995160" y="5472684"/>
            <a:ext cx="4647895" cy="457200"/>
          </a:xfrm>
          <a:prstGeom prst="rect">
            <a:avLst/>
          </a:prstGeom>
          <a:noFill/>
        </p:spPr>
        <p:txBody>
          <a:bodyPr wrap="square" lIns="0" tIns="0" rIns="0" bIns="0" anchor="t">
            <a:noAutofit/>
          </a:bodyPr>
          <a:lstStyle/>
          <a:p>
            <a:pPr marL="0" indent="0">
              <a:buNone/>
            </a:pPr>
            <a:r>
              <a:rPr lang="en-ZA" sz="1300" b="0" noProof="0" dirty="0">
                <a:solidFill>
                  <a:schemeClr val="tx1"/>
                </a:solidFill>
                <a:latin typeface="Century" panose="02040604050505020304" pitchFamily="18" charset="0"/>
              </a:rPr>
              <a:t>D11 shares none of D01</a:t>
            </a:r>
            <a:r>
              <a:rPr lang="en-ZA" sz="1300" dirty="0">
                <a:latin typeface="Century" panose="02040604050505020304" pitchFamily="18" charset="0"/>
              </a:rPr>
              <a:t>-D10</a:t>
            </a:r>
            <a:r>
              <a:rPr lang="en-ZA" sz="1300" b="0" noProof="0" dirty="0">
                <a:solidFill>
                  <a:schemeClr val="tx1"/>
                </a:solidFill>
                <a:latin typeface="Century" panose="02040604050505020304" pitchFamily="18" charset="0"/>
              </a:rPr>
              <a:t>’s household IDs, so we took employment information from D03 instead.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dirty="0"/>
              <a:t>Crisp-DM: </a:t>
            </a:r>
            <a:r>
              <a:rPr lang="en-ZA" noProof="0" dirty="0"/>
              <a:t>Data </a:t>
            </a:r>
            <a:r>
              <a:rPr lang="en-ZA" dirty="0"/>
              <a:t>P</a:t>
            </a:r>
            <a:r>
              <a:rPr lang="en-ZA" noProof="0" dirty="0"/>
              <a:t>reparation</a:t>
            </a:r>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5</a:t>
            </a:fld>
            <a:endParaRPr lang="en-ZA" noProof="0" dirty="0"/>
          </a:p>
        </p:txBody>
      </p:sp>
      <p:pic>
        <p:nvPicPr>
          <p:cNvPr id="5" name="Corner motif" descr="Decorative block motif"/>
          <p:cNvPicPr>
            <a:picLocks noChangeAspect="1"/>
          </p:cNvPicPr>
          <p:nvPr/>
        </p:nvPicPr>
        <p:blipFill>
          <a:blip r:embed="rId3"/>
          <a:stretch>
            <a:fillRect/>
          </a:stretch>
        </p:blipFill>
        <p:spPr>
          <a:xfrm>
            <a:off x="11158423" y="603504"/>
            <a:ext cx="484632" cy="484632"/>
          </a:xfrm>
          <a:prstGeom prst="rect">
            <a:avLst/>
          </a:prstGeom>
        </p:spPr>
      </p:pic>
      <p:sp>
        <p:nvSpPr>
          <p:cNvPr id="6" name="Step 1 card"/>
          <p:cNvSpPr/>
          <p:nvPr/>
        </p:nvSpPr>
        <p:spPr>
          <a:xfrm>
            <a:off x="548640" y="1600200"/>
            <a:ext cx="2072579" cy="2286000"/>
          </a:xfrm>
          <a:prstGeom prst="rect">
            <a:avLst/>
          </a:prstGeom>
          <a:solidFill>
            <a:schemeClr val="bg2"/>
          </a:solidFill>
          <a:ln>
            <a:noFill/>
          </a:ln>
        </p:spPr>
        <p:txBody>
          <a:bodyPr rtlCol="0" anchor="ctr"/>
          <a:lstStyle/>
          <a:p>
            <a:pPr algn="ctr"/>
            <a:endParaRPr lang="en-ZA" noProof="0" dirty="0"/>
          </a:p>
        </p:txBody>
      </p:sp>
      <p:sp>
        <p:nvSpPr>
          <p:cNvPr id="7" name="Number tile 1"/>
          <p:cNvSpPr/>
          <p:nvPr/>
        </p:nvSpPr>
        <p:spPr>
          <a:xfrm>
            <a:off x="731520" y="1783080"/>
            <a:ext cx="502920" cy="502920"/>
          </a:xfrm>
          <a:prstGeom prst="rect">
            <a:avLst/>
          </a:prstGeom>
          <a:solidFill>
            <a:schemeClr val="accent2"/>
          </a:solidFill>
          <a:ln>
            <a:noFill/>
          </a:ln>
        </p:spPr>
        <p:txBody>
          <a:bodyPr rtlCol="0" anchor="ctr"/>
          <a:lstStyle/>
          <a:p>
            <a:pPr algn="ctr"/>
            <a:endParaRPr lang="en-ZA" noProof="0" dirty="0"/>
          </a:p>
        </p:txBody>
      </p:sp>
      <p:sp>
        <p:nvSpPr>
          <p:cNvPr id="8" name="Number 1"/>
          <p:cNvSpPr txBox="1"/>
          <p:nvPr/>
        </p:nvSpPr>
        <p:spPr>
          <a:xfrm>
            <a:off x="731520" y="1783080"/>
            <a:ext cx="502920" cy="502920"/>
          </a:xfrm>
          <a:prstGeom prst="rect">
            <a:avLst/>
          </a:prstGeom>
          <a:noFill/>
        </p:spPr>
        <p:txBody>
          <a:bodyPr wrap="square" lIns="0" tIns="0" rIns="0" bIns="0" anchor="ctr">
            <a:noAutofit/>
          </a:bodyPr>
          <a:lstStyle/>
          <a:p>
            <a:pPr marL="0" indent="0" algn="ctr">
              <a:buNone/>
            </a:pPr>
            <a:r>
              <a:rPr lang="en-ZA" sz="2200" b="1" noProof="0" dirty="0">
                <a:solidFill>
                  <a:schemeClr val="bg1"/>
                </a:solidFill>
                <a:latin typeface="+mj-lt"/>
              </a:rPr>
              <a:t>1</a:t>
            </a:r>
          </a:p>
        </p:txBody>
      </p:sp>
      <p:sp>
        <p:nvSpPr>
          <p:cNvPr id="9" name="Step 1 heading"/>
          <p:cNvSpPr txBox="1"/>
          <p:nvPr/>
        </p:nvSpPr>
        <p:spPr>
          <a:xfrm>
            <a:off x="1371600" y="1783080"/>
            <a:ext cx="1158179" cy="502920"/>
          </a:xfrm>
          <a:prstGeom prst="rect">
            <a:avLst/>
          </a:prstGeom>
          <a:noFill/>
        </p:spPr>
        <p:txBody>
          <a:bodyPr wrap="square" lIns="0" tIns="0" rIns="0" bIns="0" anchor="ctr">
            <a:noAutofit/>
          </a:bodyPr>
          <a:lstStyle/>
          <a:p>
            <a:pPr marL="0" indent="0">
              <a:buNone/>
            </a:pPr>
            <a:r>
              <a:rPr lang="en-ZA" sz="1600" b="1" dirty="0">
                <a:solidFill>
                  <a:schemeClr val="tx2"/>
                </a:solidFill>
                <a:latin typeface="Century" panose="02040604050505020304" pitchFamily="18" charset="0"/>
              </a:rPr>
              <a:t>Clean</a:t>
            </a:r>
            <a:endParaRPr lang="en-ZA" sz="1600" b="1" noProof="0" dirty="0">
              <a:solidFill>
                <a:schemeClr val="tx2"/>
              </a:solidFill>
              <a:latin typeface="Century" panose="02040604050505020304" pitchFamily="18" charset="0"/>
            </a:endParaRPr>
          </a:p>
        </p:txBody>
      </p:sp>
      <p:sp>
        <p:nvSpPr>
          <p:cNvPr id="10" name="Step 1 text"/>
          <p:cNvSpPr txBox="1"/>
          <p:nvPr/>
        </p:nvSpPr>
        <p:spPr>
          <a:xfrm>
            <a:off x="731520" y="2446020"/>
            <a:ext cx="1798259" cy="1303020"/>
          </a:xfrm>
          <a:prstGeom prst="rect">
            <a:avLst/>
          </a:prstGeom>
          <a:noFill/>
        </p:spPr>
        <p:txBody>
          <a:bodyPr wrap="square" lIns="0" tIns="0" rIns="0" bIns="0" anchor="t">
            <a:noAutofit/>
          </a:bodyPr>
          <a:lstStyle/>
          <a:p>
            <a:r>
              <a:rPr lang="en-ZA" sz="1400" dirty="0">
                <a:latin typeface="Century" panose="02040604050505020304" pitchFamily="18" charset="0"/>
              </a:rPr>
              <a:t>We selected our 4 datasets and we cleaned by checking for duplicate values, treating outliers and much more.</a:t>
            </a:r>
          </a:p>
        </p:txBody>
      </p:sp>
      <p:sp>
        <p:nvSpPr>
          <p:cNvPr id="11" name="Step 2 card"/>
          <p:cNvSpPr/>
          <p:nvPr/>
        </p:nvSpPr>
        <p:spPr>
          <a:xfrm>
            <a:off x="2804099" y="1600200"/>
            <a:ext cx="2072579" cy="2286000"/>
          </a:xfrm>
          <a:prstGeom prst="rect">
            <a:avLst/>
          </a:prstGeom>
          <a:solidFill>
            <a:schemeClr val="bg2"/>
          </a:solidFill>
          <a:ln>
            <a:noFill/>
          </a:ln>
        </p:spPr>
        <p:txBody>
          <a:bodyPr rtlCol="0" anchor="ctr"/>
          <a:lstStyle/>
          <a:p>
            <a:pPr algn="ctr"/>
            <a:endParaRPr lang="en-ZA" noProof="0" dirty="0"/>
          </a:p>
        </p:txBody>
      </p:sp>
      <p:sp>
        <p:nvSpPr>
          <p:cNvPr id="12" name="Number tile 2"/>
          <p:cNvSpPr/>
          <p:nvPr/>
        </p:nvSpPr>
        <p:spPr>
          <a:xfrm>
            <a:off x="2986979" y="1783080"/>
            <a:ext cx="502920" cy="502920"/>
          </a:xfrm>
          <a:prstGeom prst="rect">
            <a:avLst/>
          </a:prstGeom>
          <a:solidFill>
            <a:schemeClr val="accent2"/>
          </a:solidFill>
          <a:ln>
            <a:noFill/>
          </a:ln>
        </p:spPr>
        <p:txBody>
          <a:bodyPr rtlCol="0" anchor="ctr"/>
          <a:lstStyle/>
          <a:p>
            <a:pPr algn="ctr"/>
            <a:endParaRPr lang="en-ZA" noProof="0" dirty="0"/>
          </a:p>
        </p:txBody>
      </p:sp>
      <p:sp>
        <p:nvSpPr>
          <p:cNvPr id="13" name="Number 2"/>
          <p:cNvSpPr txBox="1"/>
          <p:nvPr/>
        </p:nvSpPr>
        <p:spPr>
          <a:xfrm>
            <a:off x="2986979" y="1783080"/>
            <a:ext cx="502920" cy="502920"/>
          </a:xfrm>
          <a:prstGeom prst="rect">
            <a:avLst/>
          </a:prstGeom>
          <a:noFill/>
        </p:spPr>
        <p:txBody>
          <a:bodyPr wrap="square" lIns="0" tIns="0" rIns="0" bIns="0" anchor="ctr">
            <a:noAutofit/>
          </a:bodyPr>
          <a:lstStyle/>
          <a:p>
            <a:pPr marL="0" indent="0" algn="ctr">
              <a:buNone/>
            </a:pPr>
            <a:r>
              <a:rPr lang="en-ZA" sz="2200" b="1" noProof="0" dirty="0">
                <a:solidFill>
                  <a:schemeClr val="bg1"/>
                </a:solidFill>
                <a:latin typeface="+mj-lt"/>
              </a:rPr>
              <a:t>2</a:t>
            </a:r>
          </a:p>
        </p:txBody>
      </p:sp>
      <p:sp>
        <p:nvSpPr>
          <p:cNvPr id="14" name="Step 2 heading"/>
          <p:cNvSpPr txBox="1"/>
          <p:nvPr/>
        </p:nvSpPr>
        <p:spPr>
          <a:xfrm>
            <a:off x="3627059" y="1783080"/>
            <a:ext cx="1158179" cy="50292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Integrate</a:t>
            </a:r>
          </a:p>
        </p:txBody>
      </p:sp>
      <p:sp>
        <p:nvSpPr>
          <p:cNvPr id="15" name="Step 2 text"/>
          <p:cNvSpPr txBox="1"/>
          <p:nvPr/>
        </p:nvSpPr>
        <p:spPr>
          <a:xfrm>
            <a:off x="2986979" y="2446020"/>
            <a:ext cx="1798259" cy="1303020"/>
          </a:xfrm>
          <a:prstGeom prst="rect">
            <a:avLst/>
          </a:prstGeom>
          <a:noFill/>
        </p:spPr>
        <p:txBody>
          <a:bodyPr wrap="square" lIns="0" tIns="0" rIns="0" bIns="0" anchor="t">
            <a:noAutofit/>
          </a:bodyPr>
          <a:lstStyle/>
          <a:p>
            <a:r>
              <a:rPr lang="en-ZA" sz="1400" dirty="0">
                <a:latin typeface="Century" panose="02040604050505020304" pitchFamily="18" charset="0"/>
              </a:rPr>
              <a:t>Combining the Person ID and Household ID of all datasets to create a shared relationship</a:t>
            </a:r>
          </a:p>
        </p:txBody>
      </p:sp>
      <p:sp>
        <p:nvSpPr>
          <p:cNvPr id="16" name="Step 3 card"/>
          <p:cNvSpPr/>
          <p:nvPr/>
        </p:nvSpPr>
        <p:spPr>
          <a:xfrm>
            <a:off x="5059558" y="1600200"/>
            <a:ext cx="2072579" cy="2286000"/>
          </a:xfrm>
          <a:prstGeom prst="rect">
            <a:avLst/>
          </a:prstGeom>
          <a:solidFill>
            <a:schemeClr val="bg2"/>
          </a:solidFill>
          <a:ln>
            <a:noFill/>
          </a:ln>
        </p:spPr>
        <p:txBody>
          <a:bodyPr rtlCol="0" anchor="ctr"/>
          <a:lstStyle/>
          <a:p>
            <a:pPr algn="ctr"/>
            <a:endParaRPr lang="en-ZA" noProof="0" dirty="0"/>
          </a:p>
        </p:txBody>
      </p:sp>
      <p:sp>
        <p:nvSpPr>
          <p:cNvPr id="17" name="Number tile 3"/>
          <p:cNvSpPr/>
          <p:nvPr/>
        </p:nvSpPr>
        <p:spPr>
          <a:xfrm>
            <a:off x="5242438" y="1783080"/>
            <a:ext cx="502920" cy="502920"/>
          </a:xfrm>
          <a:prstGeom prst="rect">
            <a:avLst/>
          </a:prstGeom>
          <a:solidFill>
            <a:schemeClr val="accent2"/>
          </a:solidFill>
          <a:ln>
            <a:noFill/>
          </a:ln>
        </p:spPr>
        <p:txBody>
          <a:bodyPr rtlCol="0" anchor="ctr"/>
          <a:lstStyle/>
          <a:p>
            <a:pPr algn="ctr"/>
            <a:endParaRPr lang="en-ZA" noProof="0" dirty="0"/>
          </a:p>
        </p:txBody>
      </p:sp>
      <p:sp>
        <p:nvSpPr>
          <p:cNvPr id="18" name="Number 3"/>
          <p:cNvSpPr txBox="1"/>
          <p:nvPr/>
        </p:nvSpPr>
        <p:spPr>
          <a:xfrm>
            <a:off x="5242438" y="1783080"/>
            <a:ext cx="502920" cy="502920"/>
          </a:xfrm>
          <a:prstGeom prst="rect">
            <a:avLst/>
          </a:prstGeom>
          <a:noFill/>
        </p:spPr>
        <p:txBody>
          <a:bodyPr wrap="square" lIns="0" tIns="0" rIns="0" bIns="0" anchor="ctr">
            <a:noAutofit/>
          </a:bodyPr>
          <a:lstStyle/>
          <a:p>
            <a:pPr marL="0" indent="0" algn="ctr">
              <a:buNone/>
            </a:pPr>
            <a:r>
              <a:rPr lang="en-ZA" sz="2200" b="1" noProof="0" dirty="0">
                <a:solidFill>
                  <a:schemeClr val="bg1"/>
                </a:solidFill>
                <a:latin typeface="+mj-lt"/>
              </a:rPr>
              <a:t>3</a:t>
            </a:r>
          </a:p>
        </p:txBody>
      </p:sp>
      <p:sp>
        <p:nvSpPr>
          <p:cNvPr id="19" name="Step 3 heading"/>
          <p:cNvSpPr txBox="1"/>
          <p:nvPr/>
        </p:nvSpPr>
        <p:spPr>
          <a:xfrm>
            <a:off x="5882518" y="1783080"/>
            <a:ext cx="1158179" cy="50292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Transform</a:t>
            </a:r>
          </a:p>
        </p:txBody>
      </p:sp>
      <p:sp>
        <p:nvSpPr>
          <p:cNvPr id="20" name="Step 3 text"/>
          <p:cNvSpPr txBox="1"/>
          <p:nvPr/>
        </p:nvSpPr>
        <p:spPr>
          <a:xfrm>
            <a:off x="5242438" y="2446020"/>
            <a:ext cx="1798259" cy="1303020"/>
          </a:xfrm>
          <a:prstGeom prst="rect">
            <a:avLst/>
          </a:prstGeom>
          <a:noFill/>
        </p:spPr>
        <p:txBody>
          <a:bodyPr wrap="square" lIns="0" tIns="0" rIns="0" bIns="0" anchor="t">
            <a:noAutofit/>
          </a:bodyPr>
          <a:lstStyle/>
          <a:p>
            <a:pPr marL="0" indent="0">
              <a:buNone/>
            </a:pPr>
            <a:r>
              <a:rPr lang="en-ZA" sz="1400" dirty="0">
                <a:latin typeface="Century" panose="02040604050505020304" pitchFamily="18" charset="0"/>
              </a:rPr>
              <a:t>Scaling the data, Encoding it and grouping our data into, for example age groups. </a:t>
            </a:r>
            <a:endParaRPr lang="en-ZA" sz="1400" b="0" noProof="0" dirty="0">
              <a:solidFill>
                <a:schemeClr val="tx1"/>
              </a:solidFill>
              <a:latin typeface="Century" panose="02040604050505020304" pitchFamily="18" charset="0"/>
            </a:endParaRPr>
          </a:p>
        </p:txBody>
      </p:sp>
      <p:sp>
        <p:nvSpPr>
          <p:cNvPr id="21" name="Step 4 card"/>
          <p:cNvSpPr/>
          <p:nvPr/>
        </p:nvSpPr>
        <p:spPr>
          <a:xfrm>
            <a:off x="7315017" y="1600200"/>
            <a:ext cx="2072579" cy="2286000"/>
          </a:xfrm>
          <a:prstGeom prst="rect">
            <a:avLst/>
          </a:prstGeom>
          <a:solidFill>
            <a:schemeClr val="bg2"/>
          </a:solidFill>
          <a:ln>
            <a:noFill/>
          </a:ln>
        </p:spPr>
        <p:txBody>
          <a:bodyPr rtlCol="0" anchor="ctr"/>
          <a:lstStyle/>
          <a:p>
            <a:pPr algn="ctr"/>
            <a:endParaRPr lang="en-ZA" noProof="0" dirty="0"/>
          </a:p>
        </p:txBody>
      </p:sp>
      <p:sp>
        <p:nvSpPr>
          <p:cNvPr id="22" name="Number tile 4"/>
          <p:cNvSpPr/>
          <p:nvPr/>
        </p:nvSpPr>
        <p:spPr>
          <a:xfrm>
            <a:off x="7497897" y="1783080"/>
            <a:ext cx="502920" cy="502920"/>
          </a:xfrm>
          <a:prstGeom prst="rect">
            <a:avLst/>
          </a:prstGeom>
          <a:solidFill>
            <a:schemeClr val="accent2"/>
          </a:solidFill>
          <a:ln>
            <a:noFill/>
          </a:ln>
        </p:spPr>
        <p:txBody>
          <a:bodyPr rtlCol="0" anchor="ctr"/>
          <a:lstStyle/>
          <a:p>
            <a:pPr algn="ctr"/>
            <a:endParaRPr lang="en-ZA" noProof="0" dirty="0"/>
          </a:p>
        </p:txBody>
      </p:sp>
      <p:sp>
        <p:nvSpPr>
          <p:cNvPr id="23" name="Number 4"/>
          <p:cNvSpPr txBox="1"/>
          <p:nvPr/>
        </p:nvSpPr>
        <p:spPr>
          <a:xfrm>
            <a:off x="7497897" y="1783080"/>
            <a:ext cx="502920" cy="502920"/>
          </a:xfrm>
          <a:prstGeom prst="rect">
            <a:avLst/>
          </a:prstGeom>
          <a:noFill/>
        </p:spPr>
        <p:txBody>
          <a:bodyPr wrap="square" lIns="0" tIns="0" rIns="0" bIns="0" anchor="ctr">
            <a:noAutofit/>
          </a:bodyPr>
          <a:lstStyle/>
          <a:p>
            <a:pPr marL="0" indent="0" algn="ctr">
              <a:buNone/>
            </a:pPr>
            <a:r>
              <a:rPr lang="en-ZA" sz="2200" b="1" noProof="0" dirty="0">
                <a:solidFill>
                  <a:schemeClr val="bg1"/>
                </a:solidFill>
                <a:latin typeface="+mj-lt"/>
              </a:rPr>
              <a:t>4</a:t>
            </a:r>
          </a:p>
        </p:txBody>
      </p:sp>
      <p:sp>
        <p:nvSpPr>
          <p:cNvPr id="24" name="Step 4 heading"/>
          <p:cNvSpPr txBox="1"/>
          <p:nvPr/>
        </p:nvSpPr>
        <p:spPr>
          <a:xfrm>
            <a:off x="8137977" y="1783080"/>
            <a:ext cx="1158179" cy="50292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Engineer &amp; Reduce</a:t>
            </a:r>
          </a:p>
        </p:txBody>
      </p:sp>
      <p:sp>
        <p:nvSpPr>
          <p:cNvPr id="25" name="Step 4 text"/>
          <p:cNvSpPr txBox="1"/>
          <p:nvPr/>
        </p:nvSpPr>
        <p:spPr>
          <a:xfrm>
            <a:off x="7497897" y="2446020"/>
            <a:ext cx="1798259" cy="1303020"/>
          </a:xfrm>
          <a:prstGeom prst="rect">
            <a:avLst/>
          </a:prstGeom>
          <a:noFill/>
        </p:spPr>
        <p:txBody>
          <a:bodyPr wrap="square" lIns="0" tIns="0" rIns="0" bIns="0" anchor="t">
            <a:noAutofit/>
          </a:bodyPr>
          <a:lstStyle/>
          <a:p>
            <a:pPr marL="0" indent="0">
              <a:buNone/>
            </a:pPr>
            <a:r>
              <a:rPr lang="en-ZA" sz="1400" b="0" noProof="0" dirty="0">
                <a:solidFill>
                  <a:schemeClr val="tx1"/>
                </a:solidFill>
                <a:latin typeface="Century" panose="02040604050505020304" pitchFamily="18" charset="0"/>
              </a:rPr>
              <a:t>We created 24 features</a:t>
            </a:r>
            <a:r>
              <a:rPr lang="en-ZA" sz="1400" dirty="0">
                <a:latin typeface="Century" panose="02040604050505020304" pitchFamily="18" charset="0"/>
              </a:rPr>
              <a:t>, </a:t>
            </a:r>
            <a:r>
              <a:rPr lang="en-ZA" sz="1400" b="0" noProof="0" dirty="0">
                <a:solidFill>
                  <a:schemeClr val="tx1"/>
                </a:solidFill>
                <a:latin typeface="Century" panose="02040604050505020304" pitchFamily="18" charset="0"/>
              </a:rPr>
              <a:t>dropped several unimportant columns and filtered them according to age and if they work.</a:t>
            </a:r>
          </a:p>
        </p:txBody>
      </p:sp>
      <p:sp>
        <p:nvSpPr>
          <p:cNvPr id="26" name="Step 5 card"/>
          <p:cNvSpPr/>
          <p:nvPr/>
        </p:nvSpPr>
        <p:spPr>
          <a:xfrm>
            <a:off x="9570476" y="1600200"/>
            <a:ext cx="2072579" cy="2286000"/>
          </a:xfrm>
          <a:prstGeom prst="rect">
            <a:avLst/>
          </a:prstGeom>
          <a:solidFill>
            <a:schemeClr val="bg2"/>
          </a:solidFill>
          <a:ln>
            <a:noFill/>
          </a:ln>
        </p:spPr>
        <p:txBody>
          <a:bodyPr rtlCol="0" anchor="ctr"/>
          <a:lstStyle/>
          <a:p>
            <a:pPr algn="ctr"/>
            <a:endParaRPr lang="en-ZA" noProof="0" dirty="0"/>
          </a:p>
        </p:txBody>
      </p:sp>
      <p:sp>
        <p:nvSpPr>
          <p:cNvPr id="27" name="Number tile 5"/>
          <p:cNvSpPr/>
          <p:nvPr/>
        </p:nvSpPr>
        <p:spPr>
          <a:xfrm>
            <a:off x="9753356" y="1783080"/>
            <a:ext cx="502920" cy="502920"/>
          </a:xfrm>
          <a:prstGeom prst="rect">
            <a:avLst/>
          </a:prstGeom>
          <a:solidFill>
            <a:schemeClr val="accent2"/>
          </a:solidFill>
          <a:ln>
            <a:noFill/>
          </a:ln>
        </p:spPr>
        <p:txBody>
          <a:bodyPr rtlCol="0" anchor="ctr"/>
          <a:lstStyle/>
          <a:p>
            <a:pPr algn="ctr"/>
            <a:endParaRPr lang="en-ZA" noProof="0" dirty="0"/>
          </a:p>
        </p:txBody>
      </p:sp>
      <p:sp>
        <p:nvSpPr>
          <p:cNvPr id="28" name="Number 5"/>
          <p:cNvSpPr txBox="1"/>
          <p:nvPr/>
        </p:nvSpPr>
        <p:spPr>
          <a:xfrm>
            <a:off x="9753356" y="1783080"/>
            <a:ext cx="502920" cy="502920"/>
          </a:xfrm>
          <a:prstGeom prst="rect">
            <a:avLst/>
          </a:prstGeom>
          <a:noFill/>
        </p:spPr>
        <p:txBody>
          <a:bodyPr wrap="square" lIns="0" tIns="0" rIns="0" bIns="0" anchor="ctr">
            <a:noAutofit/>
          </a:bodyPr>
          <a:lstStyle/>
          <a:p>
            <a:pPr marL="0" indent="0" algn="ctr">
              <a:buNone/>
            </a:pPr>
            <a:r>
              <a:rPr lang="en-ZA" sz="2200" b="1" noProof="0" dirty="0">
                <a:solidFill>
                  <a:schemeClr val="bg1"/>
                </a:solidFill>
                <a:latin typeface="+mj-lt"/>
              </a:rPr>
              <a:t>5</a:t>
            </a:r>
          </a:p>
        </p:txBody>
      </p:sp>
      <p:sp>
        <p:nvSpPr>
          <p:cNvPr id="29" name="Step 5 heading"/>
          <p:cNvSpPr txBox="1"/>
          <p:nvPr/>
        </p:nvSpPr>
        <p:spPr>
          <a:xfrm>
            <a:off x="10393436" y="1783080"/>
            <a:ext cx="1158179" cy="50292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Split</a:t>
            </a:r>
          </a:p>
        </p:txBody>
      </p:sp>
      <p:sp>
        <p:nvSpPr>
          <p:cNvPr id="30" name="Step 5 text"/>
          <p:cNvSpPr txBox="1"/>
          <p:nvPr/>
        </p:nvSpPr>
        <p:spPr>
          <a:xfrm>
            <a:off x="9753356" y="2446020"/>
            <a:ext cx="1798259" cy="1303020"/>
          </a:xfrm>
          <a:prstGeom prst="rect">
            <a:avLst/>
          </a:prstGeom>
          <a:noFill/>
        </p:spPr>
        <p:txBody>
          <a:bodyPr wrap="square" lIns="0" tIns="0" rIns="0" bIns="0" anchor="t">
            <a:noAutofit/>
          </a:bodyPr>
          <a:lstStyle/>
          <a:p>
            <a:pPr marL="0" indent="0">
              <a:buNone/>
            </a:pPr>
            <a:r>
              <a:rPr lang="en-ZA" sz="1400" dirty="0">
                <a:latin typeface="Century" panose="02040604050505020304" pitchFamily="18" charset="0"/>
              </a:rPr>
              <a:t>We dropped all l</a:t>
            </a:r>
            <a:r>
              <a:rPr lang="en-ZA" sz="1400" b="0" noProof="0" dirty="0" err="1">
                <a:solidFill>
                  <a:schemeClr val="tx1"/>
                </a:solidFill>
                <a:latin typeface="Century" panose="02040604050505020304" pitchFamily="18" charset="0"/>
              </a:rPr>
              <a:t>eakage</a:t>
            </a:r>
            <a:r>
              <a:rPr lang="en-ZA" sz="1400" b="0" noProof="0" dirty="0">
                <a:solidFill>
                  <a:schemeClr val="tx1"/>
                </a:solidFill>
                <a:latin typeface="Century" panose="02040604050505020304" pitchFamily="18" charset="0"/>
              </a:rPr>
              <a:t> columns and created an 80/20 split by household with a fixed seed of 67.</a:t>
            </a:r>
          </a:p>
        </p:txBody>
      </p:sp>
      <p:sp>
        <p:nvSpPr>
          <p:cNvPr id="31" name="Record flow band"/>
          <p:cNvSpPr/>
          <p:nvPr/>
        </p:nvSpPr>
        <p:spPr>
          <a:xfrm>
            <a:off x="548640" y="4114800"/>
            <a:ext cx="11094415" cy="1828800"/>
          </a:xfrm>
          <a:prstGeom prst="rect">
            <a:avLst/>
          </a:prstGeom>
          <a:solidFill>
            <a:schemeClr val="tx2"/>
          </a:solidFill>
          <a:ln>
            <a:noFill/>
          </a:ln>
        </p:spPr>
        <p:txBody>
          <a:bodyPr rtlCol="0" anchor="ctr"/>
          <a:lstStyle/>
          <a:p>
            <a:pPr algn="ctr"/>
            <a:endParaRPr lang="en-ZA" noProof="0" dirty="0"/>
          </a:p>
        </p:txBody>
      </p:sp>
      <p:sp>
        <p:nvSpPr>
          <p:cNvPr id="32" name="Record flow label"/>
          <p:cNvSpPr txBox="1"/>
          <p:nvPr/>
        </p:nvSpPr>
        <p:spPr>
          <a:xfrm>
            <a:off x="868680" y="4343400"/>
            <a:ext cx="6400800" cy="228600"/>
          </a:xfrm>
          <a:prstGeom prst="rect">
            <a:avLst/>
          </a:prstGeom>
          <a:noFill/>
        </p:spPr>
        <p:txBody>
          <a:bodyPr wrap="square" lIns="0" tIns="0" rIns="0" bIns="0" anchor="ctr">
            <a:noAutofit/>
          </a:bodyPr>
          <a:lstStyle/>
          <a:p>
            <a:pPr marL="0" indent="0">
              <a:buNone/>
            </a:pPr>
            <a:r>
              <a:rPr lang="en-ZA" sz="1100" b="1" spc="200" noProof="0" dirty="0">
                <a:solidFill>
                  <a:schemeClr val="accent3"/>
                </a:solidFill>
                <a:latin typeface="Century" panose="02040604050505020304" pitchFamily="18" charset="0"/>
              </a:rPr>
              <a:t>FROM SURVEY FILES TO MODEL DATA</a:t>
            </a:r>
          </a:p>
        </p:txBody>
      </p:sp>
      <p:sp>
        <p:nvSpPr>
          <p:cNvPr id="33" name="Flow figure 1"/>
          <p:cNvSpPr txBox="1"/>
          <p:nvPr/>
        </p:nvSpPr>
        <p:spPr>
          <a:xfrm>
            <a:off x="868680" y="4663440"/>
            <a:ext cx="2110663" cy="548640"/>
          </a:xfrm>
          <a:prstGeom prst="rect">
            <a:avLst/>
          </a:prstGeom>
          <a:noFill/>
        </p:spPr>
        <p:txBody>
          <a:bodyPr wrap="square" lIns="0" tIns="0" rIns="0" bIns="0" anchor="ctr">
            <a:noAutofit/>
          </a:bodyPr>
          <a:lstStyle/>
          <a:p>
            <a:pPr marL="0" indent="0">
              <a:buNone/>
            </a:pPr>
            <a:r>
              <a:rPr lang="en-ZA" sz="3200" b="1" noProof="0" dirty="0">
                <a:solidFill>
                  <a:schemeClr val="bg1"/>
                </a:solidFill>
                <a:latin typeface="Century" panose="02040604050505020304" pitchFamily="18" charset="0"/>
              </a:rPr>
              <a:t>70,440</a:t>
            </a:r>
          </a:p>
        </p:txBody>
      </p:sp>
      <p:sp>
        <p:nvSpPr>
          <p:cNvPr id="34" name="Flow caption 1"/>
          <p:cNvSpPr txBox="1"/>
          <p:nvPr/>
        </p:nvSpPr>
        <p:spPr>
          <a:xfrm>
            <a:off x="868680" y="5257800"/>
            <a:ext cx="2110663" cy="59436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people in the cleaned survey files</a:t>
            </a:r>
          </a:p>
        </p:txBody>
      </p:sp>
      <p:sp>
        <p:nvSpPr>
          <p:cNvPr id="35" name="Flow arrow 1"/>
          <p:cNvSpPr/>
          <p:nvPr/>
        </p:nvSpPr>
        <p:spPr>
          <a:xfrm>
            <a:off x="3025063" y="4800600"/>
            <a:ext cx="228600" cy="274320"/>
          </a:xfrm>
          <a:prstGeom prst="chevron">
            <a:avLst/>
          </a:prstGeom>
          <a:solidFill>
            <a:schemeClr val="accent1"/>
          </a:solidFill>
          <a:ln>
            <a:noFill/>
          </a:ln>
        </p:spPr>
        <p:txBody>
          <a:bodyPr rtlCol="0" anchor="ctr"/>
          <a:lstStyle/>
          <a:p>
            <a:pPr algn="ctr"/>
            <a:endParaRPr lang="en-ZA" noProof="0" dirty="0"/>
          </a:p>
        </p:txBody>
      </p:sp>
      <p:sp>
        <p:nvSpPr>
          <p:cNvPr id="36" name="Flow figure 2"/>
          <p:cNvSpPr txBox="1"/>
          <p:nvPr/>
        </p:nvSpPr>
        <p:spPr>
          <a:xfrm>
            <a:off x="3482263" y="4663440"/>
            <a:ext cx="2110663" cy="548640"/>
          </a:xfrm>
          <a:prstGeom prst="rect">
            <a:avLst/>
          </a:prstGeom>
          <a:noFill/>
        </p:spPr>
        <p:txBody>
          <a:bodyPr wrap="square" lIns="0" tIns="0" rIns="0" bIns="0" anchor="ctr">
            <a:noAutofit/>
          </a:bodyPr>
          <a:lstStyle/>
          <a:p>
            <a:pPr marL="0" indent="0">
              <a:buNone/>
            </a:pPr>
            <a:r>
              <a:rPr lang="en-ZA" sz="3200" b="1" noProof="0" dirty="0">
                <a:solidFill>
                  <a:schemeClr val="bg1"/>
                </a:solidFill>
                <a:latin typeface="Century" panose="02040604050505020304" pitchFamily="18" charset="0"/>
              </a:rPr>
              <a:t>45,413</a:t>
            </a:r>
          </a:p>
        </p:txBody>
      </p:sp>
      <p:sp>
        <p:nvSpPr>
          <p:cNvPr id="37" name="Flow caption 2"/>
          <p:cNvSpPr txBox="1"/>
          <p:nvPr/>
        </p:nvSpPr>
        <p:spPr>
          <a:xfrm>
            <a:off x="3482263" y="5257800"/>
            <a:ext cx="2110663" cy="59436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of working age, 15 to 64</a:t>
            </a:r>
          </a:p>
        </p:txBody>
      </p:sp>
      <p:sp>
        <p:nvSpPr>
          <p:cNvPr id="38" name="Flow arrow 2"/>
          <p:cNvSpPr/>
          <p:nvPr/>
        </p:nvSpPr>
        <p:spPr>
          <a:xfrm>
            <a:off x="5638646" y="4800600"/>
            <a:ext cx="228600" cy="274320"/>
          </a:xfrm>
          <a:prstGeom prst="chevron">
            <a:avLst/>
          </a:prstGeom>
          <a:solidFill>
            <a:schemeClr val="accent1"/>
          </a:solidFill>
          <a:ln>
            <a:noFill/>
          </a:ln>
        </p:spPr>
        <p:txBody>
          <a:bodyPr rtlCol="0" anchor="ctr"/>
          <a:lstStyle/>
          <a:p>
            <a:pPr algn="ctr"/>
            <a:endParaRPr lang="en-ZA" noProof="0" dirty="0"/>
          </a:p>
        </p:txBody>
      </p:sp>
      <p:sp>
        <p:nvSpPr>
          <p:cNvPr id="39" name="Flow figure 3"/>
          <p:cNvSpPr txBox="1"/>
          <p:nvPr/>
        </p:nvSpPr>
        <p:spPr>
          <a:xfrm>
            <a:off x="6095846" y="4663440"/>
            <a:ext cx="2110663" cy="548640"/>
          </a:xfrm>
          <a:prstGeom prst="rect">
            <a:avLst/>
          </a:prstGeom>
          <a:noFill/>
        </p:spPr>
        <p:txBody>
          <a:bodyPr wrap="square" lIns="0" tIns="0" rIns="0" bIns="0" anchor="ctr">
            <a:noAutofit/>
          </a:bodyPr>
          <a:lstStyle/>
          <a:p>
            <a:pPr marL="0" indent="0">
              <a:buNone/>
            </a:pPr>
            <a:r>
              <a:rPr lang="en-ZA" sz="3200" b="1" noProof="0" dirty="0">
                <a:solidFill>
                  <a:schemeClr val="bg1"/>
                </a:solidFill>
                <a:latin typeface="Century" panose="02040604050505020304" pitchFamily="18" charset="0"/>
              </a:rPr>
              <a:t>28,742</a:t>
            </a:r>
          </a:p>
        </p:txBody>
      </p:sp>
      <p:sp>
        <p:nvSpPr>
          <p:cNvPr id="40" name="Flow caption 3"/>
          <p:cNvSpPr txBox="1"/>
          <p:nvPr/>
        </p:nvSpPr>
        <p:spPr>
          <a:xfrm>
            <a:off x="6095846" y="5257800"/>
            <a:ext cx="2110663" cy="59436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in the labour force: the model data</a:t>
            </a:r>
          </a:p>
        </p:txBody>
      </p:sp>
      <p:sp>
        <p:nvSpPr>
          <p:cNvPr id="41" name="Flow arrow 3"/>
          <p:cNvSpPr/>
          <p:nvPr/>
        </p:nvSpPr>
        <p:spPr>
          <a:xfrm>
            <a:off x="8252229" y="4800600"/>
            <a:ext cx="228600" cy="274320"/>
          </a:xfrm>
          <a:prstGeom prst="chevron">
            <a:avLst/>
          </a:prstGeom>
          <a:solidFill>
            <a:schemeClr val="accent1"/>
          </a:solidFill>
          <a:ln>
            <a:noFill/>
          </a:ln>
        </p:spPr>
        <p:txBody>
          <a:bodyPr rtlCol="0" anchor="ctr"/>
          <a:lstStyle/>
          <a:p>
            <a:pPr algn="ctr"/>
            <a:endParaRPr lang="en-ZA" noProof="0" dirty="0"/>
          </a:p>
        </p:txBody>
      </p:sp>
      <p:sp>
        <p:nvSpPr>
          <p:cNvPr id="42" name="Flow figure 4"/>
          <p:cNvSpPr txBox="1"/>
          <p:nvPr/>
        </p:nvSpPr>
        <p:spPr>
          <a:xfrm>
            <a:off x="8709429" y="4663440"/>
            <a:ext cx="2110663" cy="548640"/>
          </a:xfrm>
          <a:prstGeom prst="rect">
            <a:avLst/>
          </a:prstGeom>
          <a:noFill/>
        </p:spPr>
        <p:txBody>
          <a:bodyPr wrap="square" lIns="0" tIns="0" rIns="0" bIns="0" anchor="ctr">
            <a:noAutofit/>
          </a:bodyPr>
          <a:lstStyle/>
          <a:p>
            <a:pPr marL="0" indent="0">
              <a:buNone/>
            </a:pPr>
            <a:r>
              <a:rPr lang="en-ZA" sz="3200" b="1" noProof="0" dirty="0">
                <a:solidFill>
                  <a:schemeClr val="bg1"/>
                </a:solidFill>
                <a:latin typeface="Century" panose="02040604050505020304" pitchFamily="18" charset="0"/>
              </a:rPr>
              <a:t>80 / 20</a:t>
            </a:r>
          </a:p>
        </p:txBody>
      </p:sp>
      <p:sp>
        <p:nvSpPr>
          <p:cNvPr id="43" name="Flow caption 4"/>
          <p:cNvSpPr txBox="1"/>
          <p:nvPr/>
        </p:nvSpPr>
        <p:spPr>
          <a:xfrm>
            <a:off x="8709429" y="5257800"/>
            <a:ext cx="2110663" cy="59436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train / test split, by household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dirty="0"/>
              <a:t>Crisp-DM: </a:t>
            </a:r>
            <a:r>
              <a:rPr lang="en-ZA" noProof="0" dirty="0"/>
              <a:t>Modelling</a:t>
            </a:r>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6</a:t>
            </a:fld>
            <a:endParaRPr lang="en-ZA" noProof="0" dirty="0"/>
          </a:p>
        </p:txBody>
      </p:sp>
      <p:pic>
        <p:nvPicPr>
          <p:cNvPr id="5" name="Corner motif" descr="Decorative block motif"/>
          <p:cNvPicPr>
            <a:picLocks noChangeAspect="1"/>
          </p:cNvPicPr>
          <p:nvPr/>
        </p:nvPicPr>
        <p:blipFill>
          <a:blip r:embed="rId3"/>
          <a:stretch>
            <a:fillRect/>
          </a:stretch>
        </p:blipFill>
        <p:spPr>
          <a:xfrm rot="5400000">
            <a:off x="11158423" y="603504"/>
            <a:ext cx="484632" cy="484632"/>
          </a:xfrm>
          <a:prstGeom prst="rect">
            <a:avLst/>
          </a:prstGeom>
        </p:spPr>
      </p:pic>
      <p:sp>
        <p:nvSpPr>
          <p:cNvPr id="6" name="Model row: Survey-weighted logistic regression"/>
          <p:cNvSpPr/>
          <p:nvPr/>
        </p:nvSpPr>
        <p:spPr>
          <a:xfrm>
            <a:off x="548640" y="1600200"/>
            <a:ext cx="6583680" cy="868680"/>
          </a:xfrm>
          <a:prstGeom prst="rect">
            <a:avLst/>
          </a:prstGeom>
          <a:solidFill>
            <a:schemeClr val="bg2"/>
          </a:solidFill>
          <a:ln>
            <a:noFill/>
          </a:ln>
        </p:spPr>
        <p:txBody>
          <a:bodyPr rtlCol="0" anchor="ctr"/>
          <a:lstStyle/>
          <a:p>
            <a:pPr algn="ctr"/>
            <a:endParaRPr lang="en-ZA" noProof="0" dirty="0"/>
          </a:p>
        </p:txBody>
      </p:sp>
      <p:sp>
        <p:nvSpPr>
          <p:cNvPr id="7" name="Icon tile: scale"/>
          <p:cNvSpPr/>
          <p:nvPr/>
        </p:nvSpPr>
        <p:spPr>
          <a:xfrm>
            <a:off x="548640" y="1600200"/>
            <a:ext cx="868680" cy="868680"/>
          </a:xfrm>
          <a:prstGeom prst="rect">
            <a:avLst/>
          </a:prstGeom>
          <a:solidFill>
            <a:schemeClr val="accent2"/>
          </a:solidFill>
          <a:ln>
            <a:noFill/>
          </a:ln>
        </p:spPr>
        <p:txBody>
          <a:bodyPr rtlCol="0" anchor="ctr"/>
          <a:lstStyle/>
          <a:p>
            <a:pPr algn="ctr"/>
            <a:endParaRPr lang="en-ZA" noProof="0" dirty="0"/>
          </a:p>
        </p:txBody>
      </p:sp>
      <p:pic>
        <p:nvPicPr>
          <p:cNvPr id="8" name="Icon: scale" descr="scale icon"/>
          <p:cNvPicPr>
            <a:picLocks noChangeAspect="1"/>
          </p:cNvPicPr>
          <p:nvPr/>
        </p:nvPicPr>
        <p:blipFill>
          <a:blip r:embed="rId4"/>
          <a:stretch>
            <a:fillRect/>
          </a:stretch>
        </p:blipFill>
        <p:spPr>
          <a:xfrm>
            <a:off x="765810" y="1817370"/>
            <a:ext cx="434340" cy="434340"/>
          </a:xfrm>
          <a:prstGeom prst="rect">
            <a:avLst/>
          </a:prstGeom>
        </p:spPr>
      </p:pic>
      <p:sp>
        <p:nvSpPr>
          <p:cNvPr id="9" name="Model 1 name"/>
          <p:cNvSpPr txBox="1"/>
          <p:nvPr/>
        </p:nvSpPr>
        <p:spPr>
          <a:xfrm>
            <a:off x="1691640" y="1719072"/>
            <a:ext cx="3886200" cy="32004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Survey-weighted logistic regression</a:t>
            </a:r>
          </a:p>
        </p:txBody>
      </p:sp>
      <p:sp>
        <p:nvSpPr>
          <p:cNvPr id="10" name="Model 1 role"/>
          <p:cNvSpPr txBox="1"/>
          <p:nvPr/>
        </p:nvSpPr>
        <p:spPr>
          <a:xfrm>
            <a:off x="1691640" y="2057400"/>
            <a:ext cx="3886200" cy="292608"/>
          </a:xfrm>
          <a:prstGeom prst="rect">
            <a:avLst/>
          </a:prstGeom>
          <a:noFill/>
        </p:spPr>
        <p:txBody>
          <a:bodyPr wrap="square" lIns="0" tIns="0" rIns="0" bIns="0" anchor="ctr">
            <a:noAutofit/>
          </a:bodyPr>
          <a:lstStyle/>
          <a:p>
            <a:pPr marL="0" indent="0">
              <a:buNone/>
            </a:pPr>
            <a:r>
              <a:rPr lang="en-ZA" sz="1300" b="0" noProof="0" dirty="0">
                <a:solidFill>
                  <a:schemeClr val="tx1"/>
                </a:solidFill>
                <a:latin typeface="Century" panose="02040604050505020304" pitchFamily="18" charset="0"/>
              </a:rPr>
              <a:t>Estimates the interaction as an odds ratio</a:t>
            </a:r>
          </a:p>
        </p:txBody>
      </p:sp>
      <p:sp>
        <p:nvSpPr>
          <p:cNvPr id="11" name="Model 1 tag"/>
          <p:cNvSpPr txBox="1"/>
          <p:nvPr/>
        </p:nvSpPr>
        <p:spPr>
          <a:xfrm>
            <a:off x="5577840" y="1920240"/>
            <a:ext cx="1417320" cy="228600"/>
          </a:xfrm>
          <a:prstGeom prst="rect">
            <a:avLst/>
          </a:prstGeom>
          <a:noFill/>
        </p:spPr>
        <p:txBody>
          <a:bodyPr wrap="square" lIns="0" tIns="0" rIns="0" bIns="0" anchor="ctr">
            <a:noAutofit/>
          </a:bodyPr>
          <a:lstStyle/>
          <a:p>
            <a:pPr marL="0" indent="0" algn="r">
              <a:buNone/>
            </a:pPr>
            <a:r>
              <a:rPr lang="en-ZA" sz="1100" b="1" spc="200" noProof="0" dirty="0">
                <a:solidFill>
                  <a:schemeClr val="tx2"/>
                </a:solidFill>
                <a:latin typeface="Century" panose="02040604050505020304" pitchFamily="18" charset="0"/>
              </a:rPr>
              <a:t>MAIN MODEL</a:t>
            </a:r>
          </a:p>
        </p:txBody>
      </p:sp>
      <p:sp>
        <p:nvSpPr>
          <p:cNvPr id="12" name="Model row: Decision tree"/>
          <p:cNvSpPr/>
          <p:nvPr/>
        </p:nvSpPr>
        <p:spPr>
          <a:xfrm>
            <a:off x="548640" y="2758440"/>
            <a:ext cx="6583680" cy="868680"/>
          </a:xfrm>
          <a:prstGeom prst="rect">
            <a:avLst/>
          </a:prstGeom>
          <a:solidFill>
            <a:schemeClr val="bg2"/>
          </a:solidFill>
          <a:ln>
            <a:noFill/>
          </a:ln>
        </p:spPr>
        <p:txBody>
          <a:bodyPr rtlCol="0" anchor="ctr"/>
          <a:lstStyle/>
          <a:p>
            <a:pPr algn="ctr"/>
            <a:endParaRPr lang="en-ZA" noProof="0" dirty="0"/>
          </a:p>
        </p:txBody>
      </p:sp>
      <p:sp>
        <p:nvSpPr>
          <p:cNvPr id="13" name="Icon tile: tree"/>
          <p:cNvSpPr/>
          <p:nvPr/>
        </p:nvSpPr>
        <p:spPr>
          <a:xfrm>
            <a:off x="548640" y="2758440"/>
            <a:ext cx="868680" cy="868680"/>
          </a:xfrm>
          <a:prstGeom prst="rect">
            <a:avLst/>
          </a:prstGeom>
          <a:solidFill>
            <a:schemeClr val="accent1"/>
          </a:solidFill>
          <a:ln>
            <a:noFill/>
          </a:ln>
        </p:spPr>
        <p:txBody>
          <a:bodyPr rtlCol="0" anchor="ctr"/>
          <a:lstStyle/>
          <a:p>
            <a:pPr algn="ctr"/>
            <a:endParaRPr lang="en-ZA" noProof="0" dirty="0"/>
          </a:p>
        </p:txBody>
      </p:sp>
      <p:pic>
        <p:nvPicPr>
          <p:cNvPr id="14" name="Icon: tree" descr="tree icon"/>
          <p:cNvPicPr>
            <a:picLocks noChangeAspect="1"/>
          </p:cNvPicPr>
          <p:nvPr/>
        </p:nvPicPr>
        <p:blipFill>
          <a:blip r:embed="rId5"/>
          <a:stretch>
            <a:fillRect/>
          </a:stretch>
        </p:blipFill>
        <p:spPr>
          <a:xfrm>
            <a:off x="765810" y="2975610"/>
            <a:ext cx="434340" cy="434340"/>
          </a:xfrm>
          <a:prstGeom prst="rect">
            <a:avLst/>
          </a:prstGeom>
        </p:spPr>
      </p:pic>
      <p:sp>
        <p:nvSpPr>
          <p:cNvPr id="15" name="Model 2 name"/>
          <p:cNvSpPr txBox="1"/>
          <p:nvPr/>
        </p:nvSpPr>
        <p:spPr>
          <a:xfrm>
            <a:off x="1691640" y="2877312"/>
            <a:ext cx="3886200" cy="32004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Decision tree</a:t>
            </a:r>
          </a:p>
        </p:txBody>
      </p:sp>
      <p:sp>
        <p:nvSpPr>
          <p:cNvPr id="16" name="Model 2 role"/>
          <p:cNvSpPr txBox="1"/>
          <p:nvPr/>
        </p:nvSpPr>
        <p:spPr>
          <a:xfrm>
            <a:off x="1691640" y="3215640"/>
            <a:ext cx="3886200" cy="292608"/>
          </a:xfrm>
          <a:prstGeom prst="rect">
            <a:avLst/>
          </a:prstGeom>
          <a:noFill/>
        </p:spPr>
        <p:txBody>
          <a:bodyPr wrap="square" lIns="0" tIns="0" rIns="0" bIns="0" anchor="ctr">
            <a:noAutofit/>
          </a:bodyPr>
          <a:lstStyle/>
          <a:p>
            <a:pPr marL="0" indent="0">
              <a:buNone/>
            </a:pPr>
            <a:r>
              <a:rPr lang="en-ZA" sz="1300" b="0" noProof="0" dirty="0">
                <a:solidFill>
                  <a:schemeClr val="tx1"/>
                </a:solidFill>
                <a:latin typeface="Century" panose="02040604050505020304" pitchFamily="18" charset="0"/>
              </a:rPr>
              <a:t>Readable if-then rules</a:t>
            </a:r>
            <a:r>
              <a:rPr lang="en-ZA" sz="1300" dirty="0">
                <a:latin typeface="Century" panose="02040604050505020304" pitchFamily="18" charset="0"/>
              </a:rPr>
              <a:t> and</a:t>
            </a:r>
            <a:r>
              <a:rPr lang="en-ZA" sz="1300" b="0" noProof="0" dirty="0">
                <a:solidFill>
                  <a:schemeClr val="tx1"/>
                </a:solidFill>
                <a:latin typeface="Century" panose="02040604050505020304" pitchFamily="18" charset="0"/>
              </a:rPr>
              <a:t> finds interactions itself</a:t>
            </a:r>
          </a:p>
        </p:txBody>
      </p:sp>
      <p:sp>
        <p:nvSpPr>
          <p:cNvPr id="17" name="Model 2 tag"/>
          <p:cNvSpPr txBox="1"/>
          <p:nvPr/>
        </p:nvSpPr>
        <p:spPr>
          <a:xfrm>
            <a:off x="5577840" y="3078480"/>
            <a:ext cx="1417320" cy="228600"/>
          </a:xfrm>
          <a:prstGeom prst="rect">
            <a:avLst/>
          </a:prstGeom>
          <a:noFill/>
        </p:spPr>
        <p:txBody>
          <a:bodyPr wrap="square" lIns="0" tIns="0" rIns="0" bIns="0" anchor="ctr">
            <a:noAutofit/>
          </a:bodyPr>
          <a:lstStyle/>
          <a:p>
            <a:pPr marL="0" indent="0" algn="r">
              <a:buNone/>
            </a:pPr>
            <a:r>
              <a:rPr lang="en-ZA" sz="1100" b="1" spc="200" noProof="0" dirty="0">
                <a:solidFill>
                  <a:schemeClr val="tx2"/>
                </a:solidFill>
                <a:latin typeface="Century" panose="02040604050505020304" pitchFamily="18" charset="0"/>
              </a:rPr>
              <a:t>CHECK</a:t>
            </a:r>
          </a:p>
        </p:txBody>
      </p:sp>
      <p:sp>
        <p:nvSpPr>
          <p:cNvPr id="18" name="Model row: Random forest"/>
          <p:cNvSpPr/>
          <p:nvPr/>
        </p:nvSpPr>
        <p:spPr>
          <a:xfrm>
            <a:off x="548640" y="3916680"/>
            <a:ext cx="6583680" cy="868680"/>
          </a:xfrm>
          <a:prstGeom prst="rect">
            <a:avLst/>
          </a:prstGeom>
          <a:solidFill>
            <a:schemeClr val="bg2"/>
          </a:solidFill>
          <a:ln>
            <a:noFill/>
          </a:ln>
        </p:spPr>
        <p:txBody>
          <a:bodyPr rtlCol="0" anchor="ctr"/>
          <a:lstStyle/>
          <a:p>
            <a:pPr algn="ctr"/>
            <a:endParaRPr lang="en-ZA" noProof="0" dirty="0"/>
          </a:p>
        </p:txBody>
      </p:sp>
      <p:sp>
        <p:nvSpPr>
          <p:cNvPr id="19" name="Icon tile: forest"/>
          <p:cNvSpPr/>
          <p:nvPr/>
        </p:nvSpPr>
        <p:spPr>
          <a:xfrm>
            <a:off x="548640" y="3916680"/>
            <a:ext cx="868680" cy="868680"/>
          </a:xfrm>
          <a:prstGeom prst="rect">
            <a:avLst/>
          </a:prstGeom>
          <a:solidFill>
            <a:schemeClr val="accent3"/>
          </a:solidFill>
          <a:ln>
            <a:noFill/>
          </a:ln>
        </p:spPr>
        <p:txBody>
          <a:bodyPr rtlCol="0" anchor="ctr"/>
          <a:lstStyle/>
          <a:p>
            <a:pPr algn="ctr"/>
            <a:endParaRPr lang="en-ZA" noProof="0" dirty="0"/>
          </a:p>
        </p:txBody>
      </p:sp>
      <p:pic>
        <p:nvPicPr>
          <p:cNvPr id="20" name="Icon: forest" descr="forest icon"/>
          <p:cNvPicPr>
            <a:picLocks noChangeAspect="1"/>
          </p:cNvPicPr>
          <p:nvPr/>
        </p:nvPicPr>
        <p:blipFill>
          <a:blip r:embed="rId6"/>
          <a:stretch>
            <a:fillRect/>
          </a:stretch>
        </p:blipFill>
        <p:spPr>
          <a:xfrm>
            <a:off x="765810" y="4133850"/>
            <a:ext cx="434340" cy="434340"/>
          </a:xfrm>
          <a:prstGeom prst="rect">
            <a:avLst/>
          </a:prstGeom>
        </p:spPr>
      </p:pic>
      <p:sp>
        <p:nvSpPr>
          <p:cNvPr id="21" name="Model 3 name"/>
          <p:cNvSpPr txBox="1"/>
          <p:nvPr/>
        </p:nvSpPr>
        <p:spPr>
          <a:xfrm>
            <a:off x="1691640" y="4035552"/>
            <a:ext cx="3886200" cy="32004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Random forest</a:t>
            </a:r>
          </a:p>
        </p:txBody>
      </p:sp>
      <p:sp>
        <p:nvSpPr>
          <p:cNvPr id="22" name="Model 3 role"/>
          <p:cNvSpPr txBox="1"/>
          <p:nvPr/>
        </p:nvSpPr>
        <p:spPr>
          <a:xfrm>
            <a:off x="1691640" y="4373880"/>
            <a:ext cx="3886200" cy="292608"/>
          </a:xfrm>
          <a:prstGeom prst="rect">
            <a:avLst/>
          </a:prstGeom>
          <a:noFill/>
        </p:spPr>
        <p:txBody>
          <a:bodyPr wrap="square" lIns="0" tIns="0" rIns="0" bIns="0" anchor="ctr">
            <a:noAutofit/>
          </a:bodyPr>
          <a:lstStyle/>
          <a:p>
            <a:pPr marL="0" indent="0">
              <a:buNone/>
            </a:pPr>
            <a:r>
              <a:rPr lang="en-ZA" sz="1300" b="0" noProof="0" dirty="0">
                <a:solidFill>
                  <a:schemeClr val="tx1"/>
                </a:solidFill>
                <a:latin typeface="Century" panose="02040604050505020304" pitchFamily="18" charset="0"/>
              </a:rPr>
              <a:t>Flexible benchmark for predictive power</a:t>
            </a:r>
          </a:p>
        </p:txBody>
      </p:sp>
      <p:sp>
        <p:nvSpPr>
          <p:cNvPr id="23" name="Model 3 tag"/>
          <p:cNvSpPr txBox="1"/>
          <p:nvPr/>
        </p:nvSpPr>
        <p:spPr>
          <a:xfrm>
            <a:off x="5577840" y="4236720"/>
            <a:ext cx="1417320" cy="228600"/>
          </a:xfrm>
          <a:prstGeom prst="rect">
            <a:avLst/>
          </a:prstGeom>
          <a:noFill/>
        </p:spPr>
        <p:txBody>
          <a:bodyPr wrap="square" lIns="0" tIns="0" rIns="0" bIns="0" anchor="ctr">
            <a:noAutofit/>
          </a:bodyPr>
          <a:lstStyle/>
          <a:p>
            <a:pPr marL="0" indent="0" algn="r">
              <a:buNone/>
            </a:pPr>
            <a:r>
              <a:rPr lang="en-ZA" sz="1100" b="1" spc="200" noProof="0" dirty="0">
                <a:solidFill>
                  <a:schemeClr val="tx2"/>
                </a:solidFill>
                <a:latin typeface="Century" panose="02040604050505020304" pitchFamily="18" charset="0"/>
              </a:rPr>
              <a:t>BENCHMARK</a:t>
            </a:r>
          </a:p>
        </p:txBody>
      </p:sp>
      <p:sp>
        <p:nvSpPr>
          <p:cNvPr id="24" name="Model row: Demographics-only baseline"/>
          <p:cNvSpPr/>
          <p:nvPr/>
        </p:nvSpPr>
        <p:spPr>
          <a:xfrm>
            <a:off x="548640" y="5074920"/>
            <a:ext cx="6583680" cy="868680"/>
          </a:xfrm>
          <a:prstGeom prst="rect">
            <a:avLst/>
          </a:prstGeom>
          <a:solidFill>
            <a:schemeClr val="bg2"/>
          </a:solidFill>
          <a:ln>
            <a:noFill/>
          </a:ln>
        </p:spPr>
        <p:txBody>
          <a:bodyPr rtlCol="0" anchor="ctr"/>
          <a:lstStyle/>
          <a:p>
            <a:pPr algn="ctr"/>
            <a:endParaRPr lang="en-ZA" noProof="0" dirty="0"/>
          </a:p>
        </p:txBody>
      </p:sp>
      <p:sp>
        <p:nvSpPr>
          <p:cNvPr id="25" name="Icon tile: users"/>
          <p:cNvSpPr/>
          <p:nvPr/>
        </p:nvSpPr>
        <p:spPr>
          <a:xfrm>
            <a:off x="548640" y="5074920"/>
            <a:ext cx="868680" cy="868680"/>
          </a:xfrm>
          <a:prstGeom prst="rect">
            <a:avLst/>
          </a:prstGeom>
          <a:solidFill>
            <a:schemeClr val="tx2"/>
          </a:solidFill>
          <a:ln>
            <a:noFill/>
          </a:ln>
        </p:spPr>
        <p:txBody>
          <a:bodyPr rtlCol="0" anchor="ctr"/>
          <a:lstStyle/>
          <a:p>
            <a:pPr algn="ctr"/>
            <a:endParaRPr lang="en-ZA" noProof="0" dirty="0"/>
          </a:p>
        </p:txBody>
      </p:sp>
      <p:pic>
        <p:nvPicPr>
          <p:cNvPr id="26" name="Icon: users" descr="users icon"/>
          <p:cNvPicPr>
            <a:picLocks noChangeAspect="1"/>
          </p:cNvPicPr>
          <p:nvPr/>
        </p:nvPicPr>
        <p:blipFill>
          <a:blip r:embed="rId7"/>
          <a:stretch>
            <a:fillRect/>
          </a:stretch>
        </p:blipFill>
        <p:spPr>
          <a:xfrm>
            <a:off x="765810" y="5292090"/>
            <a:ext cx="434340" cy="434340"/>
          </a:xfrm>
          <a:prstGeom prst="rect">
            <a:avLst/>
          </a:prstGeom>
        </p:spPr>
      </p:pic>
      <p:sp>
        <p:nvSpPr>
          <p:cNvPr id="27" name="Model 4 name"/>
          <p:cNvSpPr txBox="1"/>
          <p:nvPr/>
        </p:nvSpPr>
        <p:spPr>
          <a:xfrm>
            <a:off x="1691640" y="5193792"/>
            <a:ext cx="3886200" cy="32004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Demographics-only baseline</a:t>
            </a:r>
          </a:p>
        </p:txBody>
      </p:sp>
      <p:sp>
        <p:nvSpPr>
          <p:cNvPr id="28" name="Model 4 role"/>
          <p:cNvSpPr txBox="1"/>
          <p:nvPr/>
        </p:nvSpPr>
        <p:spPr>
          <a:xfrm>
            <a:off x="1691640" y="5532120"/>
            <a:ext cx="3886200" cy="292608"/>
          </a:xfrm>
          <a:prstGeom prst="rect">
            <a:avLst/>
          </a:prstGeom>
          <a:noFill/>
        </p:spPr>
        <p:txBody>
          <a:bodyPr wrap="square" lIns="0" tIns="0" rIns="0" bIns="0" anchor="ctr">
            <a:noAutofit/>
          </a:bodyPr>
          <a:lstStyle/>
          <a:p>
            <a:pPr marL="0" indent="0">
              <a:buNone/>
            </a:pPr>
            <a:r>
              <a:rPr lang="en-ZA" sz="1300" b="0" noProof="0" dirty="0">
                <a:solidFill>
                  <a:schemeClr val="tx1"/>
                </a:solidFill>
                <a:latin typeface="Century" panose="02040604050505020304" pitchFamily="18" charset="0"/>
              </a:rPr>
              <a:t>Age, sex, group and location: the bar to beat</a:t>
            </a:r>
          </a:p>
        </p:txBody>
      </p:sp>
      <p:sp>
        <p:nvSpPr>
          <p:cNvPr id="29" name="Model 4 tag"/>
          <p:cNvSpPr txBox="1"/>
          <p:nvPr/>
        </p:nvSpPr>
        <p:spPr>
          <a:xfrm>
            <a:off x="5577840" y="5394960"/>
            <a:ext cx="1417320" cy="228600"/>
          </a:xfrm>
          <a:prstGeom prst="rect">
            <a:avLst/>
          </a:prstGeom>
          <a:noFill/>
        </p:spPr>
        <p:txBody>
          <a:bodyPr wrap="square" lIns="0" tIns="0" rIns="0" bIns="0" anchor="ctr">
            <a:noAutofit/>
          </a:bodyPr>
          <a:lstStyle/>
          <a:p>
            <a:pPr marL="0" indent="0" algn="r">
              <a:buNone/>
            </a:pPr>
            <a:r>
              <a:rPr lang="en-ZA" sz="1100" b="1" spc="200" noProof="0" dirty="0">
                <a:solidFill>
                  <a:schemeClr val="tx2"/>
                </a:solidFill>
                <a:latin typeface="Century" panose="02040604050505020304" pitchFamily="18" charset="0"/>
              </a:rPr>
              <a:t>BASELINE</a:t>
            </a:r>
          </a:p>
        </p:txBody>
      </p:sp>
      <p:sp>
        <p:nvSpPr>
          <p:cNvPr id="30" name="Validation design panel"/>
          <p:cNvSpPr/>
          <p:nvPr/>
        </p:nvSpPr>
        <p:spPr>
          <a:xfrm>
            <a:off x="7498080" y="1600200"/>
            <a:ext cx="4144975" cy="4343400"/>
          </a:xfrm>
          <a:prstGeom prst="rect">
            <a:avLst/>
          </a:prstGeom>
          <a:solidFill>
            <a:schemeClr val="tx2"/>
          </a:solidFill>
          <a:ln>
            <a:noFill/>
          </a:ln>
        </p:spPr>
        <p:txBody>
          <a:bodyPr rtlCol="0" anchor="ctr"/>
          <a:lstStyle/>
          <a:p>
            <a:pPr algn="ctr"/>
            <a:endParaRPr lang="en-ZA" noProof="0" dirty="0"/>
          </a:p>
        </p:txBody>
      </p:sp>
      <p:sp>
        <p:nvSpPr>
          <p:cNvPr id="31" name="Validation design panel label"/>
          <p:cNvSpPr txBox="1"/>
          <p:nvPr/>
        </p:nvSpPr>
        <p:spPr>
          <a:xfrm>
            <a:off x="7818120" y="1874520"/>
            <a:ext cx="3504895" cy="228600"/>
          </a:xfrm>
          <a:prstGeom prst="rect">
            <a:avLst/>
          </a:prstGeom>
          <a:noFill/>
        </p:spPr>
        <p:txBody>
          <a:bodyPr wrap="square" lIns="0" tIns="0" rIns="0" bIns="0" anchor="ctr">
            <a:noAutofit/>
          </a:bodyPr>
          <a:lstStyle/>
          <a:p>
            <a:pPr marL="0" indent="0">
              <a:buNone/>
            </a:pPr>
            <a:r>
              <a:rPr lang="en-ZA" sz="1100" b="1" spc="200" noProof="0" dirty="0">
                <a:solidFill>
                  <a:schemeClr val="accent3"/>
                </a:solidFill>
                <a:latin typeface="Century" panose="02040604050505020304" pitchFamily="18" charset="0"/>
              </a:rPr>
              <a:t>VALIDATION DESIGN</a:t>
            </a:r>
          </a:p>
        </p:txBody>
      </p:sp>
      <p:sp>
        <p:nvSpPr>
          <p:cNvPr id="32" name="Validation design points"/>
          <p:cNvSpPr txBox="1"/>
          <p:nvPr/>
        </p:nvSpPr>
        <p:spPr>
          <a:xfrm>
            <a:off x="7818120" y="2286000"/>
            <a:ext cx="3504895" cy="3429000"/>
          </a:xfrm>
          <a:prstGeom prst="rect">
            <a:avLst/>
          </a:prstGeom>
          <a:noFill/>
        </p:spPr>
        <p:txBody>
          <a:bodyPr wrap="square" lIns="0" tIns="0" rIns="0" bIns="0" anchor="t">
            <a:noAutofit/>
          </a:bodyPr>
          <a:lstStyle/>
          <a:p>
            <a:pPr marL="228600" indent="-228600">
              <a:spcAft>
                <a:spcPts val="1100"/>
              </a:spcAft>
              <a:buSzPct val="100000"/>
              <a:buFont typeface="Arial"/>
              <a:buChar char="•"/>
            </a:pPr>
            <a:r>
              <a:rPr lang="en-ZA" sz="1400" b="0" noProof="0" dirty="0">
                <a:solidFill>
                  <a:schemeClr val="bg1"/>
                </a:solidFill>
                <a:latin typeface="Century" panose="02040604050505020304" pitchFamily="18" charset="0"/>
              </a:rPr>
              <a:t>For a fair comparison we tested the same 15 predictors</a:t>
            </a:r>
            <a:r>
              <a:rPr lang="en-ZA" sz="1400" dirty="0">
                <a:solidFill>
                  <a:schemeClr val="bg1"/>
                </a:solidFill>
                <a:latin typeface="Century" panose="02040604050505020304" pitchFamily="18" charset="0"/>
              </a:rPr>
              <a:t>. </a:t>
            </a:r>
            <a:r>
              <a:rPr lang="en-ZA" sz="1400" b="0" noProof="0" dirty="0">
                <a:solidFill>
                  <a:schemeClr val="bg1"/>
                </a:solidFill>
                <a:latin typeface="Century" panose="02040604050505020304" pitchFamily="18" charset="0"/>
              </a:rPr>
              <a:t>With logistic regression we also tested matric × home internet.</a:t>
            </a:r>
          </a:p>
          <a:p>
            <a:pPr marL="228600" indent="-228600">
              <a:spcAft>
                <a:spcPts val="1100"/>
              </a:spcAft>
              <a:buSzPct val="100000"/>
              <a:buFont typeface="Arial"/>
              <a:buChar char="•"/>
            </a:pPr>
            <a:r>
              <a:rPr lang="en-ZA" sz="1400" b="0" noProof="0" dirty="0">
                <a:solidFill>
                  <a:schemeClr val="bg1"/>
                </a:solidFill>
                <a:latin typeface="Century" panose="02040604050505020304" pitchFamily="18" charset="0"/>
              </a:rPr>
              <a:t>Regressions use survey weights and household clusters to represent RSA.</a:t>
            </a:r>
          </a:p>
          <a:p>
            <a:pPr marL="228600" indent="-228600">
              <a:spcAft>
                <a:spcPts val="1100"/>
              </a:spcAft>
              <a:buSzPct val="100000"/>
              <a:buFont typeface="Arial"/>
              <a:buChar char="•"/>
            </a:pPr>
            <a:r>
              <a:rPr lang="en-ZA" sz="1400" b="0" noProof="0" dirty="0">
                <a:solidFill>
                  <a:schemeClr val="bg1"/>
                </a:solidFill>
                <a:latin typeface="Century" panose="02040604050505020304" pitchFamily="18" charset="0"/>
              </a:rPr>
              <a:t>Five fold cross validation, grouped by household so performance isn’t inflated.</a:t>
            </a:r>
          </a:p>
          <a:p>
            <a:pPr marL="228600" indent="-228600">
              <a:spcAft>
                <a:spcPts val="1100"/>
              </a:spcAft>
              <a:buSzPct val="100000"/>
              <a:buFont typeface="Arial"/>
              <a:buChar char="•"/>
            </a:pPr>
            <a:r>
              <a:rPr lang="en-ZA" sz="1400" b="0" noProof="0" dirty="0">
                <a:solidFill>
                  <a:schemeClr val="bg1"/>
                </a:solidFill>
                <a:latin typeface="Century" panose="02040604050505020304" pitchFamily="18" charset="0"/>
              </a:rPr>
              <a:t>Thresholds tuned on training folds for balanced accuracy</a:t>
            </a:r>
            <a:r>
              <a:rPr lang="en-ZA" sz="1400" dirty="0">
                <a:solidFill>
                  <a:schemeClr val="bg1"/>
                </a:solidFill>
                <a:latin typeface="Century" panose="02040604050505020304" pitchFamily="18" charset="0"/>
              </a:rPr>
              <a:t>.</a:t>
            </a:r>
            <a:endParaRPr lang="en-ZA" sz="1400" b="0" noProof="0" dirty="0">
              <a:solidFill>
                <a:schemeClr val="bg1"/>
              </a:solidFill>
              <a:latin typeface="Century" panose="02040604050505020304" pitchFamily="18" charset="0"/>
            </a:endParaRPr>
          </a:p>
          <a:p>
            <a:pPr marL="228600" indent="-228600">
              <a:spcAft>
                <a:spcPts val="1100"/>
              </a:spcAft>
              <a:buSzPct val="100000"/>
              <a:buFont typeface="Arial"/>
              <a:buChar char="•"/>
            </a:pPr>
            <a:r>
              <a:rPr lang="en-ZA" sz="1400" b="0" noProof="0" dirty="0">
                <a:solidFill>
                  <a:schemeClr val="bg1"/>
                </a:solidFill>
                <a:latin typeface="Century" panose="02040604050505020304" pitchFamily="18" charset="0"/>
              </a:rPr>
              <a:t>Income is modelled separately as exploratory</a:t>
            </a:r>
            <a:r>
              <a:rPr lang="en-ZA" sz="1400" dirty="0">
                <a:solidFill>
                  <a:schemeClr val="bg1"/>
                </a:solidFill>
                <a:latin typeface="Century" panose="02040604050505020304" pitchFamily="18" charset="0"/>
              </a:rPr>
              <a:t> (No salary for 96% of people)</a:t>
            </a:r>
            <a:endParaRPr lang="en-ZA" sz="1400" b="0" noProof="0" dirty="0">
              <a:solidFill>
                <a:schemeClr val="bg1"/>
              </a:solidFill>
              <a:latin typeface="Century" panose="020406040505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dirty="0"/>
              <a:t>Crisp-DM: </a:t>
            </a:r>
            <a:r>
              <a:rPr lang="en-ZA" noProof="0" dirty="0"/>
              <a:t>Evaluation - </a:t>
            </a:r>
            <a:r>
              <a:rPr lang="en-ZA" dirty="0"/>
              <a:t>M</a:t>
            </a:r>
            <a:r>
              <a:rPr lang="en-ZA" noProof="0" dirty="0" err="1"/>
              <a:t>odel</a:t>
            </a:r>
            <a:r>
              <a:rPr lang="en-ZA" noProof="0" dirty="0"/>
              <a:t> </a:t>
            </a:r>
            <a:r>
              <a:rPr lang="en-ZA" dirty="0"/>
              <a:t>P</a:t>
            </a:r>
            <a:r>
              <a:rPr lang="en-ZA" noProof="0" dirty="0" err="1"/>
              <a:t>erformance</a:t>
            </a:r>
            <a:endParaRPr lang="en-ZA" noProof="0" dirty="0"/>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7</a:t>
            </a:fld>
            <a:endParaRPr lang="en-ZA" noProof="0" dirty="0"/>
          </a:p>
        </p:txBody>
      </p:sp>
      <p:pic>
        <p:nvPicPr>
          <p:cNvPr id="5" name="Corner motif" descr="Decorative block motif"/>
          <p:cNvPicPr>
            <a:picLocks noChangeAspect="1"/>
          </p:cNvPicPr>
          <p:nvPr/>
        </p:nvPicPr>
        <p:blipFill>
          <a:blip r:embed="rId3"/>
          <a:stretch>
            <a:fillRect/>
          </a:stretch>
        </p:blipFill>
        <p:spPr>
          <a:xfrm rot="10800000">
            <a:off x="11158423" y="603504"/>
            <a:ext cx="484632" cy="484632"/>
          </a:xfrm>
          <a:prstGeom prst="rect">
            <a:avLst/>
          </a:prstGeom>
        </p:spPr>
      </p:pic>
      <p:graphicFrame>
        <p:nvGraphicFramePr>
          <p:cNvPr id="6" name="AUC chart"/>
          <p:cNvGraphicFramePr>
            <a:graphicFrameLocks noGrp="1"/>
          </p:cNvGraphicFramePr>
          <p:nvPr>
            <p:extLst>
              <p:ext uri="{D42A27DB-BD31-4B8C-83A1-F6EECF244321}">
                <p14:modId xmlns:p14="http://schemas.microsoft.com/office/powerpoint/2010/main" val="1567285117"/>
              </p:ext>
            </p:extLst>
          </p:nvPr>
        </p:nvGraphicFramePr>
        <p:xfrm>
          <a:off x="548640" y="1600200"/>
          <a:ext cx="694944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7" name="Selection note"/>
          <p:cNvSpPr/>
          <p:nvPr/>
        </p:nvSpPr>
        <p:spPr>
          <a:xfrm>
            <a:off x="548640" y="4663440"/>
            <a:ext cx="6949440" cy="1469940"/>
          </a:xfrm>
          <a:prstGeom prst="rect">
            <a:avLst/>
          </a:prstGeom>
          <a:solidFill>
            <a:schemeClr val="bg2"/>
          </a:solidFill>
          <a:ln>
            <a:noFill/>
          </a:ln>
        </p:spPr>
        <p:txBody>
          <a:bodyPr rtlCol="0" anchor="ctr"/>
          <a:lstStyle/>
          <a:p>
            <a:pPr algn="ctr"/>
            <a:endParaRPr lang="en-ZA" noProof="0" dirty="0"/>
          </a:p>
        </p:txBody>
      </p:sp>
      <p:sp>
        <p:nvSpPr>
          <p:cNvPr id="8" name="Icon tile: bulb"/>
          <p:cNvSpPr/>
          <p:nvPr/>
        </p:nvSpPr>
        <p:spPr>
          <a:xfrm>
            <a:off x="777240" y="5097780"/>
            <a:ext cx="594360" cy="594360"/>
          </a:xfrm>
          <a:prstGeom prst="rect">
            <a:avLst/>
          </a:prstGeom>
          <a:solidFill>
            <a:schemeClr val="accent2"/>
          </a:solidFill>
          <a:ln>
            <a:noFill/>
          </a:ln>
        </p:spPr>
        <p:txBody>
          <a:bodyPr rtlCol="0" anchor="ctr"/>
          <a:lstStyle/>
          <a:p>
            <a:pPr algn="ctr"/>
            <a:endParaRPr lang="en-ZA" noProof="0" dirty="0"/>
          </a:p>
        </p:txBody>
      </p:sp>
      <p:pic>
        <p:nvPicPr>
          <p:cNvPr id="9" name="Icon: bulb" descr="bulb icon"/>
          <p:cNvPicPr>
            <a:picLocks noChangeAspect="1"/>
          </p:cNvPicPr>
          <p:nvPr/>
        </p:nvPicPr>
        <p:blipFill>
          <a:blip r:embed="rId5"/>
          <a:stretch>
            <a:fillRect/>
          </a:stretch>
        </p:blipFill>
        <p:spPr>
          <a:xfrm>
            <a:off x="925830" y="5246370"/>
            <a:ext cx="297180" cy="297180"/>
          </a:xfrm>
          <a:prstGeom prst="rect">
            <a:avLst/>
          </a:prstGeom>
        </p:spPr>
      </p:pic>
      <p:sp>
        <p:nvSpPr>
          <p:cNvPr id="10" name="Selection note text"/>
          <p:cNvSpPr txBox="1"/>
          <p:nvPr/>
        </p:nvSpPr>
        <p:spPr>
          <a:xfrm>
            <a:off x="1600200" y="5374256"/>
            <a:ext cx="5669280" cy="695073"/>
          </a:xfrm>
          <a:prstGeom prst="rect">
            <a:avLst/>
          </a:prstGeom>
          <a:noFill/>
        </p:spPr>
        <p:txBody>
          <a:bodyPr wrap="square" lIns="0" tIns="0" rIns="0" bIns="0" anchor="ctr">
            <a:noAutofit/>
          </a:bodyPr>
          <a:lstStyle/>
          <a:p>
            <a:pPr marL="0" indent="0">
              <a:spcAft>
                <a:spcPts val="300"/>
              </a:spcAft>
              <a:buNone/>
            </a:pPr>
            <a:r>
              <a:rPr lang="en-ZA" sz="1300" b="1" noProof="0" dirty="0">
                <a:solidFill>
                  <a:schemeClr val="tx2"/>
                </a:solidFill>
                <a:latin typeface="Century" panose="02040604050505020304" pitchFamily="18" charset="0"/>
              </a:rPr>
              <a:t>Why we don’t choose the top scorer?</a:t>
            </a:r>
          </a:p>
          <a:p>
            <a:pPr marL="0" indent="0">
              <a:spcAft>
                <a:spcPts val="300"/>
              </a:spcAft>
              <a:buNone/>
            </a:pPr>
            <a:r>
              <a:rPr lang="en-ZA" sz="1100" b="0" noProof="0" dirty="0">
                <a:solidFill>
                  <a:schemeClr val="tx1"/>
                </a:solidFill>
                <a:latin typeface="Century" panose="02040604050505020304" pitchFamily="18" charset="0"/>
              </a:rPr>
              <a:t>The random forest is only 0.009 AUC ahead. Only the regression tests the interaction directly, uses the survey weights and stays explainable.</a:t>
            </a:r>
          </a:p>
        </p:txBody>
      </p:sp>
      <p:sp>
        <p:nvSpPr>
          <p:cNvPr id="11" name="Selected model panel"/>
          <p:cNvSpPr/>
          <p:nvPr/>
        </p:nvSpPr>
        <p:spPr>
          <a:xfrm>
            <a:off x="7726680" y="1600199"/>
            <a:ext cx="3916375" cy="4533181"/>
          </a:xfrm>
          <a:prstGeom prst="rect">
            <a:avLst/>
          </a:prstGeom>
          <a:solidFill>
            <a:schemeClr val="tx2"/>
          </a:solidFill>
          <a:ln>
            <a:noFill/>
          </a:ln>
        </p:spPr>
        <p:txBody>
          <a:bodyPr rtlCol="0" anchor="ctr"/>
          <a:lstStyle/>
          <a:p>
            <a:pPr algn="ctr"/>
            <a:endParaRPr lang="en-ZA" noProof="0" dirty="0"/>
          </a:p>
        </p:txBody>
      </p:sp>
      <p:sp>
        <p:nvSpPr>
          <p:cNvPr id="12" name="Selected model panel label"/>
          <p:cNvSpPr txBox="1"/>
          <p:nvPr/>
        </p:nvSpPr>
        <p:spPr>
          <a:xfrm>
            <a:off x="8046720" y="1874520"/>
            <a:ext cx="3276295" cy="228600"/>
          </a:xfrm>
          <a:prstGeom prst="rect">
            <a:avLst/>
          </a:prstGeom>
          <a:noFill/>
        </p:spPr>
        <p:txBody>
          <a:bodyPr wrap="square" lIns="0" tIns="0" rIns="0" bIns="0" anchor="ctr">
            <a:noAutofit/>
          </a:bodyPr>
          <a:lstStyle/>
          <a:p>
            <a:pPr marL="0" indent="0">
              <a:buNone/>
            </a:pPr>
            <a:r>
              <a:rPr lang="en-ZA" sz="1100" b="1" spc="200" noProof="0" dirty="0">
                <a:solidFill>
                  <a:schemeClr val="accent3"/>
                </a:solidFill>
                <a:latin typeface="Century" panose="02040604050505020304" pitchFamily="18" charset="0"/>
              </a:rPr>
              <a:t>SELECTED MODEL</a:t>
            </a:r>
          </a:p>
        </p:txBody>
      </p:sp>
      <p:sp>
        <p:nvSpPr>
          <p:cNvPr id="13" name="Selected model name"/>
          <p:cNvSpPr txBox="1"/>
          <p:nvPr/>
        </p:nvSpPr>
        <p:spPr>
          <a:xfrm>
            <a:off x="8046720" y="2194560"/>
            <a:ext cx="3276295" cy="640080"/>
          </a:xfrm>
          <a:prstGeom prst="rect">
            <a:avLst/>
          </a:prstGeom>
          <a:noFill/>
        </p:spPr>
        <p:txBody>
          <a:bodyPr wrap="square" lIns="0" tIns="0" rIns="0" bIns="0" anchor="t">
            <a:noAutofit/>
          </a:bodyPr>
          <a:lstStyle/>
          <a:p>
            <a:pPr marL="0" indent="0">
              <a:buNone/>
            </a:pPr>
            <a:r>
              <a:rPr lang="en-ZA" sz="1800" b="1" noProof="0" dirty="0">
                <a:solidFill>
                  <a:schemeClr val="bg1"/>
                </a:solidFill>
                <a:latin typeface="Century" panose="02040604050505020304" pitchFamily="18" charset="0"/>
              </a:rPr>
              <a:t>Survey-weighted logistic regression</a:t>
            </a:r>
          </a:p>
        </p:txBody>
      </p:sp>
      <p:sp>
        <p:nvSpPr>
          <p:cNvPr id="14" name="Figure 1"/>
          <p:cNvSpPr txBox="1"/>
          <p:nvPr/>
        </p:nvSpPr>
        <p:spPr>
          <a:xfrm>
            <a:off x="8046720" y="3063240"/>
            <a:ext cx="1325880" cy="594360"/>
          </a:xfrm>
          <a:prstGeom prst="rect">
            <a:avLst/>
          </a:prstGeom>
          <a:noFill/>
        </p:spPr>
        <p:txBody>
          <a:bodyPr wrap="square" lIns="0" tIns="0" rIns="0" bIns="0" anchor="t">
            <a:noAutofit/>
          </a:bodyPr>
          <a:lstStyle/>
          <a:p>
            <a:pPr marL="0" indent="0">
              <a:buNone/>
            </a:pPr>
            <a:r>
              <a:rPr lang="en-ZA" sz="3200" b="1" noProof="0" dirty="0">
                <a:solidFill>
                  <a:schemeClr val="accent3"/>
                </a:solidFill>
                <a:latin typeface="Century" panose="02040604050505020304" pitchFamily="18" charset="0"/>
              </a:rPr>
              <a:t>0.765</a:t>
            </a:r>
          </a:p>
        </p:txBody>
      </p:sp>
      <p:sp>
        <p:nvSpPr>
          <p:cNvPr id="15" name="Figure 1 caption"/>
          <p:cNvSpPr txBox="1"/>
          <p:nvPr/>
        </p:nvSpPr>
        <p:spPr>
          <a:xfrm>
            <a:off x="9464040" y="3118104"/>
            <a:ext cx="1950720" cy="68580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Test AUC</a:t>
            </a:r>
            <a:endParaRPr lang="en-ZA" sz="1300" dirty="0">
              <a:solidFill>
                <a:schemeClr val="bg1"/>
              </a:solidFill>
              <a:latin typeface="Century" panose="02040604050505020304" pitchFamily="18" charset="0"/>
            </a:endParaRPr>
          </a:p>
          <a:p>
            <a:pPr marL="0" indent="0">
              <a:buNone/>
            </a:pPr>
            <a:r>
              <a:rPr lang="en-ZA" sz="1300" b="0" noProof="0" dirty="0">
                <a:solidFill>
                  <a:schemeClr val="bg1"/>
                </a:solidFill>
                <a:latin typeface="Century" panose="02040604050505020304" pitchFamily="18" charset="0"/>
              </a:rPr>
              <a:t>The demographics only baseline scores 0.727</a:t>
            </a:r>
          </a:p>
        </p:txBody>
      </p:sp>
      <p:sp>
        <p:nvSpPr>
          <p:cNvPr id="16" name="Figure 2"/>
          <p:cNvSpPr txBox="1"/>
          <p:nvPr/>
        </p:nvSpPr>
        <p:spPr>
          <a:xfrm>
            <a:off x="8046720" y="4023360"/>
            <a:ext cx="1325880" cy="594360"/>
          </a:xfrm>
          <a:prstGeom prst="rect">
            <a:avLst/>
          </a:prstGeom>
          <a:noFill/>
        </p:spPr>
        <p:txBody>
          <a:bodyPr wrap="square" lIns="0" tIns="0" rIns="0" bIns="0" anchor="t">
            <a:noAutofit/>
          </a:bodyPr>
          <a:lstStyle/>
          <a:p>
            <a:pPr marL="0" indent="0">
              <a:buNone/>
            </a:pPr>
            <a:r>
              <a:rPr lang="en-ZA" sz="3200" b="1" noProof="0" dirty="0">
                <a:solidFill>
                  <a:schemeClr val="accent3"/>
                </a:solidFill>
                <a:latin typeface="Century" panose="02040604050505020304" pitchFamily="18" charset="0"/>
              </a:rPr>
              <a:t>0.693</a:t>
            </a:r>
          </a:p>
        </p:txBody>
      </p:sp>
      <p:sp>
        <p:nvSpPr>
          <p:cNvPr id="17" name="Figure 2 caption"/>
          <p:cNvSpPr txBox="1"/>
          <p:nvPr/>
        </p:nvSpPr>
        <p:spPr>
          <a:xfrm>
            <a:off x="9464040" y="4078224"/>
            <a:ext cx="1950720" cy="68580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Balanced accuracy at the tuned 0.639 threshold</a:t>
            </a:r>
          </a:p>
        </p:txBody>
      </p:sp>
      <p:sp>
        <p:nvSpPr>
          <p:cNvPr id="18" name="Figure 3"/>
          <p:cNvSpPr txBox="1"/>
          <p:nvPr/>
        </p:nvSpPr>
        <p:spPr>
          <a:xfrm>
            <a:off x="8046720" y="4983480"/>
            <a:ext cx="1325880" cy="594360"/>
          </a:xfrm>
          <a:prstGeom prst="rect">
            <a:avLst/>
          </a:prstGeom>
          <a:noFill/>
        </p:spPr>
        <p:txBody>
          <a:bodyPr wrap="square" lIns="0" tIns="0" rIns="0" bIns="0" anchor="t">
            <a:noAutofit/>
          </a:bodyPr>
          <a:lstStyle/>
          <a:p>
            <a:pPr marL="0" indent="0">
              <a:buNone/>
            </a:pPr>
            <a:r>
              <a:rPr lang="en-ZA" sz="3200" b="1" noProof="0" dirty="0">
                <a:solidFill>
                  <a:schemeClr val="accent3"/>
                </a:solidFill>
                <a:latin typeface="Century" panose="02040604050505020304" pitchFamily="18" charset="0"/>
              </a:rPr>
              <a:t>0.183</a:t>
            </a:r>
          </a:p>
        </p:txBody>
      </p:sp>
      <p:sp>
        <p:nvSpPr>
          <p:cNvPr id="19" name="Figure 3 caption"/>
          <p:cNvSpPr txBox="1"/>
          <p:nvPr/>
        </p:nvSpPr>
        <p:spPr>
          <a:xfrm>
            <a:off x="9464040" y="4845284"/>
            <a:ext cx="1950720" cy="977545"/>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Brier score</a:t>
            </a:r>
            <a:r>
              <a:rPr lang="en-ZA" sz="1300" dirty="0">
                <a:solidFill>
                  <a:schemeClr val="bg1"/>
                </a:solidFill>
                <a:latin typeface="Century" panose="02040604050505020304" pitchFamily="18" charset="0"/>
              </a:rPr>
              <a:t> (</a:t>
            </a:r>
            <a:r>
              <a:rPr lang="en-GB" sz="1300" dirty="0">
                <a:solidFill>
                  <a:schemeClr val="bg1"/>
                </a:solidFill>
                <a:latin typeface="Century" panose="02040604050505020304" pitchFamily="18" charset="0"/>
              </a:rPr>
              <a:t>How close the model’s predicted probabilities are to what actually happened).</a:t>
            </a:r>
          </a:p>
          <a:p>
            <a:pPr marL="0" indent="0">
              <a:buNone/>
            </a:pPr>
            <a:r>
              <a:rPr lang="en-GB" sz="1300" b="0" noProof="0" dirty="0">
                <a:solidFill>
                  <a:schemeClr val="bg1"/>
                </a:solidFill>
                <a:latin typeface="Century" panose="02040604050505020304" pitchFamily="18" charset="0"/>
              </a:rPr>
              <a:t>The lower,</a:t>
            </a:r>
            <a:r>
              <a:rPr lang="en-GB" sz="1300" dirty="0">
                <a:solidFill>
                  <a:schemeClr val="bg1"/>
                </a:solidFill>
                <a:latin typeface="Century" panose="02040604050505020304" pitchFamily="18" charset="0"/>
              </a:rPr>
              <a:t> the better</a:t>
            </a:r>
            <a:endParaRPr lang="en-ZA" sz="1300" b="0" noProof="0" dirty="0">
              <a:solidFill>
                <a:schemeClr val="bg1"/>
              </a:solidFill>
              <a:latin typeface="Century" panose="02040604050505020304" pitchFamily="18" charset="0"/>
            </a:endParaRPr>
          </a:p>
        </p:txBody>
      </p:sp>
      <p:sp>
        <p:nvSpPr>
          <p:cNvPr id="20" name="Selection note text">
            <a:extLst>
              <a:ext uri="{FF2B5EF4-FFF2-40B4-BE49-F238E27FC236}">
                <a16:creationId xmlns:a16="http://schemas.microsoft.com/office/drawing/2014/main" id="{A442B790-1436-56BD-1CFB-44173EF81A84}"/>
              </a:ext>
            </a:extLst>
          </p:cNvPr>
          <p:cNvSpPr txBox="1"/>
          <p:nvPr/>
        </p:nvSpPr>
        <p:spPr>
          <a:xfrm>
            <a:off x="1600200" y="4705279"/>
            <a:ext cx="5669280" cy="695073"/>
          </a:xfrm>
          <a:prstGeom prst="rect">
            <a:avLst/>
          </a:prstGeom>
          <a:noFill/>
        </p:spPr>
        <p:txBody>
          <a:bodyPr wrap="square" lIns="0" tIns="0" rIns="0" bIns="0" anchor="ctr">
            <a:noAutofit/>
          </a:bodyPr>
          <a:lstStyle/>
          <a:p>
            <a:pPr marL="0" indent="0">
              <a:spcAft>
                <a:spcPts val="300"/>
              </a:spcAft>
              <a:buNone/>
            </a:pPr>
            <a:r>
              <a:rPr lang="en-ZA" sz="1300" b="1" noProof="0" dirty="0">
                <a:solidFill>
                  <a:schemeClr val="tx2"/>
                </a:solidFill>
                <a:latin typeface="Century" panose="02040604050505020304" pitchFamily="18" charset="0"/>
              </a:rPr>
              <a:t>What is the AUC (Area Under Curve) Score?</a:t>
            </a:r>
          </a:p>
          <a:p>
            <a:pPr>
              <a:spcAft>
                <a:spcPts val="300"/>
              </a:spcAft>
            </a:pPr>
            <a:r>
              <a:rPr lang="en-ZA" sz="1100" dirty="0"/>
              <a:t>AUC is a performance metric used to measure how well a model separates two groups, in our case we check how good the model is at telling employed and unemployed people apart.</a:t>
            </a:r>
            <a:endParaRPr lang="en-ZA" sz="1100" b="0" noProof="0" dirty="0">
              <a:solidFill>
                <a:schemeClr val="tx1"/>
              </a:solidFill>
              <a:latin typeface="Century" panose="020406040505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dirty="0"/>
              <a:t>Crisp-DM: </a:t>
            </a:r>
            <a:r>
              <a:rPr lang="en-ZA" noProof="0" dirty="0"/>
              <a:t>Evaluation - </a:t>
            </a:r>
            <a:r>
              <a:rPr lang="en-ZA" dirty="0"/>
              <a:t>K</a:t>
            </a:r>
            <a:r>
              <a:rPr lang="en-ZA" noProof="0" dirty="0" err="1"/>
              <a:t>ey</a:t>
            </a:r>
            <a:r>
              <a:rPr lang="en-ZA" noProof="0" dirty="0"/>
              <a:t> </a:t>
            </a:r>
            <a:r>
              <a:rPr lang="en-ZA" dirty="0"/>
              <a:t>F</a:t>
            </a:r>
            <a:r>
              <a:rPr lang="en-ZA" noProof="0" dirty="0" err="1"/>
              <a:t>indings</a:t>
            </a:r>
            <a:endParaRPr lang="en-ZA" noProof="0" dirty="0"/>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8</a:t>
            </a:fld>
            <a:endParaRPr lang="en-ZA" noProof="0" dirty="0"/>
          </a:p>
        </p:txBody>
      </p:sp>
      <p:pic>
        <p:nvPicPr>
          <p:cNvPr id="5" name="Corner motif" descr="Decorative block motif"/>
          <p:cNvPicPr>
            <a:picLocks noChangeAspect="1"/>
          </p:cNvPicPr>
          <p:nvPr/>
        </p:nvPicPr>
        <p:blipFill>
          <a:blip r:embed="rId3"/>
          <a:stretch>
            <a:fillRect/>
          </a:stretch>
        </p:blipFill>
        <p:spPr>
          <a:xfrm rot="16200000">
            <a:off x="11158423" y="603504"/>
            <a:ext cx="484632" cy="484632"/>
          </a:xfrm>
          <a:prstGeom prst="rect">
            <a:avLst/>
          </a:prstGeom>
        </p:spPr>
      </p:pic>
      <p:graphicFrame>
        <p:nvGraphicFramePr>
          <p:cNvPr id="6" name="Predicted employment chart"/>
          <p:cNvGraphicFramePr>
            <a:graphicFrameLocks noGrp="1"/>
          </p:cNvGraphicFramePr>
          <p:nvPr>
            <p:extLst>
              <p:ext uri="{D42A27DB-BD31-4B8C-83A1-F6EECF244321}">
                <p14:modId xmlns:p14="http://schemas.microsoft.com/office/powerpoint/2010/main" val="2069160699"/>
              </p:ext>
            </p:extLst>
          </p:nvPr>
        </p:nvGraphicFramePr>
        <p:xfrm>
          <a:off x="548640" y="1600200"/>
          <a:ext cx="694944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7" name="Finding card 1"/>
          <p:cNvSpPr/>
          <p:nvPr/>
        </p:nvSpPr>
        <p:spPr>
          <a:xfrm>
            <a:off x="548640" y="4846320"/>
            <a:ext cx="3383280" cy="1097280"/>
          </a:xfrm>
          <a:prstGeom prst="rect">
            <a:avLst/>
          </a:prstGeom>
          <a:solidFill>
            <a:schemeClr val="bg2"/>
          </a:solidFill>
          <a:ln>
            <a:noFill/>
          </a:ln>
        </p:spPr>
        <p:txBody>
          <a:bodyPr rtlCol="0" anchor="ctr"/>
          <a:lstStyle/>
          <a:p>
            <a:pPr algn="ctr"/>
            <a:endParaRPr lang="en-ZA" noProof="0" dirty="0"/>
          </a:p>
        </p:txBody>
      </p:sp>
      <p:sp>
        <p:nvSpPr>
          <p:cNvPr id="8" name="Finding card 1 text"/>
          <p:cNvSpPr txBox="1"/>
          <p:nvPr/>
        </p:nvSpPr>
        <p:spPr>
          <a:xfrm>
            <a:off x="731520" y="4960620"/>
            <a:ext cx="3017520" cy="868680"/>
          </a:xfrm>
          <a:prstGeom prst="rect">
            <a:avLst/>
          </a:prstGeom>
          <a:noFill/>
        </p:spPr>
        <p:txBody>
          <a:bodyPr wrap="square" lIns="0" tIns="0" rIns="0" bIns="0" anchor="ctr">
            <a:noAutofit/>
          </a:bodyPr>
          <a:lstStyle/>
          <a:p>
            <a:pPr marL="0" indent="0">
              <a:spcAft>
                <a:spcPts val="300"/>
              </a:spcAft>
              <a:buNone/>
            </a:pPr>
            <a:r>
              <a:rPr lang="en-ZA" sz="1500" b="1" noProof="0" dirty="0">
                <a:solidFill>
                  <a:schemeClr val="tx2"/>
                </a:solidFill>
                <a:latin typeface="Century" panose="02040604050505020304" pitchFamily="18" charset="0"/>
              </a:rPr>
              <a:t>All four success criteria met</a:t>
            </a:r>
          </a:p>
          <a:p>
            <a:pPr marL="0" indent="0">
              <a:spcAft>
                <a:spcPts val="300"/>
              </a:spcAft>
              <a:buNone/>
            </a:pPr>
            <a:r>
              <a:rPr lang="en-ZA" sz="1300" b="0" noProof="0" dirty="0">
                <a:solidFill>
                  <a:schemeClr val="tx1"/>
                </a:solidFill>
                <a:latin typeface="Century" panose="02040604050505020304" pitchFamily="18" charset="0"/>
              </a:rPr>
              <a:t>Significant, interpretable, AUC above 0.70 and the random forest finds the same pattern unprompted.</a:t>
            </a:r>
          </a:p>
        </p:txBody>
      </p:sp>
      <p:sp>
        <p:nvSpPr>
          <p:cNvPr id="9" name="Finding card 2"/>
          <p:cNvSpPr/>
          <p:nvPr/>
        </p:nvSpPr>
        <p:spPr>
          <a:xfrm>
            <a:off x="4114800" y="4846320"/>
            <a:ext cx="3383280" cy="1097280"/>
          </a:xfrm>
          <a:prstGeom prst="rect">
            <a:avLst/>
          </a:prstGeom>
          <a:solidFill>
            <a:schemeClr val="bg2"/>
          </a:solidFill>
          <a:ln>
            <a:noFill/>
          </a:ln>
        </p:spPr>
        <p:txBody>
          <a:bodyPr rtlCol="0" anchor="ctr"/>
          <a:lstStyle/>
          <a:p>
            <a:pPr algn="ctr"/>
            <a:endParaRPr lang="en-ZA" noProof="0" dirty="0"/>
          </a:p>
        </p:txBody>
      </p:sp>
      <p:sp>
        <p:nvSpPr>
          <p:cNvPr id="10" name="Finding card 2 text"/>
          <p:cNvSpPr txBox="1"/>
          <p:nvPr/>
        </p:nvSpPr>
        <p:spPr>
          <a:xfrm>
            <a:off x="4297680" y="4960620"/>
            <a:ext cx="3017520" cy="868680"/>
          </a:xfrm>
          <a:prstGeom prst="rect">
            <a:avLst/>
          </a:prstGeom>
          <a:noFill/>
        </p:spPr>
        <p:txBody>
          <a:bodyPr wrap="square" lIns="0" tIns="0" rIns="0" bIns="0" anchor="ctr">
            <a:noAutofit/>
          </a:bodyPr>
          <a:lstStyle/>
          <a:p>
            <a:pPr marL="0" indent="0">
              <a:spcAft>
                <a:spcPts val="300"/>
              </a:spcAft>
              <a:buNone/>
            </a:pPr>
            <a:r>
              <a:rPr lang="en-ZA" sz="1500" b="1" noProof="0" dirty="0">
                <a:solidFill>
                  <a:schemeClr val="tx2"/>
                </a:solidFill>
                <a:latin typeface="Century" panose="02040604050505020304" pitchFamily="18" charset="0"/>
              </a:rPr>
              <a:t>Income tells a different story</a:t>
            </a:r>
          </a:p>
          <a:p>
            <a:pPr marL="0" indent="0">
              <a:spcAft>
                <a:spcPts val="300"/>
              </a:spcAft>
              <a:buNone/>
            </a:pPr>
            <a:r>
              <a:rPr lang="en-ZA" sz="1300" b="0" noProof="0" dirty="0">
                <a:solidFill>
                  <a:schemeClr val="tx1"/>
                </a:solidFill>
                <a:latin typeface="Century" panose="02040604050505020304" pitchFamily="18" charset="0"/>
              </a:rPr>
              <a:t>No significant interaction for salary, so it is reported separately as exploratory.</a:t>
            </a:r>
          </a:p>
        </p:txBody>
      </p:sp>
      <p:sp>
        <p:nvSpPr>
          <p:cNvPr id="11" name="Answer panel"/>
          <p:cNvSpPr/>
          <p:nvPr/>
        </p:nvSpPr>
        <p:spPr>
          <a:xfrm>
            <a:off x="7726680" y="1600200"/>
            <a:ext cx="3916375" cy="4343400"/>
          </a:xfrm>
          <a:prstGeom prst="rect">
            <a:avLst/>
          </a:prstGeom>
          <a:solidFill>
            <a:schemeClr val="tx2"/>
          </a:solidFill>
          <a:ln>
            <a:noFill/>
          </a:ln>
        </p:spPr>
        <p:txBody>
          <a:bodyPr rtlCol="0" anchor="ctr"/>
          <a:lstStyle/>
          <a:p>
            <a:pPr algn="ctr"/>
            <a:endParaRPr lang="en-ZA" noProof="0" dirty="0"/>
          </a:p>
        </p:txBody>
      </p:sp>
      <p:sp>
        <p:nvSpPr>
          <p:cNvPr id="12" name="Answer panel label"/>
          <p:cNvSpPr txBox="1"/>
          <p:nvPr/>
        </p:nvSpPr>
        <p:spPr>
          <a:xfrm>
            <a:off x="8046720" y="1874520"/>
            <a:ext cx="3276295" cy="228600"/>
          </a:xfrm>
          <a:prstGeom prst="rect">
            <a:avLst/>
          </a:prstGeom>
          <a:noFill/>
        </p:spPr>
        <p:txBody>
          <a:bodyPr wrap="square" lIns="0" tIns="0" rIns="0" bIns="0" anchor="ctr">
            <a:noAutofit/>
          </a:bodyPr>
          <a:lstStyle/>
          <a:p>
            <a:pPr marL="0" indent="0">
              <a:buNone/>
            </a:pPr>
            <a:r>
              <a:rPr lang="en-ZA" sz="1100" b="1" spc="200" noProof="0" dirty="0">
                <a:solidFill>
                  <a:schemeClr val="accent3"/>
                </a:solidFill>
                <a:latin typeface="Century" panose="02040604050505020304" pitchFamily="18" charset="0"/>
              </a:rPr>
              <a:t>THE ANSWER FOR THE NATIONAL TREASURY</a:t>
            </a:r>
          </a:p>
        </p:txBody>
      </p:sp>
      <p:sp>
        <p:nvSpPr>
          <p:cNvPr id="13" name="Answer statement"/>
          <p:cNvSpPr txBox="1"/>
          <p:nvPr/>
        </p:nvSpPr>
        <p:spPr>
          <a:xfrm>
            <a:off x="8046720" y="2194560"/>
            <a:ext cx="3276295" cy="960120"/>
          </a:xfrm>
          <a:prstGeom prst="rect">
            <a:avLst/>
          </a:prstGeom>
          <a:noFill/>
        </p:spPr>
        <p:txBody>
          <a:bodyPr wrap="square" lIns="0" tIns="0" rIns="0" bIns="0" anchor="t">
            <a:noAutofit/>
          </a:bodyPr>
          <a:lstStyle/>
          <a:p>
            <a:pPr marL="0" indent="0">
              <a:buNone/>
            </a:pPr>
            <a:r>
              <a:rPr lang="en-ZA" sz="2000" b="1" noProof="0" dirty="0">
                <a:solidFill>
                  <a:schemeClr val="bg1"/>
                </a:solidFill>
                <a:latin typeface="Century" panose="02040604050505020304" pitchFamily="18" charset="0"/>
              </a:rPr>
              <a:t>Education and home internet are complements, not substitutes</a:t>
            </a:r>
          </a:p>
        </p:txBody>
      </p:sp>
      <p:sp>
        <p:nvSpPr>
          <p:cNvPr id="14" name="Figure 1"/>
          <p:cNvSpPr txBox="1"/>
          <p:nvPr/>
        </p:nvSpPr>
        <p:spPr>
          <a:xfrm>
            <a:off x="8046720" y="3291840"/>
            <a:ext cx="1188720" cy="594360"/>
          </a:xfrm>
          <a:prstGeom prst="rect">
            <a:avLst/>
          </a:prstGeom>
          <a:noFill/>
        </p:spPr>
        <p:txBody>
          <a:bodyPr wrap="square" lIns="0" tIns="0" rIns="0" bIns="0" anchor="t">
            <a:noAutofit/>
          </a:bodyPr>
          <a:lstStyle/>
          <a:p>
            <a:pPr marL="0" indent="0">
              <a:buNone/>
            </a:pPr>
            <a:r>
              <a:rPr lang="en-ZA" sz="3200" b="1" noProof="0" dirty="0">
                <a:solidFill>
                  <a:schemeClr val="accent3"/>
                </a:solidFill>
                <a:latin typeface="Century" panose="02040604050505020304" pitchFamily="18" charset="0"/>
              </a:rPr>
              <a:t>1.29</a:t>
            </a:r>
          </a:p>
        </p:txBody>
      </p:sp>
      <p:sp>
        <p:nvSpPr>
          <p:cNvPr id="15" name="Figure 1 caption"/>
          <p:cNvSpPr txBox="1"/>
          <p:nvPr/>
        </p:nvSpPr>
        <p:spPr>
          <a:xfrm>
            <a:off x="9326880" y="3346704"/>
            <a:ext cx="1996135" cy="68580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Interaction between matric and home internet odds ratio.</a:t>
            </a:r>
          </a:p>
        </p:txBody>
      </p:sp>
      <p:sp>
        <p:nvSpPr>
          <p:cNvPr id="16" name="Figure 2"/>
          <p:cNvSpPr txBox="1"/>
          <p:nvPr/>
        </p:nvSpPr>
        <p:spPr>
          <a:xfrm>
            <a:off x="8046720" y="4160520"/>
            <a:ext cx="1188720" cy="594360"/>
          </a:xfrm>
          <a:prstGeom prst="rect">
            <a:avLst/>
          </a:prstGeom>
          <a:noFill/>
        </p:spPr>
        <p:txBody>
          <a:bodyPr wrap="square" lIns="0" tIns="0" rIns="0" bIns="0" anchor="t">
            <a:noAutofit/>
          </a:bodyPr>
          <a:lstStyle/>
          <a:p>
            <a:pPr marL="0" indent="0">
              <a:buNone/>
            </a:pPr>
            <a:r>
              <a:rPr lang="en-ZA" sz="3200" b="1" noProof="0" dirty="0">
                <a:solidFill>
                  <a:schemeClr val="accent3"/>
                </a:solidFill>
                <a:latin typeface="Century" panose="02040604050505020304" pitchFamily="18" charset="0"/>
              </a:rPr>
              <a:t>+6.3</a:t>
            </a:r>
          </a:p>
        </p:txBody>
      </p:sp>
      <p:sp>
        <p:nvSpPr>
          <p:cNvPr id="17" name="Figure 2 caption"/>
          <p:cNvSpPr txBox="1"/>
          <p:nvPr/>
        </p:nvSpPr>
        <p:spPr>
          <a:xfrm>
            <a:off x="9326880" y="4215384"/>
            <a:ext cx="1996135" cy="68580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more employed per 100 with home internet, among people with matric.</a:t>
            </a:r>
          </a:p>
        </p:txBody>
      </p:sp>
      <p:sp>
        <p:nvSpPr>
          <p:cNvPr id="18" name="Figure 3"/>
          <p:cNvSpPr txBox="1"/>
          <p:nvPr/>
        </p:nvSpPr>
        <p:spPr>
          <a:xfrm>
            <a:off x="8046720" y="5029200"/>
            <a:ext cx="1188720" cy="594360"/>
          </a:xfrm>
          <a:prstGeom prst="rect">
            <a:avLst/>
          </a:prstGeom>
          <a:noFill/>
        </p:spPr>
        <p:txBody>
          <a:bodyPr wrap="square" lIns="0" tIns="0" rIns="0" bIns="0" anchor="t">
            <a:noAutofit/>
          </a:bodyPr>
          <a:lstStyle/>
          <a:p>
            <a:pPr marL="0" indent="0">
              <a:buNone/>
            </a:pPr>
            <a:r>
              <a:rPr lang="en-ZA" sz="3200" b="1" noProof="0" dirty="0">
                <a:solidFill>
                  <a:schemeClr val="accent3"/>
                </a:solidFill>
                <a:latin typeface="Century" panose="02040604050505020304" pitchFamily="18" charset="0"/>
              </a:rPr>
              <a:t>+1.8</a:t>
            </a:r>
          </a:p>
        </p:txBody>
      </p:sp>
      <p:sp>
        <p:nvSpPr>
          <p:cNvPr id="19" name="Figure 3 caption"/>
          <p:cNvSpPr txBox="1"/>
          <p:nvPr/>
        </p:nvSpPr>
        <p:spPr>
          <a:xfrm>
            <a:off x="9326880" y="5084064"/>
            <a:ext cx="1996135" cy="685800"/>
          </a:xfrm>
          <a:prstGeom prst="rect">
            <a:avLst/>
          </a:prstGeom>
          <a:noFill/>
        </p:spPr>
        <p:txBody>
          <a:bodyPr wrap="square" lIns="0" tIns="0" rIns="0" bIns="0" anchor="t">
            <a:noAutofit/>
          </a:bodyPr>
          <a:lstStyle/>
          <a:p>
            <a:pPr marL="0" indent="0">
              <a:buNone/>
            </a:pPr>
            <a:r>
              <a:rPr lang="en-ZA" sz="1300" b="0" noProof="0" dirty="0">
                <a:solidFill>
                  <a:schemeClr val="bg1"/>
                </a:solidFill>
                <a:latin typeface="Century" panose="02040604050505020304" pitchFamily="18" charset="0"/>
              </a:rPr>
              <a:t>per 100 among people without matric, which may be chance.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dirty="0"/>
              <a:t>Crisp-DM: </a:t>
            </a:r>
            <a:r>
              <a:rPr lang="en-ZA" noProof="0" dirty="0"/>
              <a:t>Deployment</a:t>
            </a:r>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9</a:t>
            </a:fld>
            <a:endParaRPr lang="en-ZA" noProof="0" dirty="0"/>
          </a:p>
        </p:txBody>
      </p:sp>
      <p:pic>
        <p:nvPicPr>
          <p:cNvPr id="5" name="Corner motif" descr="Decorative block motif"/>
          <p:cNvPicPr>
            <a:picLocks noChangeAspect="1"/>
          </p:cNvPicPr>
          <p:nvPr/>
        </p:nvPicPr>
        <p:blipFill>
          <a:blip r:embed="rId3"/>
          <a:stretch>
            <a:fillRect/>
          </a:stretch>
        </p:blipFill>
        <p:spPr>
          <a:xfrm>
            <a:off x="11158423" y="603504"/>
            <a:ext cx="484632" cy="484632"/>
          </a:xfrm>
          <a:prstGeom prst="rect">
            <a:avLst/>
          </a:prstGeom>
        </p:spPr>
      </p:pic>
      <p:sp>
        <p:nvSpPr>
          <p:cNvPr id="6" name="Demo label"/>
          <p:cNvSpPr txBox="1"/>
          <p:nvPr/>
        </p:nvSpPr>
        <p:spPr>
          <a:xfrm>
            <a:off x="548640" y="1600200"/>
            <a:ext cx="6400800" cy="228600"/>
          </a:xfrm>
          <a:prstGeom prst="rect">
            <a:avLst/>
          </a:prstGeom>
          <a:noFill/>
        </p:spPr>
        <p:txBody>
          <a:bodyPr wrap="square" lIns="0" tIns="0" rIns="0" bIns="0" anchor="ctr">
            <a:noAutofit/>
          </a:bodyPr>
          <a:lstStyle/>
          <a:p>
            <a:pPr marL="0" indent="0">
              <a:buNone/>
            </a:pPr>
            <a:r>
              <a:rPr lang="en-ZA" sz="1100" b="1" spc="200" noProof="0" dirty="0">
                <a:solidFill>
                  <a:schemeClr val="accent6"/>
                </a:solidFill>
                <a:latin typeface="Century" panose="02040604050505020304" pitchFamily="18" charset="0"/>
              </a:rPr>
              <a:t>LIVE DEMO  -  SHINY APP </a:t>
            </a:r>
            <a:r>
              <a:rPr lang="en-ZA" sz="1100" b="1" spc="200" dirty="0">
                <a:solidFill>
                  <a:schemeClr val="accent6"/>
                </a:solidFill>
                <a:latin typeface="Century" panose="02040604050505020304" pitchFamily="18" charset="0"/>
              </a:rPr>
              <a:t>AND POWER BI</a:t>
            </a:r>
            <a:endParaRPr lang="en-ZA" sz="1100" b="1" spc="200" noProof="0" dirty="0">
              <a:solidFill>
                <a:schemeClr val="accent6"/>
              </a:solidFill>
              <a:latin typeface="Century" panose="02040604050505020304" pitchFamily="18" charset="0"/>
            </a:endParaRPr>
          </a:p>
        </p:txBody>
      </p:sp>
      <p:pic>
        <p:nvPicPr>
          <p:cNvPr id="7" name="Shiny app screenshot" descr="Shiny app page showing the share of people with a job by education and home internet"/>
          <p:cNvPicPr>
            <a:picLocks noChangeAspect="1"/>
          </p:cNvPicPr>
          <p:nvPr/>
        </p:nvPicPr>
        <p:blipFill>
          <a:blip r:embed="rId4"/>
          <a:stretch>
            <a:fillRect/>
          </a:stretch>
        </p:blipFill>
        <p:spPr>
          <a:xfrm>
            <a:off x="548640" y="1920240"/>
            <a:ext cx="6469724" cy="4023360"/>
          </a:xfrm>
          <a:prstGeom prst="rect">
            <a:avLst/>
          </a:prstGeom>
          <a:ln w="12700">
            <a:solidFill>
              <a:schemeClr val="bg2"/>
            </a:solidFill>
          </a:ln>
        </p:spPr>
      </p:pic>
      <p:sp>
        <p:nvSpPr>
          <p:cNvPr id="8" name="Deployment card 1"/>
          <p:cNvSpPr/>
          <p:nvPr/>
        </p:nvSpPr>
        <p:spPr>
          <a:xfrm>
            <a:off x="7292684" y="1600200"/>
            <a:ext cx="4350371" cy="1341120"/>
          </a:xfrm>
          <a:prstGeom prst="rect">
            <a:avLst/>
          </a:prstGeom>
          <a:solidFill>
            <a:schemeClr val="bg2"/>
          </a:solidFill>
          <a:ln>
            <a:noFill/>
          </a:ln>
        </p:spPr>
        <p:txBody>
          <a:bodyPr rtlCol="0" anchor="ctr"/>
          <a:lstStyle/>
          <a:p>
            <a:pPr algn="ctr"/>
            <a:endParaRPr lang="en-ZA" noProof="0" dirty="0"/>
          </a:p>
        </p:txBody>
      </p:sp>
      <p:sp>
        <p:nvSpPr>
          <p:cNvPr id="9" name="Icon tile: search"/>
          <p:cNvSpPr/>
          <p:nvPr/>
        </p:nvSpPr>
        <p:spPr>
          <a:xfrm>
            <a:off x="7475564" y="1760220"/>
            <a:ext cx="411480" cy="411480"/>
          </a:xfrm>
          <a:prstGeom prst="rect">
            <a:avLst/>
          </a:prstGeom>
          <a:solidFill>
            <a:schemeClr val="accent2"/>
          </a:solidFill>
          <a:ln>
            <a:noFill/>
          </a:ln>
        </p:spPr>
        <p:txBody>
          <a:bodyPr rtlCol="0" anchor="ctr"/>
          <a:lstStyle/>
          <a:p>
            <a:pPr algn="ctr"/>
            <a:endParaRPr lang="en-ZA" noProof="0" dirty="0"/>
          </a:p>
        </p:txBody>
      </p:sp>
      <p:pic>
        <p:nvPicPr>
          <p:cNvPr id="10" name="Icon: search" descr="search icon"/>
          <p:cNvPicPr>
            <a:picLocks noChangeAspect="1"/>
          </p:cNvPicPr>
          <p:nvPr/>
        </p:nvPicPr>
        <p:blipFill>
          <a:blip r:embed="rId5"/>
          <a:stretch>
            <a:fillRect/>
          </a:stretch>
        </p:blipFill>
        <p:spPr>
          <a:xfrm>
            <a:off x="7578434" y="1863090"/>
            <a:ext cx="205740" cy="205740"/>
          </a:xfrm>
          <a:prstGeom prst="rect">
            <a:avLst/>
          </a:prstGeom>
        </p:spPr>
      </p:pic>
      <p:sp>
        <p:nvSpPr>
          <p:cNvPr id="11" name="Deployment card 1 heading"/>
          <p:cNvSpPr txBox="1"/>
          <p:nvPr/>
        </p:nvSpPr>
        <p:spPr>
          <a:xfrm>
            <a:off x="8047064" y="1760220"/>
            <a:ext cx="3413111" cy="41148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Power BI dashboard</a:t>
            </a:r>
          </a:p>
        </p:txBody>
      </p:sp>
      <p:sp>
        <p:nvSpPr>
          <p:cNvPr id="12" name="Deployment card 1 text"/>
          <p:cNvSpPr txBox="1"/>
          <p:nvPr/>
        </p:nvSpPr>
        <p:spPr>
          <a:xfrm>
            <a:off x="7475564" y="2263140"/>
            <a:ext cx="3984611" cy="586740"/>
          </a:xfrm>
          <a:prstGeom prst="rect">
            <a:avLst/>
          </a:prstGeom>
          <a:noFill/>
        </p:spPr>
        <p:txBody>
          <a:bodyPr wrap="square" lIns="0" tIns="0" rIns="0" bIns="0" anchor="t">
            <a:noAutofit/>
          </a:bodyPr>
          <a:lstStyle/>
          <a:p>
            <a:pPr marL="0" indent="0">
              <a:buNone/>
            </a:pPr>
            <a:r>
              <a:rPr lang="en-ZA" sz="1300" b="0" noProof="0" dirty="0">
                <a:solidFill>
                  <a:schemeClr val="tx1"/>
                </a:solidFill>
                <a:latin typeface="Century" panose="02040604050505020304" pitchFamily="18" charset="0"/>
              </a:rPr>
              <a:t>Shows analysts where the pattern sits: employment by education, home internet, province and group.</a:t>
            </a:r>
          </a:p>
        </p:txBody>
      </p:sp>
      <p:sp>
        <p:nvSpPr>
          <p:cNvPr id="13" name="Deployment card 2"/>
          <p:cNvSpPr/>
          <p:nvPr/>
        </p:nvSpPr>
        <p:spPr>
          <a:xfrm>
            <a:off x="7292684" y="3101340"/>
            <a:ext cx="4350371" cy="1341120"/>
          </a:xfrm>
          <a:prstGeom prst="rect">
            <a:avLst/>
          </a:prstGeom>
          <a:solidFill>
            <a:schemeClr val="bg2"/>
          </a:solidFill>
          <a:ln>
            <a:noFill/>
          </a:ln>
        </p:spPr>
        <p:txBody>
          <a:bodyPr rtlCol="0" anchor="ctr"/>
          <a:lstStyle/>
          <a:p>
            <a:pPr algn="ctr"/>
            <a:endParaRPr lang="en-ZA" noProof="0" dirty="0"/>
          </a:p>
        </p:txBody>
      </p:sp>
      <p:sp>
        <p:nvSpPr>
          <p:cNvPr id="14" name="Icon tile: laptop"/>
          <p:cNvSpPr/>
          <p:nvPr/>
        </p:nvSpPr>
        <p:spPr>
          <a:xfrm>
            <a:off x="7475564" y="3261360"/>
            <a:ext cx="411480" cy="411480"/>
          </a:xfrm>
          <a:prstGeom prst="rect">
            <a:avLst/>
          </a:prstGeom>
          <a:solidFill>
            <a:schemeClr val="accent1"/>
          </a:solidFill>
          <a:ln>
            <a:noFill/>
          </a:ln>
        </p:spPr>
        <p:txBody>
          <a:bodyPr rtlCol="0" anchor="ctr"/>
          <a:lstStyle/>
          <a:p>
            <a:pPr algn="ctr"/>
            <a:endParaRPr lang="en-ZA" noProof="0" dirty="0"/>
          </a:p>
        </p:txBody>
      </p:sp>
      <p:pic>
        <p:nvPicPr>
          <p:cNvPr id="15" name="Icon: laptop" descr="laptop icon"/>
          <p:cNvPicPr>
            <a:picLocks noChangeAspect="1"/>
          </p:cNvPicPr>
          <p:nvPr/>
        </p:nvPicPr>
        <p:blipFill>
          <a:blip r:embed="rId6"/>
          <a:stretch>
            <a:fillRect/>
          </a:stretch>
        </p:blipFill>
        <p:spPr>
          <a:xfrm>
            <a:off x="7578434" y="3364230"/>
            <a:ext cx="205740" cy="205740"/>
          </a:xfrm>
          <a:prstGeom prst="rect">
            <a:avLst/>
          </a:prstGeom>
        </p:spPr>
      </p:pic>
      <p:sp>
        <p:nvSpPr>
          <p:cNvPr id="16" name="Deployment card 2 heading"/>
          <p:cNvSpPr txBox="1"/>
          <p:nvPr/>
        </p:nvSpPr>
        <p:spPr>
          <a:xfrm>
            <a:off x="8047064" y="3261360"/>
            <a:ext cx="3413111" cy="41148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R/Shiny app</a:t>
            </a:r>
          </a:p>
        </p:txBody>
      </p:sp>
      <p:sp>
        <p:nvSpPr>
          <p:cNvPr id="17" name="Deployment card 2 text"/>
          <p:cNvSpPr txBox="1"/>
          <p:nvPr/>
        </p:nvSpPr>
        <p:spPr>
          <a:xfrm>
            <a:off x="7475564" y="3764280"/>
            <a:ext cx="3984611" cy="586740"/>
          </a:xfrm>
          <a:prstGeom prst="rect">
            <a:avLst/>
          </a:prstGeom>
          <a:noFill/>
        </p:spPr>
        <p:txBody>
          <a:bodyPr wrap="square" lIns="0" tIns="0" rIns="0" bIns="0" anchor="t">
            <a:noAutofit/>
          </a:bodyPr>
          <a:lstStyle/>
          <a:p>
            <a:pPr marL="0" indent="0">
              <a:buNone/>
            </a:pPr>
            <a:r>
              <a:rPr lang="en-ZA" sz="1300" b="0" noProof="0" dirty="0">
                <a:solidFill>
                  <a:schemeClr val="tx1"/>
                </a:solidFill>
                <a:latin typeface="Century" panose="02040604050505020304" pitchFamily="18" charset="0"/>
              </a:rPr>
              <a:t>Runs the selected model: group results with likely ranges, province scenarios and checks on new data.</a:t>
            </a:r>
          </a:p>
        </p:txBody>
      </p:sp>
      <p:sp>
        <p:nvSpPr>
          <p:cNvPr id="18" name="Deployment card 3"/>
          <p:cNvSpPr/>
          <p:nvPr/>
        </p:nvSpPr>
        <p:spPr>
          <a:xfrm>
            <a:off x="7292684" y="4602480"/>
            <a:ext cx="4350371" cy="1341120"/>
          </a:xfrm>
          <a:prstGeom prst="rect">
            <a:avLst/>
          </a:prstGeom>
          <a:solidFill>
            <a:schemeClr val="bg2"/>
          </a:solidFill>
          <a:ln>
            <a:noFill/>
          </a:ln>
        </p:spPr>
        <p:txBody>
          <a:bodyPr rtlCol="0" anchor="ctr"/>
          <a:lstStyle/>
          <a:p>
            <a:pPr algn="ctr"/>
            <a:endParaRPr lang="en-ZA" noProof="0" dirty="0"/>
          </a:p>
        </p:txBody>
      </p:sp>
      <p:sp>
        <p:nvSpPr>
          <p:cNvPr id="19" name="Icon tile: scale"/>
          <p:cNvSpPr/>
          <p:nvPr/>
        </p:nvSpPr>
        <p:spPr>
          <a:xfrm>
            <a:off x="7475564" y="4762500"/>
            <a:ext cx="411480" cy="411480"/>
          </a:xfrm>
          <a:prstGeom prst="rect">
            <a:avLst/>
          </a:prstGeom>
          <a:solidFill>
            <a:schemeClr val="accent3"/>
          </a:solidFill>
          <a:ln>
            <a:noFill/>
          </a:ln>
        </p:spPr>
        <p:txBody>
          <a:bodyPr rtlCol="0" anchor="ctr"/>
          <a:lstStyle/>
          <a:p>
            <a:pPr algn="ctr"/>
            <a:endParaRPr lang="en-ZA" noProof="0" dirty="0"/>
          </a:p>
        </p:txBody>
      </p:sp>
      <p:pic>
        <p:nvPicPr>
          <p:cNvPr id="20" name="Icon: scale" descr="scale icon"/>
          <p:cNvPicPr>
            <a:picLocks noChangeAspect="1"/>
          </p:cNvPicPr>
          <p:nvPr/>
        </p:nvPicPr>
        <p:blipFill>
          <a:blip r:embed="rId7"/>
          <a:stretch>
            <a:fillRect/>
          </a:stretch>
        </p:blipFill>
        <p:spPr>
          <a:xfrm>
            <a:off x="7578434" y="4865370"/>
            <a:ext cx="205740" cy="205740"/>
          </a:xfrm>
          <a:prstGeom prst="rect">
            <a:avLst/>
          </a:prstGeom>
        </p:spPr>
      </p:pic>
      <p:sp>
        <p:nvSpPr>
          <p:cNvPr id="21" name="Deployment card 3 heading"/>
          <p:cNvSpPr txBox="1"/>
          <p:nvPr/>
        </p:nvSpPr>
        <p:spPr>
          <a:xfrm>
            <a:off x="8047064" y="4762500"/>
            <a:ext cx="3413111" cy="411480"/>
          </a:xfrm>
          <a:prstGeom prst="rect">
            <a:avLst/>
          </a:prstGeom>
          <a:noFill/>
        </p:spPr>
        <p:txBody>
          <a:bodyPr wrap="square" lIns="0" tIns="0" rIns="0" bIns="0" anchor="ctr">
            <a:noAutofit/>
          </a:bodyPr>
          <a:lstStyle/>
          <a:p>
            <a:pPr marL="0" indent="0">
              <a:buNone/>
            </a:pPr>
            <a:r>
              <a:rPr lang="en-ZA" sz="1600" b="1" noProof="0" dirty="0">
                <a:solidFill>
                  <a:schemeClr val="tx2"/>
                </a:solidFill>
                <a:latin typeface="Century" panose="02040604050505020304" pitchFamily="18" charset="0"/>
              </a:rPr>
              <a:t>Responsible by design</a:t>
            </a:r>
          </a:p>
        </p:txBody>
      </p:sp>
      <p:sp>
        <p:nvSpPr>
          <p:cNvPr id="22" name="Deployment card 3 text"/>
          <p:cNvSpPr txBox="1"/>
          <p:nvPr/>
        </p:nvSpPr>
        <p:spPr>
          <a:xfrm>
            <a:off x="7475564" y="5265420"/>
            <a:ext cx="3984611" cy="586740"/>
          </a:xfrm>
          <a:prstGeom prst="rect">
            <a:avLst/>
          </a:prstGeom>
          <a:noFill/>
        </p:spPr>
        <p:txBody>
          <a:bodyPr wrap="square" lIns="0" tIns="0" rIns="0" bIns="0" anchor="t">
            <a:noAutofit/>
          </a:bodyPr>
          <a:lstStyle/>
          <a:p>
            <a:pPr marL="0" indent="0">
              <a:buNone/>
            </a:pPr>
            <a:r>
              <a:rPr lang="en-ZA" sz="1300" b="0" noProof="0" dirty="0">
                <a:solidFill>
                  <a:schemeClr val="tx1"/>
                </a:solidFill>
                <a:latin typeface="Century" panose="02040604050505020304" pitchFamily="18" charset="0"/>
              </a:rPr>
              <a:t>Group results only and no population group filter.  Our uploads are monitored for accuracy, drift and fairness.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6"/>
          </p:nvPr>
        </p:nvSpPr>
        <p:spPr/>
        <p:txBody>
          <a:bodyPr/>
          <a:lstStyle/>
          <a:p>
            <a:r>
              <a:rPr lang="en-ZA" noProof="0" dirty="0"/>
              <a:t>Recommendations and Limitations</a:t>
            </a:r>
          </a:p>
        </p:txBody>
      </p:sp>
      <p:sp>
        <p:nvSpPr>
          <p:cNvPr id="3"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ZA" b="0" noProof="0"/>
              <a:t>10</a:t>
            </a:fld>
            <a:endParaRPr lang="en-ZA" noProof="0" dirty="0"/>
          </a:p>
        </p:txBody>
      </p:sp>
      <p:pic>
        <p:nvPicPr>
          <p:cNvPr id="5" name="Corner motif" descr="Decorative block motif"/>
          <p:cNvPicPr>
            <a:picLocks noChangeAspect="1"/>
          </p:cNvPicPr>
          <p:nvPr/>
        </p:nvPicPr>
        <p:blipFill>
          <a:blip r:embed="rId3"/>
          <a:stretch>
            <a:fillRect/>
          </a:stretch>
        </p:blipFill>
        <p:spPr>
          <a:xfrm rot="5400000">
            <a:off x="11158423" y="603504"/>
            <a:ext cx="484632" cy="484632"/>
          </a:xfrm>
          <a:prstGeom prst="rect">
            <a:avLst/>
          </a:prstGeom>
        </p:spPr>
      </p:pic>
      <p:sp>
        <p:nvSpPr>
          <p:cNvPr id="6" name="Recommendation 1"/>
          <p:cNvSpPr/>
          <p:nvPr/>
        </p:nvSpPr>
        <p:spPr>
          <a:xfrm>
            <a:off x="548640" y="1600200"/>
            <a:ext cx="6949440" cy="1280160"/>
          </a:xfrm>
          <a:prstGeom prst="rect">
            <a:avLst/>
          </a:prstGeom>
          <a:solidFill>
            <a:schemeClr val="bg2"/>
          </a:solidFill>
          <a:ln>
            <a:noFill/>
          </a:ln>
        </p:spPr>
        <p:txBody>
          <a:bodyPr rtlCol="0" anchor="ctr"/>
          <a:lstStyle/>
          <a:p>
            <a:pPr algn="ctr"/>
            <a:endParaRPr lang="en-ZA" noProof="0" dirty="0"/>
          </a:p>
        </p:txBody>
      </p:sp>
      <p:sp>
        <p:nvSpPr>
          <p:cNvPr id="7" name="Number tile 1"/>
          <p:cNvSpPr/>
          <p:nvPr/>
        </p:nvSpPr>
        <p:spPr>
          <a:xfrm>
            <a:off x="548640" y="1600200"/>
            <a:ext cx="1280160" cy="1280160"/>
          </a:xfrm>
          <a:prstGeom prst="rect">
            <a:avLst/>
          </a:prstGeom>
          <a:solidFill>
            <a:schemeClr val="accent3"/>
          </a:solidFill>
          <a:ln>
            <a:noFill/>
          </a:ln>
        </p:spPr>
        <p:txBody>
          <a:bodyPr rtlCol="0" anchor="ctr"/>
          <a:lstStyle/>
          <a:p>
            <a:pPr algn="ctr"/>
            <a:endParaRPr lang="en-ZA" noProof="0" dirty="0"/>
          </a:p>
        </p:txBody>
      </p:sp>
      <p:sp>
        <p:nvSpPr>
          <p:cNvPr id="8" name="Number 1"/>
          <p:cNvSpPr txBox="1"/>
          <p:nvPr/>
        </p:nvSpPr>
        <p:spPr>
          <a:xfrm>
            <a:off x="548640" y="1600200"/>
            <a:ext cx="1280160" cy="1280160"/>
          </a:xfrm>
          <a:prstGeom prst="rect">
            <a:avLst/>
          </a:prstGeom>
          <a:noFill/>
        </p:spPr>
        <p:txBody>
          <a:bodyPr wrap="square" lIns="0" tIns="0" rIns="0" bIns="0" anchor="ctr">
            <a:noAutofit/>
          </a:bodyPr>
          <a:lstStyle/>
          <a:p>
            <a:pPr marL="0" indent="0" algn="ctr">
              <a:buNone/>
            </a:pPr>
            <a:r>
              <a:rPr lang="en-ZA" sz="4400" b="1" noProof="0" dirty="0">
                <a:solidFill>
                  <a:schemeClr val="bg1"/>
                </a:solidFill>
                <a:latin typeface="+mj-lt"/>
              </a:rPr>
              <a:t>1</a:t>
            </a:r>
          </a:p>
        </p:txBody>
      </p:sp>
      <p:sp>
        <p:nvSpPr>
          <p:cNvPr id="9" name="Recommendation 1 heading"/>
          <p:cNvSpPr txBox="1"/>
          <p:nvPr/>
        </p:nvSpPr>
        <p:spPr>
          <a:xfrm>
            <a:off x="2103120" y="1783080"/>
            <a:ext cx="5166360" cy="365760"/>
          </a:xfrm>
          <a:prstGeom prst="rect">
            <a:avLst/>
          </a:prstGeom>
          <a:noFill/>
        </p:spPr>
        <p:txBody>
          <a:bodyPr wrap="square" lIns="0" tIns="0" rIns="0" bIns="0" anchor="ctr">
            <a:noAutofit/>
          </a:bodyPr>
          <a:lstStyle/>
          <a:p>
            <a:pPr marL="0" indent="0">
              <a:buNone/>
            </a:pPr>
            <a:r>
              <a:rPr lang="en-ZA" sz="1800" b="1" noProof="0" dirty="0">
                <a:solidFill>
                  <a:schemeClr val="tx2"/>
                </a:solidFill>
                <a:latin typeface="Century" panose="02040604050505020304" pitchFamily="18" charset="0"/>
              </a:rPr>
              <a:t>Fund connectivity and education together</a:t>
            </a:r>
          </a:p>
        </p:txBody>
      </p:sp>
      <p:sp>
        <p:nvSpPr>
          <p:cNvPr id="10" name="Recommendation 1 evidence"/>
          <p:cNvSpPr txBox="1"/>
          <p:nvPr/>
        </p:nvSpPr>
        <p:spPr>
          <a:xfrm>
            <a:off x="2103120" y="2194560"/>
            <a:ext cx="5166360" cy="548640"/>
          </a:xfrm>
          <a:prstGeom prst="rect">
            <a:avLst/>
          </a:prstGeom>
          <a:noFill/>
        </p:spPr>
        <p:txBody>
          <a:bodyPr wrap="square" lIns="0" tIns="0" rIns="0" bIns="0" anchor="t">
            <a:noAutofit/>
          </a:bodyPr>
          <a:lstStyle/>
          <a:p>
            <a:pPr marL="0" indent="0">
              <a:buNone/>
            </a:pPr>
            <a:r>
              <a:rPr lang="en-ZA" sz="1400" b="0" noProof="0" dirty="0">
                <a:solidFill>
                  <a:schemeClr val="tx1"/>
                </a:solidFill>
                <a:latin typeface="Century" panose="02040604050505020304" pitchFamily="18" charset="0"/>
              </a:rPr>
              <a:t>With matric, home internet goes with 6.3 more people employed per 10 and without matric</a:t>
            </a:r>
            <a:r>
              <a:rPr lang="en-ZA" sz="1400" dirty="0">
                <a:latin typeface="Century" panose="02040604050505020304" pitchFamily="18" charset="0"/>
              </a:rPr>
              <a:t> it is</a:t>
            </a:r>
            <a:r>
              <a:rPr lang="en-ZA" sz="1400" b="0" noProof="0" dirty="0">
                <a:solidFill>
                  <a:schemeClr val="tx1"/>
                </a:solidFill>
                <a:latin typeface="Century" panose="02040604050505020304" pitchFamily="18" charset="0"/>
              </a:rPr>
              <a:t> only 1.8.</a:t>
            </a:r>
          </a:p>
        </p:txBody>
      </p:sp>
      <p:sp>
        <p:nvSpPr>
          <p:cNvPr id="11" name="Recommendation 2"/>
          <p:cNvSpPr/>
          <p:nvPr/>
        </p:nvSpPr>
        <p:spPr>
          <a:xfrm>
            <a:off x="548640" y="3131820"/>
            <a:ext cx="6949440" cy="1280160"/>
          </a:xfrm>
          <a:prstGeom prst="rect">
            <a:avLst/>
          </a:prstGeom>
          <a:solidFill>
            <a:schemeClr val="bg2"/>
          </a:solidFill>
          <a:ln>
            <a:noFill/>
          </a:ln>
        </p:spPr>
        <p:txBody>
          <a:bodyPr rtlCol="0" anchor="ctr"/>
          <a:lstStyle/>
          <a:p>
            <a:pPr algn="ctr"/>
            <a:endParaRPr lang="en-ZA" noProof="0" dirty="0"/>
          </a:p>
        </p:txBody>
      </p:sp>
      <p:sp>
        <p:nvSpPr>
          <p:cNvPr id="12" name="Number tile 2"/>
          <p:cNvSpPr/>
          <p:nvPr/>
        </p:nvSpPr>
        <p:spPr>
          <a:xfrm>
            <a:off x="548640" y="3131820"/>
            <a:ext cx="1280160" cy="1280160"/>
          </a:xfrm>
          <a:prstGeom prst="rect">
            <a:avLst/>
          </a:prstGeom>
          <a:solidFill>
            <a:schemeClr val="accent2"/>
          </a:solidFill>
          <a:ln>
            <a:noFill/>
          </a:ln>
        </p:spPr>
        <p:txBody>
          <a:bodyPr rtlCol="0" anchor="ctr"/>
          <a:lstStyle/>
          <a:p>
            <a:pPr algn="ctr"/>
            <a:endParaRPr lang="en-ZA" noProof="0" dirty="0"/>
          </a:p>
        </p:txBody>
      </p:sp>
      <p:sp>
        <p:nvSpPr>
          <p:cNvPr id="13" name="Number 2"/>
          <p:cNvSpPr txBox="1"/>
          <p:nvPr/>
        </p:nvSpPr>
        <p:spPr>
          <a:xfrm>
            <a:off x="548640" y="3131820"/>
            <a:ext cx="1280160" cy="1280160"/>
          </a:xfrm>
          <a:prstGeom prst="rect">
            <a:avLst/>
          </a:prstGeom>
          <a:noFill/>
        </p:spPr>
        <p:txBody>
          <a:bodyPr wrap="square" lIns="0" tIns="0" rIns="0" bIns="0" anchor="ctr">
            <a:noAutofit/>
          </a:bodyPr>
          <a:lstStyle/>
          <a:p>
            <a:pPr marL="0" indent="0" algn="ctr">
              <a:buNone/>
            </a:pPr>
            <a:r>
              <a:rPr lang="en-ZA" sz="4400" b="1" noProof="0" dirty="0">
                <a:solidFill>
                  <a:schemeClr val="bg1"/>
                </a:solidFill>
                <a:latin typeface="+mj-lt"/>
              </a:rPr>
              <a:t>2</a:t>
            </a:r>
          </a:p>
        </p:txBody>
      </p:sp>
      <p:sp>
        <p:nvSpPr>
          <p:cNvPr id="14" name="Recommendation 2 heading"/>
          <p:cNvSpPr txBox="1"/>
          <p:nvPr/>
        </p:nvSpPr>
        <p:spPr>
          <a:xfrm>
            <a:off x="2103120" y="3314700"/>
            <a:ext cx="5166360" cy="365760"/>
          </a:xfrm>
          <a:prstGeom prst="rect">
            <a:avLst/>
          </a:prstGeom>
          <a:noFill/>
        </p:spPr>
        <p:txBody>
          <a:bodyPr wrap="square" lIns="0" tIns="0" rIns="0" bIns="0" anchor="ctr">
            <a:noAutofit/>
          </a:bodyPr>
          <a:lstStyle/>
          <a:p>
            <a:pPr marL="0" indent="0">
              <a:buNone/>
            </a:pPr>
            <a:r>
              <a:rPr lang="en-ZA" sz="1800" b="1" noProof="0" dirty="0">
                <a:solidFill>
                  <a:schemeClr val="tx2"/>
                </a:solidFill>
                <a:latin typeface="Century" panose="02040604050505020304" pitchFamily="18" charset="0"/>
              </a:rPr>
              <a:t>Do not rely on internet access alone</a:t>
            </a:r>
          </a:p>
        </p:txBody>
      </p:sp>
      <p:sp>
        <p:nvSpPr>
          <p:cNvPr id="15" name="Recommendation 2 evidence"/>
          <p:cNvSpPr txBox="1"/>
          <p:nvPr/>
        </p:nvSpPr>
        <p:spPr>
          <a:xfrm>
            <a:off x="2103120" y="3726180"/>
            <a:ext cx="5166360" cy="548640"/>
          </a:xfrm>
          <a:prstGeom prst="rect">
            <a:avLst/>
          </a:prstGeom>
          <a:noFill/>
        </p:spPr>
        <p:txBody>
          <a:bodyPr wrap="square" lIns="0" tIns="0" rIns="0" bIns="0" anchor="t">
            <a:noAutofit/>
          </a:bodyPr>
          <a:lstStyle/>
          <a:p>
            <a:pPr marL="0" indent="0">
              <a:buNone/>
            </a:pPr>
            <a:r>
              <a:rPr lang="en-ZA" sz="1400" b="0" noProof="0" dirty="0">
                <a:solidFill>
                  <a:schemeClr val="tx1"/>
                </a:solidFill>
                <a:latin typeface="Century" panose="02040604050505020304" pitchFamily="18" charset="0"/>
              </a:rPr>
              <a:t>For people without matric the gap is small and may be chance, so access needs education beside it.</a:t>
            </a:r>
          </a:p>
        </p:txBody>
      </p:sp>
      <p:sp>
        <p:nvSpPr>
          <p:cNvPr id="16" name="Recommendation 3"/>
          <p:cNvSpPr/>
          <p:nvPr/>
        </p:nvSpPr>
        <p:spPr>
          <a:xfrm>
            <a:off x="548640" y="4663440"/>
            <a:ext cx="6949440" cy="1280160"/>
          </a:xfrm>
          <a:prstGeom prst="rect">
            <a:avLst/>
          </a:prstGeom>
          <a:solidFill>
            <a:schemeClr val="bg2"/>
          </a:solidFill>
          <a:ln>
            <a:noFill/>
          </a:ln>
        </p:spPr>
        <p:txBody>
          <a:bodyPr rtlCol="0" anchor="ctr"/>
          <a:lstStyle/>
          <a:p>
            <a:pPr algn="ctr"/>
            <a:endParaRPr lang="en-ZA" noProof="0" dirty="0"/>
          </a:p>
        </p:txBody>
      </p:sp>
      <p:sp>
        <p:nvSpPr>
          <p:cNvPr id="17" name="Number tile 3"/>
          <p:cNvSpPr/>
          <p:nvPr/>
        </p:nvSpPr>
        <p:spPr>
          <a:xfrm>
            <a:off x="548640" y="4663440"/>
            <a:ext cx="1280160" cy="1280160"/>
          </a:xfrm>
          <a:prstGeom prst="rect">
            <a:avLst/>
          </a:prstGeom>
          <a:solidFill>
            <a:schemeClr val="accent1"/>
          </a:solidFill>
          <a:ln>
            <a:noFill/>
          </a:ln>
        </p:spPr>
        <p:txBody>
          <a:bodyPr rtlCol="0" anchor="ctr"/>
          <a:lstStyle/>
          <a:p>
            <a:pPr algn="ctr"/>
            <a:endParaRPr lang="en-ZA" noProof="0" dirty="0"/>
          </a:p>
        </p:txBody>
      </p:sp>
      <p:sp>
        <p:nvSpPr>
          <p:cNvPr id="18" name="Number 3"/>
          <p:cNvSpPr txBox="1"/>
          <p:nvPr/>
        </p:nvSpPr>
        <p:spPr>
          <a:xfrm>
            <a:off x="548640" y="4663440"/>
            <a:ext cx="1280160" cy="1280160"/>
          </a:xfrm>
          <a:prstGeom prst="rect">
            <a:avLst/>
          </a:prstGeom>
          <a:noFill/>
        </p:spPr>
        <p:txBody>
          <a:bodyPr wrap="square" lIns="0" tIns="0" rIns="0" bIns="0" anchor="ctr">
            <a:noAutofit/>
          </a:bodyPr>
          <a:lstStyle/>
          <a:p>
            <a:pPr marL="0" indent="0" algn="ctr">
              <a:buNone/>
            </a:pPr>
            <a:r>
              <a:rPr lang="en-ZA" sz="4400" b="1" noProof="0" dirty="0">
                <a:solidFill>
                  <a:schemeClr val="bg1"/>
                </a:solidFill>
                <a:latin typeface="+mj-lt"/>
              </a:rPr>
              <a:t>3</a:t>
            </a:r>
          </a:p>
        </p:txBody>
      </p:sp>
      <p:sp>
        <p:nvSpPr>
          <p:cNvPr id="19" name="Recommendation 3 heading"/>
          <p:cNvSpPr txBox="1"/>
          <p:nvPr/>
        </p:nvSpPr>
        <p:spPr>
          <a:xfrm>
            <a:off x="2103120" y="4846320"/>
            <a:ext cx="5166360" cy="365760"/>
          </a:xfrm>
          <a:prstGeom prst="rect">
            <a:avLst/>
          </a:prstGeom>
          <a:noFill/>
        </p:spPr>
        <p:txBody>
          <a:bodyPr wrap="square" lIns="0" tIns="0" rIns="0" bIns="0" anchor="ctr">
            <a:noAutofit/>
          </a:bodyPr>
          <a:lstStyle/>
          <a:p>
            <a:pPr marL="0" indent="0">
              <a:buNone/>
            </a:pPr>
            <a:r>
              <a:rPr lang="en-ZA" sz="1800" b="1" noProof="0" dirty="0">
                <a:solidFill>
                  <a:schemeClr val="tx2"/>
                </a:solidFill>
                <a:latin typeface="Century" panose="02040604050505020304" pitchFamily="18" charset="0"/>
              </a:rPr>
              <a:t>Start where home internet is lowest</a:t>
            </a:r>
          </a:p>
        </p:txBody>
      </p:sp>
      <p:sp>
        <p:nvSpPr>
          <p:cNvPr id="20" name="Recommendation 3 evidence"/>
          <p:cNvSpPr txBox="1"/>
          <p:nvPr/>
        </p:nvSpPr>
        <p:spPr>
          <a:xfrm>
            <a:off x="2103120" y="5257800"/>
            <a:ext cx="5166360" cy="548640"/>
          </a:xfrm>
          <a:prstGeom prst="rect">
            <a:avLst/>
          </a:prstGeom>
          <a:noFill/>
        </p:spPr>
        <p:txBody>
          <a:bodyPr wrap="square" lIns="0" tIns="0" rIns="0" bIns="0" anchor="t">
            <a:noAutofit/>
          </a:bodyPr>
          <a:lstStyle/>
          <a:p>
            <a:pPr marL="0" indent="0">
              <a:buNone/>
            </a:pPr>
            <a:r>
              <a:rPr lang="en-ZA" sz="1400" b="0" noProof="0" dirty="0">
                <a:solidFill>
                  <a:schemeClr val="tx1"/>
                </a:solidFill>
                <a:latin typeface="Century" panose="02040604050505020304" pitchFamily="18" charset="0"/>
              </a:rPr>
              <a:t>Allocate a larger budget to provinces with less overall internet access, which will lead to the largest gains.</a:t>
            </a:r>
          </a:p>
        </p:txBody>
      </p:sp>
      <p:sp>
        <p:nvSpPr>
          <p:cNvPr id="21" name="Limitations panel"/>
          <p:cNvSpPr/>
          <p:nvPr/>
        </p:nvSpPr>
        <p:spPr>
          <a:xfrm>
            <a:off x="7726680" y="1600200"/>
            <a:ext cx="3916375" cy="4343400"/>
          </a:xfrm>
          <a:prstGeom prst="rect">
            <a:avLst/>
          </a:prstGeom>
          <a:solidFill>
            <a:schemeClr val="tx2"/>
          </a:solidFill>
          <a:ln>
            <a:noFill/>
          </a:ln>
        </p:spPr>
        <p:txBody>
          <a:bodyPr rtlCol="0" anchor="ctr"/>
          <a:lstStyle/>
          <a:p>
            <a:pPr algn="ctr"/>
            <a:endParaRPr lang="en-ZA" noProof="0" dirty="0"/>
          </a:p>
        </p:txBody>
      </p:sp>
      <p:sp>
        <p:nvSpPr>
          <p:cNvPr id="22" name="Limitations panel label"/>
          <p:cNvSpPr txBox="1"/>
          <p:nvPr/>
        </p:nvSpPr>
        <p:spPr>
          <a:xfrm>
            <a:off x="8046720" y="1874520"/>
            <a:ext cx="3276295" cy="228600"/>
          </a:xfrm>
          <a:prstGeom prst="rect">
            <a:avLst/>
          </a:prstGeom>
          <a:noFill/>
        </p:spPr>
        <p:txBody>
          <a:bodyPr wrap="square" lIns="0" tIns="0" rIns="0" bIns="0" anchor="ctr">
            <a:noAutofit/>
          </a:bodyPr>
          <a:lstStyle/>
          <a:p>
            <a:pPr marL="0" indent="0">
              <a:buNone/>
            </a:pPr>
            <a:r>
              <a:rPr lang="en-ZA" sz="1100" b="1" spc="200" noProof="0" dirty="0">
                <a:solidFill>
                  <a:schemeClr val="accent3"/>
                </a:solidFill>
                <a:latin typeface="Century" panose="02040604050505020304" pitchFamily="18" charset="0"/>
              </a:rPr>
              <a:t>LIMITATIONS AND ETHICS</a:t>
            </a:r>
          </a:p>
        </p:txBody>
      </p:sp>
      <p:sp>
        <p:nvSpPr>
          <p:cNvPr id="23" name="Limitations points"/>
          <p:cNvSpPr txBox="1"/>
          <p:nvPr/>
        </p:nvSpPr>
        <p:spPr>
          <a:xfrm>
            <a:off x="8046720" y="2286000"/>
            <a:ext cx="3276295" cy="3520440"/>
          </a:xfrm>
          <a:prstGeom prst="rect">
            <a:avLst/>
          </a:prstGeom>
          <a:noFill/>
        </p:spPr>
        <p:txBody>
          <a:bodyPr wrap="square" lIns="0" tIns="0" rIns="0" bIns="0" anchor="t">
            <a:noAutofit/>
          </a:bodyPr>
          <a:lstStyle/>
          <a:p>
            <a:pPr marL="228600" indent="-228600">
              <a:spcAft>
                <a:spcPts val="1100"/>
              </a:spcAft>
              <a:buSzPct val="100000"/>
              <a:buFont typeface="Arial"/>
              <a:buChar char="•"/>
            </a:pPr>
            <a:r>
              <a:rPr lang="en-ZA" sz="1300" noProof="0" dirty="0">
                <a:solidFill>
                  <a:schemeClr val="bg1"/>
                </a:solidFill>
                <a:latin typeface="Century" panose="02040604050505020304" pitchFamily="18" charset="0"/>
              </a:rPr>
              <a:t>A single 2024 </a:t>
            </a:r>
            <a:r>
              <a:rPr lang="en-ZA" sz="1300" noProof="0" dirty="0" err="1">
                <a:solidFill>
                  <a:schemeClr val="bg1"/>
                </a:solidFill>
                <a:latin typeface="Century" panose="02040604050505020304" pitchFamily="18" charset="0"/>
              </a:rPr>
              <a:t>datasource</a:t>
            </a:r>
            <a:r>
              <a:rPr lang="en-ZA" sz="1300" noProof="0" dirty="0">
                <a:solidFill>
                  <a:schemeClr val="bg1"/>
                </a:solidFill>
                <a:latin typeface="Century" panose="02040604050505020304" pitchFamily="18" charset="0"/>
              </a:rPr>
              <a:t> can’t show the reasons why the analysed data appears as it does and might be biased as the only source of truth.</a:t>
            </a:r>
          </a:p>
          <a:p>
            <a:pPr marL="228600" indent="-228600">
              <a:spcAft>
                <a:spcPts val="1100"/>
              </a:spcAft>
              <a:buSzPct val="100000"/>
              <a:buFont typeface="Arial"/>
              <a:buChar char="•"/>
            </a:pPr>
            <a:r>
              <a:rPr lang="en-ZA" sz="1300" dirty="0">
                <a:solidFill>
                  <a:schemeClr val="bg1"/>
                </a:solidFill>
                <a:latin typeface="Century" panose="02040604050505020304" pitchFamily="18" charset="0"/>
              </a:rPr>
              <a:t>A</a:t>
            </a:r>
            <a:r>
              <a:rPr lang="en-ZA" sz="1300" b="0" noProof="0" dirty="0" err="1">
                <a:solidFill>
                  <a:schemeClr val="bg1"/>
                </a:solidFill>
                <a:latin typeface="Century" panose="02040604050505020304" pitchFamily="18" charset="0"/>
              </a:rPr>
              <a:t>ccuracy</a:t>
            </a:r>
            <a:r>
              <a:rPr lang="en-ZA" sz="1300" b="0" noProof="0" dirty="0">
                <a:solidFill>
                  <a:schemeClr val="bg1"/>
                </a:solidFill>
                <a:latin typeface="Century" panose="02040604050505020304" pitchFamily="18" charset="0"/>
              </a:rPr>
              <a:t> differs across population groups</a:t>
            </a:r>
            <a:r>
              <a:rPr lang="en-ZA" sz="1300" dirty="0">
                <a:solidFill>
                  <a:schemeClr val="bg1"/>
                </a:solidFill>
                <a:latin typeface="Century" panose="02040604050505020304" pitchFamily="18" charset="0"/>
              </a:rPr>
              <a:t> and not across individuals (Race groups need to be created, otherwise the data is skewed due to the 71% black unemployment number).</a:t>
            </a:r>
            <a:endParaRPr lang="en-ZA" sz="1300" b="0" noProof="0" dirty="0">
              <a:solidFill>
                <a:schemeClr val="bg1"/>
              </a:solidFill>
              <a:latin typeface="Century" panose="02040604050505020304" pitchFamily="18" charset="0"/>
            </a:endParaRPr>
          </a:p>
          <a:p>
            <a:pPr marL="228600" indent="-228600">
              <a:spcAft>
                <a:spcPts val="1100"/>
              </a:spcAft>
              <a:buSzPct val="100000"/>
              <a:buFont typeface="Arial"/>
              <a:buChar char="•"/>
            </a:pPr>
            <a:r>
              <a:rPr lang="en-ZA" sz="1300" dirty="0">
                <a:solidFill>
                  <a:schemeClr val="bg1"/>
                </a:solidFill>
                <a:latin typeface="Century" panose="02040604050505020304" pitchFamily="18" charset="0"/>
              </a:rPr>
              <a:t>We did not account for household wealth (D09) affecting home internet.</a:t>
            </a:r>
            <a:endParaRPr lang="en-ZA" sz="1300" noProof="0" dirty="0">
              <a:solidFill>
                <a:schemeClr val="bg1"/>
              </a:solidFill>
              <a:latin typeface="Century" panose="02040604050505020304" pitchFamily="18" charset="0"/>
            </a:endParaRPr>
          </a:p>
          <a:p>
            <a:pPr marL="228600" indent="-228600">
              <a:spcAft>
                <a:spcPts val="1100"/>
              </a:spcAft>
              <a:buSzPct val="100000"/>
              <a:buFont typeface="Arial"/>
              <a:buChar char="•"/>
            </a:pPr>
            <a:r>
              <a:rPr lang="en-ZA" sz="1300" noProof="0" dirty="0">
                <a:solidFill>
                  <a:schemeClr val="bg1"/>
                </a:solidFill>
                <a:latin typeface="Century" panose="02040604050505020304" pitchFamily="18" charset="0"/>
              </a:rPr>
              <a:t>Income is exploratory with </a:t>
            </a:r>
            <a:r>
              <a:rPr lang="en-ZA" sz="1300" b="0" noProof="0" dirty="0">
                <a:solidFill>
                  <a:schemeClr val="bg1"/>
                </a:solidFill>
                <a:latin typeface="Century" panose="02040604050505020304" pitchFamily="18" charset="0"/>
              </a:rPr>
              <a:t>about 30% of salary variation explained.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theme/theme1.xml><?xml version="1.0" encoding="utf-8"?>
<a:theme xmlns:a="http://schemas.openxmlformats.org/drawingml/2006/main" name="SA Schools Digital Repor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SA Schools Digital Report">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1376</Words>
  <Application>Microsoft Office PowerPoint</Application>
  <PresentationFormat>Widescreen</PresentationFormat>
  <Paragraphs>164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vt:lpstr>
      <vt:lpstr>Century Schoolbook</vt:lpstr>
      <vt:lpstr>SA Schools Digital Report</vt:lpstr>
      <vt:lpstr>BIN381 – Milestone 4 Presentation</vt:lpstr>
      <vt:lpstr>Introduction</vt:lpstr>
      <vt:lpstr>Crisp-DM: Business Understanding</vt:lpstr>
      <vt:lpstr>Crisp-DM: Data Understanding</vt:lpstr>
      <vt:lpstr>Crisp-DM: Data Preparation</vt:lpstr>
      <vt:lpstr>Crisp-DM: Modelling</vt:lpstr>
      <vt:lpstr>Crisp-DM: Evaluation - Model Performance</vt:lpstr>
      <vt:lpstr>Crisp-DM: Evaluation - Key Findings</vt:lpstr>
      <vt:lpstr>Crisp-DM: Deployment</vt:lpstr>
      <vt:lpstr>Recommendations and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Jandre Neethling</cp:lastModifiedBy>
  <cp:revision>47</cp:revision>
  <dcterms:created xsi:type="dcterms:W3CDTF">2026-10-13T17:26:02Z</dcterms:created>
  <dcterms:modified xsi:type="dcterms:W3CDTF">2026-10-15T09:22:45Z</dcterms:modified>
</cp:coreProperties>
</file>